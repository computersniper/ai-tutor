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21"/>
  </p:notesMasterIdLst>
  <p:sldIdLst>
    <p:sldId id="256" r:id="rId2"/>
    <p:sldId id="266" r:id="rId3"/>
    <p:sldId id="267" r:id="rId4"/>
    <p:sldId id="268" r:id="rId5"/>
    <p:sldId id="269" r:id="rId6"/>
    <p:sldId id="284" r:id="rId7"/>
    <p:sldId id="285" r:id="rId8"/>
    <p:sldId id="287" r:id="rId9"/>
    <p:sldId id="288" r:id="rId10"/>
    <p:sldId id="289" r:id="rId11"/>
    <p:sldId id="283" r:id="rId12"/>
    <p:sldId id="272" r:id="rId13"/>
    <p:sldId id="273" r:id="rId14"/>
    <p:sldId id="275" r:id="rId15"/>
    <p:sldId id="276" r:id="rId16"/>
    <p:sldId id="282" r:id="rId17"/>
    <p:sldId id="278" r:id="rId18"/>
    <p:sldId id="279" r:id="rId19"/>
    <p:sldId id="280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63D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8"/>
    <p:restoredTop sz="78163"/>
  </p:normalViewPr>
  <p:slideViewPr>
    <p:cSldViewPr>
      <p:cViewPr varScale="1">
        <p:scale>
          <a:sx n="98" d="100"/>
          <a:sy n="98" d="100"/>
        </p:scale>
        <p:origin x="824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92" d="100"/>
          <a:sy n="92" d="100"/>
        </p:scale>
        <p:origin x="-3588" y="-11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B43F9D-0BE7-4D95-AB29-6EF42525F0B1}" type="datetimeFigureOut">
              <a:rPr lang="en-US" smtClean="0"/>
              <a:t>9/10/23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EDCDC2-C1D2-44CB-8970-27B4CFF250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2224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0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DCDC2-C1D2-44CB-8970-27B4CFF2503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4450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DCDC2-C1D2-44CB-8970-27B4CFF2503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6662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>
                <a:effectLst/>
                <a:latin typeface="Menlo" panose="020B0609030804020204" pitchFamily="49" charset="0"/>
              </a:rPr>
              <a:t>3</a:t>
            </a:r>
          </a:p>
          <a:p>
            <a:r>
              <a:rPr lang="en-US" altLang="zh-CN" dirty="0">
                <a:effectLst/>
                <a:latin typeface="Menlo" panose="020B0609030804020204" pitchFamily="49" charset="0"/>
              </a:rPr>
              <a:t>2</a:t>
            </a:r>
          </a:p>
          <a:p>
            <a:r>
              <a:rPr lang="en-US" altLang="zh-CN" dirty="0">
                <a:effectLst/>
                <a:latin typeface="Menlo" panose="020B0609030804020204" pitchFamily="49" charset="0"/>
              </a:rPr>
              <a:t>1</a:t>
            </a:r>
          </a:p>
          <a:p>
            <a:r>
              <a:rPr lang="en-US" altLang="zh-CN" dirty="0">
                <a:effectLst/>
                <a:latin typeface="Menlo" panose="020B0609030804020204" pitchFamily="49" charset="0"/>
              </a:rPr>
              <a:t>0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DCDC2-C1D2-44CB-8970-27B4CFF2503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9019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>
                <a:effectLst/>
                <a:latin typeface="Menlo" panose="020B0609030804020204" pitchFamily="49" charset="0"/>
              </a:rPr>
              <a:t>0</a:t>
            </a:r>
          </a:p>
          <a:p>
            <a:r>
              <a:rPr lang="en-US" altLang="zh-CN" dirty="0">
                <a:effectLst/>
                <a:latin typeface="Menlo" panose="020B0609030804020204" pitchFamily="49" charset="0"/>
              </a:rPr>
              <a:t>1</a:t>
            </a:r>
          </a:p>
          <a:p>
            <a:r>
              <a:rPr lang="en-US" altLang="zh-CN" dirty="0">
                <a:effectLst/>
                <a:latin typeface="Menlo" panose="020B0609030804020204" pitchFamily="49" charset="0"/>
              </a:rPr>
              <a:t>2</a:t>
            </a:r>
          </a:p>
          <a:p>
            <a:r>
              <a:rPr lang="en-US" altLang="zh-CN" dirty="0">
                <a:effectLst/>
                <a:latin typeface="Menlo" panose="020B0609030804020204" pitchFamily="49" charset="0"/>
              </a:rPr>
              <a:t>3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DCDC2-C1D2-44CB-8970-27B4CFF2503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7634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>
            <a:noAutofit/>
          </a:bodyPr>
          <a:lstStyle>
            <a:lvl1pPr>
              <a:defRPr sz="5400">
                <a:solidFill>
                  <a:schemeClr val="bg2">
                    <a:lumMod val="75000"/>
                  </a:schemeClr>
                </a:solidFill>
                <a:latin typeface="+mj-lt"/>
                <a:ea typeface="微软雅黑 Light" pitchFamily="34" charset="-122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21C12-E9E3-45CA-BB70-1BDDA61D6BFB}" type="datetime1">
              <a:rPr lang="en-US" smtClean="0"/>
              <a:t>9/10/23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642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3BD97-F63C-4C9E-92B3-F1599A5B1F05}" type="datetime1">
              <a:rPr lang="en-US" smtClean="0"/>
              <a:t>9/10/23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9344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24F09-290C-4991-9924-3F871A1A64D3}" type="datetime1">
              <a:rPr lang="en-US" smtClean="0"/>
              <a:t>9/10/23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5679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DCCB0-A096-4762-B4FA-5F12F9EA02CE}" type="datetime1">
              <a:rPr lang="en-US" smtClean="0"/>
              <a:t>9/10/23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81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4F3F5-3765-4707-9487-79715EAFB3BD}" type="datetime1">
              <a:rPr lang="en-US" smtClean="0"/>
              <a:t>9/10/23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8247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6295C-3DC3-4EBD-B0A1-3C794D346150}" type="datetime1">
              <a:rPr lang="en-US" smtClean="0"/>
              <a:t>9/10/23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44841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3B7F5-6559-4D4B-9650-370DF3229208}" type="datetime1">
              <a:rPr lang="en-US" smtClean="0"/>
              <a:t>9/10/23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6693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49955-1490-45F8-9509-A3293488AE54}" type="datetime1">
              <a:rPr lang="en-US" smtClean="0"/>
              <a:t>9/10/23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2226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98D58-F3CF-4327-9F74-E06895C652D4}" type="datetime1">
              <a:rPr lang="en-US" smtClean="0"/>
              <a:t>9/10/23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8949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907A5-2516-4412-984C-102BABE1BA0E}" type="datetime1">
              <a:rPr lang="en-US" smtClean="0"/>
              <a:t>9/10/23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8938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890F2-ED4E-4D66-BB94-E5871A55B8AA}" type="datetime1">
              <a:rPr lang="en-US" smtClean="0"/>
              <a:t>9/10/23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4063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12E59F-8C0A-4721-AE25-1706F0E5AE19}" type="datetime1">
              <a:rPr lang="en-US" smtClean="0"/>
              <a:t>9/10/23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12157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b="1" kern="1200">
          <a:solidFill>
            <a:schemeClr val="tx1">
              <a:lumMod val="50000"/>
              <a:lumOff val="50000"/>
            </a:schemeClr>
          </a:solidFill>
          <a:latin typeface="微软雅黑" pitchFamily="34" charset="-122"/>
          <a:ea typeface="微软雅黑" pitchFamily="34" charset="-122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>
              <a:lumMod val="65000"/>
              <a:lumOff val="35000"/>
            </a:schemeClr>
          </a:solidFill>
          <a:latin typeface="微软雅黑 Light" pitchFamily="34" charset="-122"/>
          <a:ea typeface="微软雅黑 Light" pitchFamily="34" charset="-122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>
              <a:lumMod val="65000"/>
              <a:lumOff val="35000"/>
            </a:schemeClr>
          </a:solidFill>
          <a:latin typeface="微软雅黑 Light" pitchFamily="34" charset="-122"/>
          <a:ea typeface="微软雅黑 Light" pitchFamily="34" charset="-122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>
              <a:lumMod val="65000"/>
              <a:lumOff val="35000"/>
            </a:schemeClr>
          </a:solidFill>
          <a:latin typeface="微软雅黑 Light" pitchFamily="34" charset="-122"/>
          <a:ea typeface="微软雅黑 Light" pitchFamily="34" charset="-122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>
              <a:lumMod val="65000"/>
              <a:lumOff val="35000"/>
            </a:schemeClr>
          </a:solidFill>
          <a:latin typeface="微软雅黑 Light" pitchFamily="34" charset="-122"/>
          <a:ea typeface="微软雅黑 Light" pitchFamily="34" charset="-122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>
              <a:lumMod val="65000"/>
              <a:lumOff val="35000"/>
            </a:schemeClr>
          </a:solidFill>
          <a:latin typeface="微软雅黑 Light" pitchFamily="34" charset="-122"/>
          <a:ea typeface="微软雅黑 Light" pitchFamily="34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/>
          <p:cNvSpPr>
            <a:spLocks noGrp="1" noChangeArrowheads="1"/>
          </p:cNvSpPr>
          <p:nvPr>
            <p:ph type="ctrTitle"/>
          </p:nvPr>
        </p:nvSpPr>
        <p:spPr>
          <a:xfrm>
            <a:off x="685800" y="1143000"/>
            <a:ext cx="7772400" cy="2232025"/>
          </a:xfrm>
          <a:noFill/>
        </p:spPr>
        <p:txBody>
          <a:bodyPr>
            <a:noAutofit/>
          </a:bodyPr>
          <a:lstStyle/>
          <a:p>
            <a:r>
              <a:rPr lang="en-US" altLang="zh-TW" sz="3200" dirty="0">
                <a:solidFill>
                  <a:schemeClr val="tx1">
                    <a:tint val="75000"/>
                  </a:schemeClr>
                </a:solidFill>
              </a:rPr>
              <a:t>Data Structures and Algorithms</a:t>
            </a:r>
            <a:br>
              <a:rPr lang="en-US" altLang="zh-TW" sz="3200" dirty="0">
                <a:solidFill>
                  <a:schemeClr val="tx1">
                    <a:tint val="75000"/>
                  </a:schemeClr>
                </a:solidFill>
              </a:rPr>
            </a:br>
            <a:br>
              <a:rPr lang="en-US" altLang="zh-TW" sz="4000" b="1" dirty="0">
                <a:ea typeface="PMingLiU" pitchFamily="18" charset="-120"/>
              </a:rPr>
            </a:br>
            <a:r>
              <a:rPr lang="en-US" altLang="zh-TW" sz="4000" b="1" dirty="0">
                <a:solidFill>
                  <a:schemeClr val="bg2">
                    <a:lumMod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Java Review: Recursion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ubTitle" idx="1"/>
          </p:nvPr>
        </p:nvSpPr>
        <p:spPr>
          <a:xfrm>
            <a:off x="914400" y="4267200"/>
            <a:ext cx="7620000" cy="1371600"/>
          </a:xfrm>
          <a:noFill/>
        </p:spPr>
        <p:txBody>
          <a:bodyPr>
            <a:noAutofit/>
          </a:bodyPr>
          <a:lstStyle/>
          <a:p>
            <a:pPr eaLnBrk="1" hangingPunct="1"/>
            <a:r>
              <a:rPr lang="en-US" altLang="zh-CN" sz="2400" dirty="0">
                <a:ea typeface="宋体" pitchFamily="2" charset="-122"/>
              </a:rPr>
              <a:t>Department of Computer Science &amp; Technology</a:t>
            </a:r>
          </a:p>
          <a:p>
            <a:pPr eaLnBrk="1" hangingPunct="1"/>
            <a:r>
              <a:rPr lang="en-US" altLang="zh-CN" sz="2400" dirty="0">
                <a:ea typeface="宋体" pitchFamily="2" charset="-122"/>
              </a:rPr>
              <a:t>United International College</a:t>
            </a:r>
          </a:p>
        </p:txBody>
      </p:sp>
    </p:spTree>
    <p:extLst>
      <p:ext uri="{BB962C8B-B14F-4D97-AF65-F5344CB8AC3E}">
        <p14:creationId xmlns:p14="http://schemas.microsoft.com/office/powerpoint/2010/main" val="5426049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Does Recursion Work?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143000"/>
          </a:xfrm>
        </p:spPr>
        <p:txBody>
          <a:bodyPr/>
          <a:lstStyle/>
          <a:p>
            <a:r>
              <a:rPr lang="en-US" dirty="0"/>
              <a:t>A function that </a:t>
            </a:r>
            <a:r>
              <a:rPr lang="en-US" dirty="0">
                <a:solidFill>
                  <a:schemeClr val="accent1"/>
                </a:solidFill>
              </a:rPr>
              <a:t>calls itself </a:t>
            </a:r>
            <a:r>
              <a:rPr lang="en-US" dirty="0"/>
              <a:t>is known as a recursive function.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0" y="2895600"/>
            <a:ext cx="4572000" cy="369331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dirty="0">
                <a:latin typeface="Courier New" pitchFamily="49" charset="0"/>
                <a:ea typeface="PMingLiU" pitchFamily="18" charset="-120"/>
              </a:rPr>
              <a:t>void </a:t>
            </a:r>
            <a:r>
              <a:rPr lang="en-US" dirty="0" err="1">
                <a:latin typeface="Courier New" pitchFamily="49" charset="0"/>
                <a:ea typeface="PMingLiU" pitchFamily="18" charset="-120"/>
              </a:rPr>
              <a:t>recurse</a:t>
            </a:r>
            <a:r>
              <a:rPr lang="en-US" dirty="0">
                <a:latin typeface="Courier New" pitchFamily="49" charset="0"/>
                <a:ea typeface="PMingLiU" pitchFamily="18" charset="-120"/>
              </a:rPr>
              <a:t>()</a:t>
            </a:r>
          </a:p>
          <a:p>
            <a:r>
              <a:rPr lang="en-US" dirty="0">
                <a:latin typeface="Courier New" pitchFamily="49" charset="0"/>
                <a:ea typeface="PMingLiU" pitchFamily="18" charset="-120"/>
              </a:rPr>
              <a:t>{</a:t>
            </a:r>
          </a:p>
          <a:p>
            <a:r>
              <a:rPr lang="en-US" dirty="0">
                <a:latin typeface="Courier New" pitchFamily="49" charset="0"/>
                <a:ea typeface="PMingLiU" pitchFamily="18" charset="-120"/>
              </a:rPr>
              <a:t>    ... .. ...</a:t>
            </a:r>
          </a:p>
          <a:p>
            <a:r>
              <a:rPr lang="en-US" dirty="0">
                <a:latin typeface="Courier New" pitchFamily="49" charset="0"/>
                <a:ea typeface="PMingLiU" pitchFamily="18" charset="-120"/>
              </a:rPr>
              <a:t>    </a:t>
            </a:r>
            <a:r>
              <a:rPr lang="en-US" dirty="0" err="1">
                <a:latin typeface="Courier New" pitchFamily="49" charset="0"/>
                <a:ea typeface="PMingLiU" pitchFamily="18" charset="-120"/>
              </a:rPr>
              <a:t>recurse</a:t>
            </a:r>
            <a:r>
              <a:rPr lang="en-US" dirty="0">
                <a:latin typeface="Courier New" pitchFamily="49" charset="0"/>
                <a:ea typeface="PMingLiU" pitchFamily="18" charset="-120"/>
              </a:rPr>
              <a:t>();</a:t>
            </a:r>
          </a:p>
          <a:p>
            <a:r>
              <a:rPr lang="en-US" dirty="0">
                <a:latin typeface="Courier New" pitchFamily="49" charset="0"/>
                <a:ea typeface="PMingLiU" pitchFamily="18" charset="-120"/>
              </a:rPr>
              <a:t>    ... .. ...</a:t>
            </a:r>
          </a:p>
          <a:p>
            <a:r>
              <a:rPr lang="en-US" dirty="0">
                <a:latin typeface="Courier New" pitchFamily="49" charset="0"/>
                <a:ea typeface="PMingLiU" pitchFamily="18" charset="-120"/>
              </a:rPr>
              <a:t>}</a:t>
            </a:r>
          </a:p>
          <a:p>
            <a:endParaRPr lang="en-US" dirty="0">
              <a:latin typeface="Courier New" pitchFamily="49" charset="0"/>
              <a:ea typeface="PMingLiU" pitchFamily="18" charset="-120"/>
            </a:endParaRPr>
          </a:p>
          <a:p>
            <a:r>
              <a:rPr lang="en-US" dirty="0" err="1">
                <a:latin typeface="Courier New" pitchFamily="49" charset="0"/>
                <a:ea typeface="PMingLiU" pitchFamily="18" charset="-120"/>
              </a:rPr>
              <a:t>int</a:t>
            </a:r>
            <a:r>
              <a:rPr lang="en-US" dirty="0">
                <a:latin typeface="Courier New" pitchFamily="49" charset="0"/>
                <a:ea typeface="PMingLiU" pitchFamily="18" charset="-120"/>
              </a:rPr>
              <a:t> main()</a:t>
            </a:r>
          </a:p>
          <a:p>
            <a:r>
              <a:rPr lang="en-US" dirty="0">
                <a:latin typeface="Courier New" pitchFamily="49" charset="0"/>
                <a:ea typeface="PMingLiU" pitchFamily="18" charset="-120"/>
              </a:rPr>
              <a:t>{</a:t>
            </a:r>
          </a:p>
          <a:p>
            <a:r>
              <a:rPr lang="en-US" dirty="0">
                <a:latin typeface="Courier New" pitchFamily="49" charset="0"/>
                <a:ea typeface="PMingLiU" pitchFamily="18" charset="-120"/>
              </a:rPr>
              <a:t>    ... .. ...</a:t>
            </a:r>
          </a:p>
          <a:p>
            <a:r>
              <a:rPr lang="en-US" dirty="0">
                <a:latin typeface="Courier New" pitchFamily="49" charset="0"/>
                <a:ea typeface="PMingLiU" pitchFamily="18" charset="-120"/>
              </a:rPr>
              <a:t>    </a:t>
            </a:r>
            <a:r>
              <a:rPr lang="en-US" dirty="0" err="1">
                <a:latin typeface="Courier New" pitchFamily="49" charset="0"/>
                <a:ea typeface="PMingLiU" pitchFamily="18" charset="-120"/>
              </a:rPr>
              <a:t>recurse</a:t>
            </a:r>
            <a:r>
              <a:rPr lang="en-US" dirty="0">
                <a:latin typeface="Courier New" pitchFamily="49" charset="0"/>
                <a:ea typeface="PMingLiU" pitchFamily="18" charset="-120"/>
              </a:rPr>
              <a:t>();</a:t>
            </a:r>
          </a:p>
          <a:p>
            <a:r>
              <a:rPr lang="en-US" dirty="0">
                <a:latin typeface="Courier New" pitchFamily="49" charset="0"/>
                <a:ea typeface="PMingLiU" pitchFamily="18" charset="-120"/>
              </a:rPr>
              <a:t>    ... .. ...</a:t>
            </a:r>
          </a:p>
          <a:p>
            <a:r>
              <a:rPr lang="en-US" dirty="0">
                <a:latin typeface="Courier New" pitchFamily="49" charset="0"/>
                <a:ea typeface="PMingLiU" pitchFamily="18" charset="-120"/>
              </a:rPr>
              <a:t>}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5162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 descr="How recursion works in C programming?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409700"/>
            <a:ext cx="4762500" cy="4000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4083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recursion continues until some condition (termination condition) is met.</a:t>
            </a:r>
          </a:p>
          <a:p>
            <a:r>
              <a:rPr lang="en-US" dirty="0"/>
              <a:t>Always write the </a:t>
            </a:r>
            <a:r>
              <a:rPr lang="en-US" dirty="0">
                <a:solidFill>
                  <a:schemeClr val="accent1"/>
                </a:solidFill>
              </a:rPr>
              <a:t>termination condition</a:t>
            </a:r>
            <a:r>
              <a:rPr lang="en-US" dirty="0"/>
              <a:t> and make sure that the condition is </a:t>
            </a:r>
            <a:r>
              <a:rPr lang="en-US" dirty="0">
                <a:solidFill>
                  <a:schemeClr val="accent1"/>
                </a:solidFill>
              </a:rPr>
              <a:t>reachable</a:t>
            </a:r>
            <a:r>
              <a:rPr lang="en-US" dirty="0"/>
              <a:t>.</a:t>
            </a:r>
          </a:p>
          <a:p>
            <a:r>
              <a:rPr lang="en-US" dirty="0"/>
              <a:t>Otherwise the recursion </a:t>
            </a:r>
            <a:r>
              <a:rPr lang="en-US" dirty="0">
                <a:solidFill>
                  <a:schemeClr val="accent1"/>
                </a:solidFill>
              </a:rPr>
              <a:t>WILL NOT STOP</a:t>
            </a:r>
            <a:r>
              <a:rPr lang="en-US" dirty="0"/>
              <a:t>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969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Will this recursion stop?</a:t>
            </a:r>
          </a:p>
        </p:txBody>
      </p:sp>
      <p:sp>
        <p:nvSpPr>
          <p:cNvPr id="4" name="矩形 37"/>
          <p:cNvSpPr/>
          <p:nvPr/>
        </p:nvSpPr>
        <p:spPr bwMode="auto">
          <a:xfrm>
            <a:off x="1524000" y="1274358"/>
            <a:ext cx="6781800" cy="501675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0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java.util.Scanner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altLang="zh-CN" sz="20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000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Start {</a:t>
            </a:r>
            <a:br>
              <a:rPr lang="en-US" altLang="zh-CN" sz="2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altLang="zh-CN" sz="20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    public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000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000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recurse(</a:t>
            </a:r>
            <a:r>
              <a:rPr lang="en-US" altLang="zh-CN" sz="2000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000" dirty="0" err="1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      return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00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recurse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000" dirty="0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-1);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altLang="zh-CN" sz="20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    public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000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000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main(String[] </a:t>
            </a:r>
            <a:r>
              <a:rPr lang="en-US" altLang="zh-CN" sz="2000" dirty="0" err="1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Scanner </a:t>
            </a:r>
            <a:r>
              <a:rPr lang="en-US" altLang="zh-CN" sz="2000" dirty="0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scan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zh-CN" sz="2000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Scanner(System.</a:t>
            </a:r>
            <a:r>
              <a:rPr lang="en-US" altLang="zh-CN" sz="2000" i="1" dirty="0">
                <a:solidFill>
                  <a:srgbClr val="0000C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lang="en-US" altLang="zh-CN" sz="20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System.</a:t>
            </a:r>
            <a:r>
              <a:rPr lang="en-US" altLang="zh-CN" sz="2000" i="1" dirty="0" err="1">
                <a:solidFill>
                  <a:srgbClr val="0000C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zh-CN" sz="20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.print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000" dirty="0">
                <a:solidFill>
                  <a:srgbClr val="2A00FF"/>
                </a:solidFill>
                <a:effectLst/>
                <a:latin typeface="Consolas" panose="020B0609020204030204" pitchFamily="49" charset="0"/>
              </a:rPr>
              <a:t>"Enter an integer: "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        int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000" dirty="0" err="1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zh-CN" sz="2000" dirty="0" err="1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scan</a:t>
            </a:r>
            <a:r>
              <a:rPr lang="en-US" altLang="zh-CN" sz="20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.nextInt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20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System.</a:t>
            </a:r>
            <a:r>
              <a:rPr lang="en-US" altLang="zh-CN" sz="2000" i="1" dirty="0" err="1">
                <a:solidFill>
                  <a:srgbClr val="0000C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zh-CN" sz="20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.println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00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recurse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000" dirty="0" err="1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}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br>
              <a:rPr lang="en-US" altLang="zh-CN" sz="2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zh-CN" sz="2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5519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Will this recursion stop?</a:t>
            </a:r>
          </a:p>
        </p:txBody>
      </p:sp>
      <p:sp>
        <p:nvSpPr>
          <p:cNvPr id="4" name="矩形 37"/>
          <p:cNvSpPr/>
          <p:nvPr/>
        </p:nvSpPr>
        <p:spPr bwMode="auto">
          <a:xfrm>
            <a:off x="1524000" y="1180267"/>
            <a:ext cx="6781800" cy="560153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0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java.util.Scanner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altLang="zh-CN" sz="20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000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Start {</a:t>
            </a:r>
            <a:br>
              <a:rPr lang="en-US" altLang="zh-CN" sz="2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altLang="zh-CN" sz="20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    public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000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000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recurse(</a:t>
            </a:r>
            <a:r>
              <a:rPr lang="en-US" altLang="zh-CN" sz="2000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000" dirty="0" err="1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lang="en-US" altLang="zh-CN" sz="1800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800" dirty="0" err="1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==0)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zh-CN" dirty="0">
                <a:solidFill>
                  <a:srgbClr val="7F0055"/>
                </a:solidFill>
                <a:latin typeface="Consolas" panose="020B0609020204030204" pitchFamily="49" charset="0"/>
              </a:rPr>
              <a:t>             r</a:t>
            </a:r>
            <a:r>
              <a:rPr lang="en-US" altLang="zh-CN" sz="1800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eturn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0;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        return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00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recurse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000" dirty="0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-1);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altLang="zh-CN" sz="20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    public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000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000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main(String[] </a:t>
            </a:r>
            <a:r>
              <a:rPr lang="en-US" altLang="zh-CN" sz="2000" dirty="0" err="1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Scanner </a:t>
            </a:r>
            <a:r>
              <a:rPr lang="en-US" altLang="zh-CN" sz="2000" dirty="0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scan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zh-CN" sz="2000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Scanner(System.</a:t>
            </a:r>
            <a:r>
              <a:rPr lang="en-US" altLang="zh-CN" sz="2000" i="1" dirty="0">
                <a:solidFill>
                  <a:srgbClr val="0000C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lang="en-US" altLang="zh-CN" sz="20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System.</a:t>
            </a:r>
            <a:r>
              <a:rPr lang="en-US" altLang="zh-CN" sz="2000" i="1" dirty="0" err="1">
                <a:solidFill>
                  <a:srgbClr val="0000C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zh-CN" sz="20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.print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000" dirty="0">
                <a:solidFill>
                  <a:srgbClr val="2A00FF"/>
                </a:solidFill>
                <a:effectLst/>
                <a:latin typeface="Consolas" panose="020B0609020204030204" pitchFamily="49" charset="0"/>
              </a:rPr>
              <a:t>"Enter an integer: "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        int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000" dirty="0" err="1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zh-CN" sz="2000" dirty="0" err="1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scan</a:t>
            </a:r>
            <a:r>
              <a:rPr lang="en-US" altLang="zh-CN" sz="20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.nextInt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20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System.</a:t>
            </a:r>
            <a:r>
              <a:rPr lang="en-US" altLang="zh-CN" sz="2000" i="1" dirty="0" err="1">
                <a:solidFill>
                  <a:srgbClr val="0000C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zh-CN" sz="20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.println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00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recurse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000" dirty="0" err="1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}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br>
              <a:rPr lang="en-US" altLang="zh-CN" sz="2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zh-CN" sz="2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93E90EF-984F-22BC-EA8A-3D8F5E2FD97A}"/>
              </a:ext>
            </a:extLst>
          </p:cNvPr>
          <p:cNvSpPr/>
          <p:nvPr/>
        </p:nvSpPr>
        <p:spPr>
          <a:xfrm>
            <a:off x="1524000" y="2743200"/>
            <a:ext cx="6781800" cy="609600"/>
          </a:xfrm>
          <a:prstGeom prst="rect">
            <a:avLst/>
          </a:prstGeom>
          <a:solidFill>
            <a:schemeClr val="accent2">
              <a:lumMod val="40000"/>
              <a:lumOff val="60000"/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2013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Will this recursion stop?</a:t>
            </a:r>
          </a:p>
        </p:txBody>
      </p:sp>
      <p:sp>
        <p:nvSpPr>
          <p:cNvPr id="4" name="矩形 37"/>
          <p:cNvSpPr/>
          <p:nvPr/>
        </p:nvSpPr>
        <p:spPr bwMode="auto">
          <a:xfrm>
            <a:off x="1524000" y="1180267"/>
            <a:ext cx="6781800" cy="560153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0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java.util.Scanner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altLang="zh-CN" sz="20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000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Start {</a:t>
            </a:r>
            <a:br>
              <a:rPr lang="en-US" altLang="zh-CN" sz="2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altLang="zh-CN" sz="20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    public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000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000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recurse(</a:t>
            </a:r>
            <a:r>
              <a:rPr lang="en-US" altLang="zh-CN" sz="2000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000" dirty="0" err="1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lang="en-US" altLang="zh-CN" sz="1800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800" dirty="0" err="1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=0)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zh-CN" dirty="0">
                <a:solidFill>
                  <a:srgbClr val="7F0055"/>
                </a:solidFill>
                <a:latin typeface="Consolas" panose="020B0609020204030204" pitchFamily="49" charset="0"/>
              </a:rPr>
              <a:t>             r</a:t>
            </a:r>
            <a:r>
              <a:rPr lang="en-US" altLang="zh-CN" sz="1800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eturn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0;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        return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00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recurse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000" dirty="0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-1);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altLang="zh-CN" sz="20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    public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000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000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main(String[] </a:t>
            </a:r>
            <a:r>
              <a:rPr lang="en-US" altLang="zh-CN" sz="2000" dirty="0" err="1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Scanner </a:t>
            </a:r>
            <a:r>
              <a:rPr lang="en-US" altLang="zh-CN" sz="2000" dirty="0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scan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zh-CN" sz="2000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Scanner(System.</a:t>
            </a:r>
            <a:r>
              <a:rPr lang="en-US" altLang="zh-CN" sz="2000" i="1" dirty="0">
                <a:solidFill>
                  <a:srgbClr val="0000C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lang="en-US" altLang="zh-CN" sz="20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System.</a:t>
            </a:r>
            <a:r>
              <a:rPr lang="en-US" altLang="zh-CN" sz="2000" i="1" dirty="0" err="1">
                <a:solidFill>
                  <a:srgbClr val="0000C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zh-CN" sz="20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.print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000" dirty="0">
                <a:solidFill>
                  <a:srgbClr val="2A00FF"/>
                </a:solidFill>
                <a:effectLst/>
                <a:latin typeface="Consolas" panose="020B0609020204030204" pitchFamily="49" charset="0"/>
              </a:rPr>
              <a:t>"Enter an integer: "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        int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000" dirty="0" err="1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zh-CN" sz="2000" dirty="0" err="1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scan</a:t>
            </a:r>
            <a:r>
              <a:rPr lang="en-US" altLang="zh-CN" sz="20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.nextInt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20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System.</a:t>
            </a:r>
            <a:r>
              <a:rPr lang="en-US" altLang="zh-CN" sz="2000" i="1" dirty="0" err="1">
                <a:solidFill>
                  <a:srgbClr val="0000C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zh-CN" sz="20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.println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00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recurse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000" dirty="0" err="1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}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br>
              <a:rPr lang="en-US" altLang="zh-CN" sz="2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zh-CN" sz="2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93E90EF-984F-22BC-EA8A-3D8F5E2FD97A}"/>
              </a:ext>
            </a:extLst>
          </p:cNvPr>
          <p:cNvSpPr/>
          <p:nvPr/>
        </p:nvSpPr>
        <p:spPr>
          <a:xfrm>
            <a:off x="1524000" y="2743200"/>
            <a:ext cx="6781800" cy="609600"/>
          </a:xfrm>
          <a:prstGeom prst="rect">
            <a:avLst/>
          </a:prstGeom>
          <a:solidFill>
            <a:schemeClr val="accent2">
              <a:lumMod val="40000"/>
              <a:lumOff val="60000"/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171292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What does it print?</a:t>
            </a:r>
            <a:endParaRPr lang="en-US" dirty="0"/>
          </a:p>
        </p:txBody>
      </p:sp>
      <p:sp>
        <p:nvSpPr>
          <p:cNvPr id="4" name="矩形 37"/>
          <p:cNvSpPr/>
          <p:nvPr/>
        </p:nvSpPr>
        <p:spPr bwMode="auto">
          <a:xfrm>
            <a:off x="1295400" y="1676400"/>
            <a:ext cx="6781800" cy="397031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zh-CN" sz="1800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800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Start {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altLang="zh-CN" sz="18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zh-CN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zh-CN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zh-CN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recurse(</a:t>
            </a:r>
            <a:r>
              <a:rPr lang="en-US" altLang="zh-CN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dirty="0" err="1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zh-CN" sz="1800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        if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800" dirty="0" err="1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&lt;0)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zh-CN" sz="1800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            return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System.</a:t>
            </a:r>
            <a:r>
              <a:rPr lang="en-US" altLang="zh-CN" sz="1800" i="1" dirty="0" err="1">
                <a:solidFill>
                  <a:srgbClr val="0000C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.println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800" dirty="0" err="1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zh-CN" sz="180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recurse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800" dirty="0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-1);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}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altLang="zh-CN" sz="18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zh-CN" sz="1800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    public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800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800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main(String[] </a:t>
            </a:r>
            <a:r>
              <a:rPr lang="en-US" altLang="zh-CN" sz="1800" dirty="0" err="1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zh-CN" sz="180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recurse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(3);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}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altLang="zh-CN" sz="18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  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0314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What does it print?</a:t>
            </a:r>
            <a:endParaRPr lang="en-US" dirty="0"/>
          </a:p>
        </p:txBody>
      </p:sp>
      <p:sp>
        <p:nvSpPr>
          <p:cNvPr id="4" name="矩形 37"/>
          <p:cNvSpPr/>
          <p:nvPr/>
        </p:nvSpPr>
        <p:spPr bwMode="auto">
          <a:xfrm>
            <a:off x="1295400" y="1676400"/>
            <a:ext cx="6781800" cy="369331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zh-CN" sz="1800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800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Start {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altLang="zh-CN" sz="18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800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800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800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recurse(</a:t>
            </a:r>
            <a:r>
              <a:rPr lang="en-US" altLang="zh-CN" sz="1800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800" dirty="0" err="1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zh-CN" sz="1800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        if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800" dirty="0" err="1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&lt;0)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zh-CN" sz="1800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            return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zh-CN" sz="180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recurse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800" dirty="0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-1);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System.</a:t>
            </a:r>
            <a:r>
              <a:rPr lang="en-US" altLang="zh-CN" sz="1800" i="1" dirty="0" err="1">
                <a:solidFill>
                  <a:srgbClr val="0000C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.println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800" dirty="0" err="1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}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altLang="zh-CN" sz="18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zh-CN" sz="1800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    public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800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800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main(String[] </a:t>
            </a:r>
            <a:r>
              <a:rPr lang="en-US" altLang="zh-CN" sz="1800" dirty="0" err="1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zh-CN" sz="180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recurse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(3);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}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altLang="zh-CN" sz="18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  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1736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A5593B-7314-1811-3D36-293FA994D7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66800"/>
            <a:ext cx="8229600" cy="4602163"/>
          </a:xfrm>
        </p:spPr>
        <p:txBody>
          <a:bodyPr>
            <a:normAutofit/>
          </a:bodyPr>
          <a:lstStyle/>
          <a:p>
            <a:r>
              <a:rPr lang="en-US" altLang="zh-CN" dirty="0"/>
              <a:t>A recursive function solves a problem where the solution depends on solutions to </a:t>
            </a:r>
            <a:r>
              <a:rPr lang="en-US" altLang="zh-CN" dirty="0">
                <a:solidFill>
                  <a:schemeClr val="bg2">
                    <a:lumMod val="75000"/>
                  </a:schemeClr>
                </a:solidFill>
              </a:rPr>
              <a:t>smaller instances </a:t>
            </a:r>
            <a:r>
              <a:rPr lang="en-US" altLang="zh-CN" dirty="0"/>
              <a:t>of the </a:t>
            </a:r>
            <a:r>
              <a:rPr lang="en-US" altLang="zh-CN" dirty="0">
                <a:solidFill>
                  <a:schemeClr val="bg2">
                    <a:lumMod val="75000"/>
                  </a:schemeClr>
                </a:solidFill>
              </a:rPr>
              <a:t>same problem</a:t>
            </a:r>
            <a:r>
              <a:rPr lang="en-US" altLang="zh-CN" dirty="0"/>
              <a:t>.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C9968D-EA4C-9F91-0026-8B2CE3DB8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1967FC9-5288-2028-79EA-99A855EB6E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609600"/>
            <a:ext cx="8686800" cy="609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/>
              <a:t>What problems does recursion solve?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100105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Recursion Example:</a:t>
            </a:r>
            <a:br>
              <a:rPr lang="en-US" dirty="0"/>
            </a:br>
            <a:r>
              <a:rPr lang="en-US" dirty="0"/>
              <a:t>Sum of Natural Numbers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Sum(n) = 0 + 1 + 2 + … + (n-1) + n, for all n&gt;=0</a:t>
            </a:r>
          </a:p>
          <a:p>
            <a:r>
              <a:rPr lang="en-US" dirty="0"/>
              <a:t>Recursion build-up:</a:t>
            </a:r>
            <a:endParaRPr lang="en-US" altLang="zh-CN" dirty="0"/>
          </a:p>
          <a:p>
            <a:pPr lvl="1"/>
            <a:r>
              <a:rPr lang="en-US" altLang="zh-CN" dirty="0">
                <a:solidFill>
                  <a:schemeClr val="accent1"/>
                </a:solidFill>
              </a:rPr>
              <a:t>Step</a:t>
            </a:r>
            <a:r>
              <a:rPr lang="en-US" altLang="zh-CN" dirty="0"/>
              <a:t>, if n&gt;0, </a:t>
            </a:r>
            <a:r>
              <a:rPr lang="en-US" altLang="zh-CN" u="sng" dirty="0"/>
              <a:t>Sum(n) = n + Sum(n-1)</a:t>
            </a:r>
            <a:endParaRPr lang="en-US" u="sng" dirty="0"/>
          </a:p>
          <a:p>
            <a:pPr lvl="1"/>
            <a:r>
              <a:rPr lang="en-US" dirty="0">
                <a:solidFill>
                  <a:schemeClr val="accent1"/>
                </a:solidFill>
              </a:rPr>
              <a:t>Base</a:t>
            </a:r>
            <a:r>
              <a:rPr lang="en-US" dirty="0"/>
              <a:t>, if n=0: Sum(0)=0</a:t>
            </a:r>
          </a:p>
          <a:p>
            <a:r>
              <a:rPr lang="en-US" dirty="0"/>
              <a:t>Any case will </a:t>
            </a:r>
            <a:r>
              <a:rPr lang="en-US" dirty="0">
                <a:solidFill>
                  <a:schemeClr val="accent1"/>
                </a:solidFill>
              </a:rPr>
              <a:t>collapse to the base case </a:t>
            </a:r>
            <a:r>
              <a:rPr lang="en-US" dirty="0"/>
              <a:t>step by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7757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orient="vert"/>
          </p:nvPr>
        </p:nvSpPr>
        <p:spPr>
          <a:xfrm>
            <a:off x="6934200" y="274638"/>
            <a:ext cx="2057400" cy="5851525"/>
          </a:xfrm>
        </p:spPr>
        <p:txBody>
          <a:bodyPr/>
          <a:lstStyle/>
          <a:p>
            <a:r>
              <a:rPr lang="en-US" dirty="0"/>
              <a:t>Recursion Example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-83106"/>
            <a:ext cx="7467600" cy="717119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square">
            <a:spAutoFit/>
          </a:bodyPr>
          <a:lstStyle/>
          <a:p>
            <a:endParaRPr lang="en-US" sz="2000" dirty="0">
              <a:latin typeface="Courier New" pitchFamily="49" charset="0"/>
              <a:ea typeface="PMingLiU" pitchFamily="18" charset="-120"/>
            </a:endParaRPr>
          </a:p>
          <a:p>
            <a:endParaRPr lang="en-US" sz="2000" dirty="0">
              <a:latin typeface="Courier New" pitchFamily="49" charset="0"/>
              <a:ea typeface="PMingLiU" pitchFamily="18" charset="-12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0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java.util.Scanner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0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Start {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altLang="zh-CN" sz="20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  public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0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0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sum(</a:t>
            </a:r>
            <a:r>
              <a:rPr lang="en-US" altLang="zh-CN" sz="20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000" dirty="0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    if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000" dirty="0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==0)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      return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0;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    return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000" dirty="0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zh-CN" sz="200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000" dirty="0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-1);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altLang="zh-CN" sz="20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  public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0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0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main(String[] </a:t>
            </a:r>
            <a:r>
              <a:rPr lang="en-US" altLang="zh-CN" sz="2000" dirty="0" err="1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Scanner </a:t>
            </a:r>
            <a:r>
              <a:rPr lang="en-US" altLang="zh-CN" sz="2000" dirty="0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scan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zh-CN" sz="20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Scanner(System.</a:t>
            </a:r>
            <a:r>
              <a:rPr lang="en-US" altLang="zh-CN" sz="2000" b="1" i="1" dirty="0">
                <a:solidFill>
                  <a:srgbClr val="0000C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altLang="zh-CN" sz="20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System.</a:t>
            </a:r>
            <a:r>
              <a:rPr lang="en-US" altLang="zh-CN" sz="2000" b="1" i="1" dirty="0" err="1">
                <a:solidFill>
                  <a:srgbClr val="0000C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zh-CN" sz="20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.print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000" dirty="0">
                <a:solidFill>
                  <a:srgbClr val="2A00FF"/>
                </a:solidFill>
                <a:effectLst/>
                <a:latin typeface="Consolas" panose="020B0609020204030204" pitchFamily="49" charset="0"/>
              </a:rPr>
              <a:t>"Enter a positive integer: "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    int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000" dirty="0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zh-CN" sz="2000" dirty="0" err="1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scan</a:t>
            </a:r>
            <a:r>
              <a:rPr lang="en-US" altLang="zh-CN" sz="20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.nextInt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altLang="zh-CN" sz="20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altLang="zh-CN" sz="20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System.</a:t>
            </a:r>
            <a:r>
              <a:rPr lang="en-US" altLang="zh-CN" sz="2000" b="1" i="1" dirty="0" err="1">
                <a:solidFill>
                  <a:srgbClr val="0000C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zh-CN" sz="20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.println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00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000" dirty="0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altLang="zh-CN" sz="20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br>
              <a:rPr lang="en-US" altLang="zh-CN" sz="2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altLang="zh-CN" sz="20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endParaRPr lang="en-US" sz="2000" dirty="0">
              <a:latin typeface="Courier New" pitchFamily="49" charset="0"/>
              <a:ea typeface="PMingLiU" pitchFamily="18" charset="-12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272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Output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0" y="2438400"/>
            <a:ext cx="4876800" cy="176663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vert="horz" lIns="365760" tIns="182880" rIns="91440" bIns="45720" rtlCol="0">
            <a:normAutofit fontScale="92500" lnSpcReduction="10000"/>
          </a:bodyPr>
          <a:lstStyle/>
          <a:p>
            <a:pPr>
              <a:spcBef>
                <a:spcPct val="20000"/>
              </a:spcBef>
              <a:buFont typeface="Arial" pitchFamily="34" charset="0"/>
              <a:buNone/>
            </a:pPr>
            <a:r>
              <a:rPr lang="en-US" sz="3200" dirty="0">
                <a:solidFill>
                  <a:schemeClr val="bg1"/>
                </a:solidFill>
                <a:latin typeface="微软雅黑 Light" pitchFamily="34" charset="-122"/>
                <a:ea typeface="微软雅黑 Light" pitchFamily="34" charset="-122"/>
              </a:rPr>
              <a:t>Enter a positive integer:</a:t>
            </a:r>
          </a:p>
          <a:p>
            <a:pPr>
              <a:spcBef>
                <a:spcPct val="20000"/>
              </a:spcBef>
              <a:buFont typeface="Arial" pitchFamily="34" charset="0"/>
              <a:buNone/>
            </a:pPr>
            <a:r>
              <a:rPr lang="en-US" sz="3200" dirty="0">
                <a:solidFill>
                  <a:schemeClr val="bg1"/>
                </a:solidFill>
                <a:latin typeface="微软雅黑 Light" pitchFamily="34" charset="-122"/>
                <a:ea typeface="微软雅黑 Light" pitchFamily="34" charset="-122"/>
              </a:rPr>
              <a:t>3</a:t>
            </a:r>
          </a:p>
          <a:p>
            <a:pPr>
              <a:spcBef>
                <a:spcPct val="20000"/>
              </a:spcBef>
              <a:buFont typeface="Arial" pitchFamily="34" charset="0"/>
              <a:buNone/>
            </a:pPr>
            <a:r>
              <a:rPr lang="en-US" sz="3200" dirty="0">
                <a:solidFill>
                  <a:schemeClr val="bg1"/>
                </a:solidFill>
                <a:latin typeface="微软雅黑 Light" pitchFamily="34" charset="-122"/>
                <a:ea typeface="微软雅黑 Light" pitchFamily="34" charset="-122"/>
              </a:rPr>
              <a:t>6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0893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Vertical Title 4"/>
          <p:cNvSpPr>
            <a:spLocks noGrp="1"/>
          </p:cNvSpPr>
          <p:nvPr>
            <p:ph type="ctrTitle"/>
          </p:nvPr>
        </p:nvSpPr>
        <p:spPr>
          <a:xfrm>
            <a:off x="685800" y="2416175"/>
            <a:ext cx="7772400" cy="1470025"/>
          </a:xfrm>
        </p:spPr>
        <p:txBody>
          <a:bodyPr/>
          <a:lstStyle/>
          <a:p>
            <a:r>
              <a:rPr lang="en-US" sz="4800" dirty="0">
                <a:solidFill>
                  <a:schemeClr val="bg2">
                    <a:lumMod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What is the problem of the example?</a:t>
            </a:r>
          </a:p>
        </p:txBody>
      </p:sp>
    </p:spTree>
    <p:extLst>
      <p:ext uri="{BB962C8B-B14F-4D97-AF65-F5344CB8AC3E}">
        <p14:creationId xmlns:p14="http://schemas.microsoft.com/office/powerpoint/2010/main" val="33999077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Task 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Read in a positive number  and compute its </a:t>
            </a:r>
            <a:r>
              <a:rPr lang="en-US" dirty="0">
                <a:solidFill>
                  <a:schemeClr val="accent1"/>
                </a:solidFill>
              </a:rPr>
              <a:t>factorial </a:t>
            </a:r>
            <a:r>
              <a:rPr lang="en-US" dirty="0"/>
              <a:t>using </a:t>
            </a:r>
            <a:r>
              <a:rPr lang="en-US" dirty="0">
                <a:solidFill>
                  <a:schemeClr val="accent1"/>
                </a:solidFill>
              </a:rPr>
              <a:t>recursion</a:t>
            </a:r>
            <a:r>
              <a:rPr lang="en-US" dirty="0"/>
              <a:t>.</a:t>
            </a:r>
          </a:p>
          <a:p>
            <a:r>
              <a:rPr lang="en-US" dirty="0"/>
              <a:t>Note that your class should be named “T1”, and should contain</a:t>
            </a:r>
          </a:p>
          <a:p>
            <a:pPr lvl="1"/>
            <a:r>
              <a:rPr lang="en-US" dirty="0"/>
              <a:t>a main function, which does IO</a:t>
            </a:r>
          </a:p>
          <a:p>
            <a:pPr lvl="1"/>
            <a:r>
              <a:rPr lang="en-US" dirty="0"/>
              <a:t>and a recursive function, </a:t>
            </a:r>
            <a:r>
              <a:rPr lang="en-US" dirty="0">
                <a:solidFill>
                  <a:schemeClr val="accent1"/>
                </a:solidFill>
              </a:rPr>
              <a:t>int </a:t>
            </a:r>
            <a:r>
              <a:rPr lang="en-US" dirty="0" err="1">
                <a:solidFill>
                  <a:schemeClr val="accent1"/>
                </a:solidFill>
              </a:rPr>
              <a:t>factR</a:t>
            </a:r>
            <a:r>
              <a:rPr lang="en-US" dirty="0">
                <a:solidFill>
                  <a:schemeClr val="accent1"/>
                </a:solidFill>
              </a:rPr>
              <a:t>(int n)</a:t>
            </a:r>
            <a:r>
              <a:rPr lang="en-US" dirty="0"/>
              <a:t>, which computes the factorial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1353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may build you recursion as follows.</a:t>
            </a:r>
            <a:endParaRPr lang="en-US" altLang="zh-CN" dirty="0"/>
          </a:p>
          <a:p>
            <a:pPr lvl="1"/>
            <a:r>
              <a:rPr lang="en-US" altLang="zh-CN" dirty="0">
                <a:solidFill>
                  <a:schemeClr val="accent1"/>
                </a:solidFill>
              </a:rPr>
              <a:t>Step</a:t>
            </a:r>
            <a:r>
              <a:rPr lang="en-US" altLang="zh-CN" dirty="0"/>
              <a:t>, if n&gt;1: </a:t>
            </a:r>
            <a:r>
              <a:rPr lang="en-US" altLang="zh-CN" dirty="0" err="1"/>
              <a:t>factR</a:t>
            </a:r>
            <a:r>
              <a:rPr lang="en-US" altLang="zh-CN" dirty="0"/>
              <a:t>(n) = n * </a:t>
            </a:r>
            <a:r>
              <a:rPr lang="en-US" altLang="zh-CN" dirty="0" err="1"/>
              <a:t>factR</a:t>
            </a:r>
            <a:r>
              <a:rPr lang="en-US" altLang="zh-CN" dirty="0"/>
              <a:t>(n-1)</a:t>
            </a:r>
            <a:endParaRPr lang="en-US" dirty="0"/>
          </a:p>
          <a:p>
            <a:pPr lvl="1"/>
            <a:r>
              <a:rPr lang="en-US" dirty="0">
                <a:solidFill>
                  <a:schemeClr val="accent1"/>
                </a:solidFill>
              </a:rPr>
              <a:t>Base</a:t>
            </a:r>
            <a:r>
              <a:rPr lang="en-US" dirty="0"/>
              <a:t>, if n=1: </a:t>
            </a:r>
            <a:r>
              <a:rPr lang="en-US" dirty="0" err="1"/>
              <a:t>factR</a:t>
            </a:r>
            <a:r>
              <a:rPr lang="en-US" dirty="0"/>
              <a:t>(1) =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6723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Read in and compute the </a:t>
            </a:r>
            <a:r>
              <a:rPr lang="en-US" dirty="0">
                <a:solidFill>
                  <a:schemeClr val="accent1"/>
                </a:solidFill>
              </a:rPr>
              <a:t>greatest common divisor</a:t>
            </a:r>
            <a:r>
              <a:rPr lang="en-US" dirty="0"/>
              <a:t> (GCD) of two natural numbers using </a:t>
            </a:r>
            <a:r>
              <a:rPr lang="en-US" dirty="0">
                <a:solidFill>
                  <a:schemeClr val="accent1"/>
                </a:solidFill>
              </a:rPr>
              <a:t>recursion</a:t>
            </a:r>
            <a:r>
              <a:rPr lang="en-US" dirty="0"/>
              <a:t>.</a:t>
            </a:r>
          </a:p>
          <a:p>
            <a:r>
              <a:rPr lang="en-US" dirty="0"/>
              <a:t>GCD(x, y) is the greatest natural number which divides both x and y</a:t>
            </a:r>
          </a:p>
          <a:p>
            <a:pPr lvl="1"/>
            <a:r>
              <a:rPr lang="en-US" dirty="0"/>
              <a:t>GCD(6, 5) = 1</a:t>
            </a:r>
          </a:p>
          <a:p>
            <a:pPr lvl="1"/>
            <a:r>
              <a:rPr lang="en-US" dirty="0"/>
              <a:t>GCD(6, 9) = 3</a:t>
            </a:r>
          </a:p>
          <a:p>
            <a:pPr lvl="1"/>
            <a:r>
              <a:rPr lang="en-US" dirty="0"/>
              <a:t>GCD(6, 0) = 6</a:t>
            </a:r>
          </a:p>
          <a:p>
            <a:r>
              <a:rPr lang="en-US" dirty="0"/>
              <a:t>Note that your class should be named “T2” and should contain</a:t>
            </a:r>
          </a:p>
          <a:p>
            <a:pPr lvl="1"/>
            <a:r>
              <a:rPr lang="en-US" dirty="0"/>
              <a:t>a main function, which does IO</a:t>
            </a:r>
          </a:p>
          <a:p>
            <a:pPr lvl="1"/>
            <a:r>
              <a:rPr lang="en-US" dirty="0"/>
              <a:t>and a recursive function, </a:t>
            </a:r>
            <a:r>
              <a:rPr lang="en-US" dirty="0" err="1">
                <a:solidFill>
                  <a:schemeClr val="accent1"/>
                </a:solidFill>
              </a:rPr>
              <a:t>int</a:t>
            </a:r>
            <a:r>
              <a:rPr lang="en-US" dirty="0">
                <a:solidFill>
                  <a:schemeClr val="accent1"/>
                </a:solidFill>
              </a:rPr>
              <a:t> GCD(</a:t>
            </a:r>
            <a:r>
              <a:rPr lang="en-US" dirty="0" err="1">
                <a:solidFill>
                  <a:schemeClr val="accent1"/>
                </a:solidFill>
              </a:rPr>
              <a:t>int</a:t>
            </a:r>
            <a:r>
              <a:rPr lang="en-US" dirty="0">
                <a:solidFill>
                  <a:schemeClr val="accent1"/>
                </a:solidFill>
              </a:rPr>
              <a:t> x, </a:t>
            </a:r>
            <a:r>
              <a:rPr lang="en-US" dirty="0" err="1">
                <a:solidFill>
                  <a:schemeClr val="accent1"/>
                </a:solidFill>
              </a:rPr>
              <a:t>int</a:t>
            </a:r>
            <a:r>
              <a:rPr lang="en-US" dirty="0">
                <a:solidFill>
                  <a:schemeClr val="accent1"/>
                </a:solidFill>
              </a:rPr>
              <a:t> y)</a:t>
            </a:r>
            <a:r>
              <a:rPr lang="en-US" dirty="0"/>
              <a:t>, which computes the GCD of x and y.</a:t>
            </a:r>
          </a:p>
          <a:p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5213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can build your recursion as follows. </a:t>
            </a:r>
            <a:br>
              <a:rPr lang="en-US" dirty="0"/>
            </a:br>
            <a:r>
              <a:rPr lang="en-US" dirty="0"/>
              <a:t>If </a:t>
            </a:r>
            <a:r>
              <a:rPr lang="en-US" dirty="0">
                <a:solidFill>
                  <a:schemeClr val="accent1"/>
                </a:solidFill>
              </a:rPr>
              <a:t>x&gt;=y</a:t>
            </a:r>
            <a:r>
              <a:rPr lang="en-US" dirty="0"/>
              <a:t> (swap x and y otherwise),</a:t>
            </a:r>
          </a:p>
          <a:p>
            <a:pPr lvl="1"/>
            <a:r>
              <a:rPr lang="en-US" altLang="zh-CN" dirty="0">
                <a:solidFill>
                  <a:schemeClr val="accent1"/>
                </a:solidFill>
              </a:rPr>
              <a:t>Step</a:t>
            </a:r>
            <a:r>
              <a:rPr lang="en-US" altLang="zh-CN" dirty="0"/>
              <a:t>, if y&gt;0: GCD(x, y) = GCD(y, x % y)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Base</a:t>
            </a:r>
            <a:r>
              <a:rPr lang="en-US" dirty="0"/>
              <a:t>, if y=0: GCD(x, 0) = x</a:t>
            </a:r>
          </a:p>
          <a:p>
            <a:r>
              <a:rPr lang="en-US" dirty="0"/>
              <a:t>For example,</a:t>
            </a:r>
          </a:p>
          <a:p>
            <a:pPr lvl="1"/>
            <a:r>
              <a:rPr lang="en-US" dirty="0"/>
              <a:t>GCD(9, 6) = GCD(6, 3) = GCD(3, 0) = 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7274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Submission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Save your java files as </a:t>
            </a:r>
            <a:r>
              <a:rPr lang="en-US" dirty="0">
                <a:solidFill>
                  <a:schemeClr val="accent1"/>
                </a:solidFill>
              </a:rPr>
              <a:t>T1.java </a:t>
            </a:r>
            <a:r>
              <a:rPr lang="en-US" altLang="zh-CN" dirty="0"/>
              <a:t>and</a:t>
            </a:r>
            <a:r>
              <a:rPr lang="en-US" dirty="0">
                <a:solidFill>
                  <a:schemeClr val="accent1"/>
                </a:solidFill>
              </a:rPr>
              <a:t> T2.java</a:t>
            </a:r>
            <a:r>
              <a:rPr lang="en-US" dirty="0"/>
              <a:t>, compress them into </a:t>
            </a:r>
            <a:r>
              <a:rPr lang="en-US" dirty="0">
                <a:solidFill>
                  <a:schemeClr val="accent1"/>
                </a:solidFill>
              </a:rPr>
              <a:t>#####.zip </a:t>
            </a:r>
            <a:r>
              <a:rPr lang="en-US" dirty="0"/>
              <a:t>and submit the zip file to iSpace.</a:t>
            </a:r>
          </a:p>
          <a:p>
            <a:r>
              <a:rPr lang="en-US" dirty="0"/>
              <a:t>Note: ##### is your student 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07990"/>
      </p:ext>
    </p:extLst>
  </p:cSld>
  <p:clrMapOvr>
    <a:masterClrMapping/>
  </p:clrMapOvr>
</p:sld>
</file>

<file path=ppt/theme/theme1.xml><?xml version="1.0" encoding="utf-8"?>
<a:theme xmlns:a="http://schemas.openxmlformats.org/drawingml/2006/main" name="知识图谱及其应用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ustom 1">
      <a:majorFont>
        <a:latin typeface="Verdana"/>
        <a:ea typeface=""/>
        <a:cs typeface=""/>
      </a:majorFont>
      <a:minorFont>
        <a:latin typeface="微软雅黑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Lec0 - Introduction</Template>
  <TotalTime>439</TotalTime>
  <Words>1092</Words>
  <Application>Microsoft Macintosh PowerPoint</Application>
  <PresentationFormat>全屏显示(4:3)</PresentationFormat>
  <Paragraphs>192</Paragraphs>
  <Slides>19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8" baseType="lpstr">
      <vt:lpstr>微软雅黑</vt:lpstr>
      <vt:lpstr>微软雅黑 Light</vt:lpstr>
      <vt:lpstr>Arial</vt:lpstr>
      <vt:lpstr>Calibri</vt:lpstr>
      <vt:lpstr>Consolas</vt:lpstr>
      <vt:lpstr>Courier New</vt:lpstr>
      <vt:lpstr>Menlo</vt:lpstr>
      <vt:lpstr>Verdana</vt:lpstr>
      <vt:lpstr>知识图谱及其应用</vt:lpstr>
      <vt:lpstr>Data Structures and Algorithms  Java Review: Recursion</vt:lpstr>
      <vt:lpstr>How Does Recursion Work?</vt:lpstr>
      <vt:lpstr>PowerPoint 演示文稿</vt:lpstr>
      <vt:lpstr>Recursion</vt:lpstr>
      <vt:lpstr>Will this recursion stop?</vt:lpstr>
      <vt:lpstr>Will this recursion stop?</vt:lpstr>
      <vt:lpstr>Will this recursion stop?</vt:lpstr>
      <vt:lpstr>What does it print?</vt:lpstr>
      <vt:lpstr>What does it print?</vt:lpstr>
      <vt:lpstr>A recursive function solves a problem where the solution depends on solutions to smaller instances of the same problem.</vt:lpstr>
      <vt:lpstr>Recursion Example: Sum of Natural Numbers</vt:lpstr>
      <vt:lpstr>Recursion Example</vt:lpstr>
      <vt:lpstr>Output</vt:lpstr>
      <vt:lpstr>What is the problem of the example?</vt:lpstr>
      <vt:lpstr>Task 1</vt:lpstr>
      <vt:lpstr>Task 1</vt:lpstr>
      <vt:lpstr>Task 2</vt:lpstr>
      <vt:lpstr>Task 2</vt:lpstr>
      <vt:lpstr>Submission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Structures and Algorithms  Lecture 1: C</dc:title>
  <dc:creator>UIC</dc:creator>
  <cp:lastModifiedBy>Jianxiong Guo</cp:lastModifiedBy>
  <cp:revision>41</cp:revision>
  <dcterms:created xsi:type="dcterms:W3CDTF">2006-08-16T00:00:00Z</dcterms:created>
  <dcterms:modified xsi:type="dcterms:W3CDTF">2023-09-10T15:00:11Z</dcterms:modified>
</cp:coreProperties>
</file>
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sldIdLst>
    <p:sldId id="386" r:id="rId2"/>
    <p:sldId id="416" r:id="rId3"/>
    <p:sldId id="387" r:id="rId4"/>
    <p:sldId id="388" r:id="rId5"/>
    <p:sldId id="389" r:id="rId6"/>
    <p:sldId id="390" r:id="rId7"/>
    <p:sldId id="392" r:id="rId8"/>
    <p:sldId id="393" r:id="rId9"/>
    <p:sldId id="391" r:id="rId10"/>
    <p:sldId id="364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366" r:id="rId34"/>
    <p:sldId id="381" r:id="rId35"/>
    <p:sldId id="418" r:id="rId36"/>
    <p:sldId id="41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7D2"/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760" autoAdjust="0"/>
  </p:normalViewPr>
  <p:slideViewPr>
    <p:cSldViewPr>
      <p:cViewPr varScale="1">
        <p:scale>
          <a:sx n="168" d="100"/>
          <a:sy n="168" d="100"/>
        </p:scale>
        <p:origin x="393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1" units="1/dev"/>
        </inkml:channelProperties>
      </inkml:inkSource>
      <inkml:timestamp xml:id="ts0" timeString="2020-03-29T17:45:43.070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13355 10853 0,'0'0'0,"0"0"16,0 0-16,0 0 15,47 29 1,-41-21 0,0-5-16,-6-3 15,0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3BBDD83-6043-4925-961C-D93C37D0B97A}" type="slidenum">
              <a:rPr lang="zh-CN" altLang="en-US" sz="1200" smtClean="0">
                <a:latin typeface="Arial" charset="0"/>
              </a:rPr>
              <a:pPr eaLnBrk="1" hangingPunct="1"/>
              <a:t>18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4787A4F-3DBD-4BDB-B63D-D8AD64E89562}" type="slidenum">
              <a:rPr lang="zh-CN" altLang="en-US" sz="1200" smtClean="0">
                <a:latin typeface="Arial" charset="0"/>
              </a:rPr>
              <a:pPr eaLnBrk="1" hangingPunct="1"/>
              <a:t>29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79CE5E9-F540-4BE0-9C7F-8C580167BB9B}" type="slidenum">
              <a:rPr lang="zh-CN" altLang="en-US" sz="1200" smtClean="0">
                <a:latin typeface="Arial" charset="0"/>
              </a:rPr>
              <a:pPr eaLnBrk="1" hangingPunct="1"/>
              <a:t>30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3306D23-528A-459B-930D-CC8A45F0292E}" type="slidenum">
              <a:rPr lang="zh-CN" altLang="en-US" sz="1200" smtClean="0">
                <a:latin typeface="Arial" charset="0"/>
              </a:rPr>
              <a:pPr eaLnBrk="1" hangingPunct="1"/>
              <a:t>31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AB1DF24-2E52-4F22-BD89-F6C5F8781953}" type="slidenum">
              <a:rPr lang="zh-CN" altLang="en-US" sz="1200" smtClean="0">
                <a:latin typeface="Arial" charset="0"/>
              </a:rPr>
              <a:pPr eaLnBrk="1" hangingPunct="1"/>
              <a:t>32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  <a:ea typeface="微软雅黑 Light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F8506-9F54-46BA-BCFB-6B5EED5D5A61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F266-7499-4593-8434-EC8760140080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94CDD-A1FB-4DE9-8443-FF257AB7A7A9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B907-543D-44A7-B11F-42AE479A61B6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9C8A-E73F-4230-BD14-79887F3EF8A1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3834-E0D3-46C9-8831-9B29E4045608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53D1-4C32-48F0-9F75-FA549A8F3927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F906F-50AC-43CA-BAF6-3121573C25D0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2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1B-CFB2-4AFF-B552-195C09292C82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B435-B47F-458C-AA75-B57C95549C24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425D-4545-4412-BBF4-C51F26EC82A9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52C4B-A3CE-4D82-BEE2-D52F4599FBC8}" type="datetime1">
              <a:rPr lang="en-US" altLang="zh-CN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>
              <a:lumMod val="50000"/>
              <a:lumOff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go.net/bn/sort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38200" y="1447800"/>
            <a:ext cx="7620000" cy="2613025"/>
          </a:xfrm>
          <a:noFill/>
        </p:spPr>
        <p:txBody>
          <a:bodyPr>
            <a:noAutofit/>
          </a:bodyPr>
          <a:lstStyle/>
          <a:p>
            <a:pPr algn="r"/>
            <a: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  <a:t>Data Structures and Algorithms</a:t>
            </a:r>
            <a:b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</a:br>
            <a:br>
              <a:rPr lang="en-US" altLang="zh-TW" sz="4000" b="1" dirty="0">
                <a:ea typeface="PMingLiU" pitchFamily="18" charset="-120"/>
              </a:rPr>
            </a:br>
            <a:r>
              <a:rPr lang="en-US" altLang="zh-TW" sz="4000" b="1" dirty="0">
                <a:ea typeface="PMingLiU" pitchFamily="18" charset="-120"/>
              </a:rPr>
              <a:t> </a:t>
            </a:r>
            <a:r>
              <a:rPr lang="en-US" altLang="zh-TW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Lecture</a:t>
            </a:r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7</a:t>
            </a:r>
            <a:r>
              <a:rPr lang="en-US" altLang="zh-TW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altLang="zh-CN" sz="7200" dirty="0">
                <a:latin typeface="Verdana" pitchFamily="34" charset="0"/>
                <a:ea typeface="Verdana" pitchFamily="34" charset="0"/>
                <a:cs typeface="Verdana" pitchFamily="34" charset="0"/>
              </a:rPr>
              <a:t>Quick Sort</a:t>
            </a:r>
            <a:endParaRPr lang="en-US" altLang="zh-TW" sz="3200" b="1" dirty="0">
              <a:solidFill>
                <a:schemeClr val="bg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914400" y="4267200"/>
            <a:ext cx="76200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Department of Computer Science &amp; Technology</a:t>
            </a: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United International College</a:t>
            </a:r>
          </a:p>
        </p:txBody>
      </p:sp>
    </p:spTree>
    <p:extLst>
      <p:ext uri="{BB962C8B-B14F-4D97-AF65-F5344CB8AC3E}">
        <p14:creationId xmlns:p14="http://schemas.microsoft.com/office/powerpoint/2010/main" val="24876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Introduction to Quick Sort</a:t>
            </a:r>
          </a:p>
          <a:p>
            <a:r>
              <a:rPr lang="en-US" altLang="zh-CN" dirty="0"/>
              <a:t>Quick Sort Components</a:t>
            </a:r>
          </a:p>
          <a:p>
            <a:pPr lvl="1"/>
            <a:r>
              <a:rPr lang="en-US" altLang="zh-CN" dirty="0"/>
              <a:t>Partitioning</a:t>
            </a:r>
          </a:p>
          <a:p>
            <a:pPr lvl="1"/>
            <a:r>
              <a:rPr lang="en-US" altLang="zh-CN" dirty="0"/>
              <a:t>Small Array Strategy</a:t>
            </a:r>
          </a:p>
          <a:p>
            <a:pPr lvl="1"/>
            <a:r>
              <a:rPr lang="en-US" altLang="zh-CN" dirty="0"/>
              <a:t>Picking the Pivot</a:t>
            </a:r>
          </a:p>
          <a:p>
            <a:r>
              <a:rPr lang="en-US" altLang="zh-CN" dirty="0"/>
              <a:t>Cost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0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Fastest </a:t>
            </a:r>
            <a:r>
              <a:rPr lang="en-US" altLang="zh-CN" dirty="0">
                <a:ea typeface="宋体" pitchFamily="2" charset="-122"/>
              </a:rPr>
              <a:t>sorting algorithm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in practice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 lot of variations exist</a:t>
            </a:r>
          </a:p>
          <a:p>
            <a:r>
              <a:rPr lang="en-US" altLang="zh-CN" dirty="0">
                <a:ea typeface="宋体" pitchFamily="2" charset="-122"/>
              </a:rPr>
              <a:t>Not Stable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Average case cost: O(N log N)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Worst case cost: O(N</a:t>
            </a:r>
            <a:r>
              <a:rPr lang="en-US" altLang="zh-CN" baseline="30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)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But, the worst case seldom happens.</a:t>
            </a:r>
          </a:p>
          <a:p>
            <a:r>
              <a:rPr lang="en-US" altLang="zh-CN" dirty="0">
                <a:ea typeface="宋体" pitchFamily="2" charset="-122"/>
              </a:rPr>
              <a:t>Another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divide-and-conquer</a:t>
            </a:r>
            <a:r>
              <a:rPr lang="en-US" altLang="zh-CN" dirty="0">
                <a:ea typeface="宋体" pitchFamily="2" charset="-122"/>
              </a:rPr>
              <a:t>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8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22313" y="2719387"/>
            <a:ext cx="7772400" cy="3148013"/>
          </a:xfrm>
        </p:spPr>
        <p:txBody>
          <a:bodyPr>
            <a:noAutofit/>
          </a:bodyPr>
          <a:lstStyle/>
          <a:p>
            <a:r>
              <a:rPr lang="en-US" altLang="en-US" sz="6000" dirty="0">
                <a:solidFill>
                  <a:schemeClr val="bg2">
                    <a:lumMod val="75000"/>
                  </a:schemeClr>
                </a:solidFill>
              </a:rPr>
              <a:t>●</a:t>
            </a:r>
            <a:r>
              <a:rPr lang="en-US" altLang="zh-CN" sz="6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zh-CN" sz="60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Divide</a:t>
            </a:r>
            <a:br>
              <a:rPr lang="en-US" altLang="zh-CN" sz="6000" dirty="0">
                <a:solidFill>
                  <a:schemeClr val="bg2">
                    <a:lumMod val="75000"/>
                  </a:schemeClr>
                </a:solidFill>
                <a:latin typeface="+mj-lt"/>
              </a:rPr>
            </a:br>
            <a:r>
              <a:rPr lang="en-US" altLang="en-US" sz="6000" dirty="0">
                <a:solidFill>
                  <a:schemeClr val="bg2">
                    <a:lumMod val="75000"/>
                  </a:schemeClr>
                </a:solidFill>
              </a:rPr>
              <a:t>●</a:t>
            </a:r>
            <a:r>
              <a:rPr lang="en-US" altLang="zh-CN" sz="6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zh-CN" sz="60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Conquer</a:t>
            </a:r>
            <a:br>
              <a:rPr lang="en-US" altLang="zh-CN" sz="6000" dirty="0">
                <a:solidFill>
                  <a:schemeClr val="bg2">
                    <a:lumMod val="75000"/>
                  </a:schemeClr>
                </a:solidFill>
                <a:latin typeface="+mj-lt"/>
              </a:rPr>
            </a:br>
            <a:r>
              <a:rPr lang="en-US" altLang="en-US" sz="6000" dirty="0">
                <a:solidFill>
                  <a:schemeClr val="bg2">
                    <a:lumMod val="75000"/>
                  </a:schemeClr>
                </a:solidFill>
              </a:rPr>
              <a:t>●</a:t>
            </a:r>
            <a:r>
              <a:rPr lang="en-US" altLang="zh-CN" sz="6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zh-CN" sz="60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Combine</a:t>
            </a:r>
            <a:endParaRPr lang="zh-CN" altLang="en-US" sz="60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722313" y="1219200"/>
            <a:ext cx="7772400" cy="1500187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+mn-lt"/>
              </a:rPr>
              <a:t>Quick sort, another divide-and-conquer algorithm</a:t>
            </a:r>
            <a:endParaRPr lang="zh-CN" altLang="en-US" sz="2400" dirty="0"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Divide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1600201"/>
            <a:ext cx="8191500" cy="3200400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/>
              <a:t>Pick an element </a:t>
            </a:r>
            <a:r>
              <a:rPr lang="en-US" altLang="zh-CN" sz="2800" i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v</a:t>
            </a:r>
            <a:r>
              <a:rPr lang="en-US" altLang="zh-CN" sz="2800" dirty="0"/>
              <a:t> in </a:t>
            </a:r>
            <a:r>
              <a:rPr lang="en-US" altLang="zh-CN" sz="2800" i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</a:t>
            </a:r>
          </a:p>
          <a:p>
            <a:pPr lvl="1"/>
            <a:r>
              <a:rPr lang="en-US" altLang="zh-CN" sz="2400" i="1" dirty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altLang="zh-CN" sz="2400" dirty="0"/>
              <a:t> is called the </a:t>
            </a:r>
            <a:r>
              <a:rPr lang="en-US" altLang="zh-CN" sz="2400" dirty="0">
                <a:solidFill>
                  <a:schemeClr val="accent6"/>
                </a:solidFill>
              </a:rPr>
              <a:t>pivot</a:t>
            </a:r>
          </a:p>
          <a:p>
            <a:pPr lvl="1"/>
            <a:r>
              <a:rPr lang="en-US" altLang="zh-CN" sz="2400" dirty="0"/>
              <a:t>Many ways to pick a pivot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CN" dirty="0"/>
              <a:t>Partition </a:t>
            </a:r>
            <a:r>
              <a:rPr lang="en-US" altLang="zh-CN" i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S–{v} </a:t>
            </a:r>
            <a:r>
              <a:rPr lang="en-US" altLang="zh-CN" dirty="0">
                <a:ea typeface="宋体" pitchFamily="2" charset="-122"/>
              </a:rPr>
              <a:t>into two disjoint groups</a:t>
            </a:r>
          </a:p>
          <a:p>
            <a:pPr marL="742950" lvl="2" indent="-342900"/>
            <a:r>
              <a:rPr lang="en-US" altLang="zh-CN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S1 = {x </a:t>
            </a:r>
            <a:r>
              <a:rPr lang="en-US" altLang="zh-CN" dirty="0">
                <a:latin typeface="Courier New" pitchFamily="49" charset="0"/>
                <a:ea typeface="宋体" pitchFamily="2" charset="-122"/>
                <a:cs typeface="Courier New" pitchFamily="49" charset="0"/>
                <a:sym typeface="Symbol" pitchFamily="18" charset="2"/>
              </a:rPr>
              <a:t></a:t>
            </a:r>
            <a:r>
              <a:rPr lang="en-US" altLang="zh-CN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S – {v} | x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&lt;=</a:t>
            </a:r>
            <a:r>
              <a:rPr lang="en-US" altLang="zh-CN" b="1" dirty="0">
                <a:solidFill>
                  <a:srgbClr val="00FF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v}</a:t>
            </a:r>
          </a:p>
          <a:p>
            <a:pPr marL="742950" lvl="2" indent="-342900"/>
            <a:r>
              <a:rPr lang="en-US" altLang="zh-CN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S2 = {x </a:t>
            </a:r>
            <a:r>
              <a:rPr lang="en-US" altLang="zh-CN" dirty="0">
                <a:latin typeface="Courier New" pitchFamily="49" charset="0"/>
                <a:ea typeface="宋体" pitchFamily="2" charset="-122"/>
                <a:cs typeface="Courier New" pitchFamily="49" charset="0"/>
                <a:sym typeface="Symbol" pitchFamily="18" charset="2"/>
              </a:rPr>
              <a:t></a:t>
            </a:r>
            <a:r>
              <a:rPr lang="en-US" altLang="zh-CN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S – {v} | x </a:t>
            </a:r>
            <a:r>
              <a:rPr lang="en-US" altLang="zh-CN" dirty="0">
                <a:solidFill>
                  <a:schemeClr val="accent1"/>
                </a:solidFill>
                <a:latin typeface="Courier New" pitchFamily="49" charset="0"/>
                <a:ea typeface="宋体" pitchFamily="2" charset="-122"/>
                <a:cs typeface="Courier New" pitchFamily="49" charset="0"/>
                <a:sym typeface="Symbol" pitchFamily="18" charset="2"/>
              </a:rPr>
              <a:t>&gt;=</a:t>
            </a:r>
            <a:r>
              <a:rPr lang="en-US" altLang="zh-CN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v}</a:t>
            </a:r>
            <a:endParaRPr lang="en-US" altLang="zh-CN" dirty="0">
              <a:ea typeface="宋体" pitchFamily="2" charset="-122"/>
            </a:endParaRPr>
          </a:p>
          <a:p>
            <a:pPr marL="342900" lvl="1" indent="-342900"/>
            <a:r>
              <a:rPr lang="en-US" altLang="zh-CN" dirty="0">
                <a:ea typeface="宋体" pitchFamily="2" charset="-122"/>
              </a:rPr>
              <a:t>Recursively divide </a:t>
            </a:r>
            <a:r>
              <a:rPr lang="en-US" altLang="zh-CN" i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S1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i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S2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914400" y="4921250"/>
            <a:ext cx="2667000" cy="1060450"/>
            <a:chOff x="812800" y="4800600"/>
            <a:chExt cx="2667000" cy="1060450"/>
          </a:xfrm>
        </p:grpSpPr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812800" y="4800600"/>
              <a:ext cx="228600" cy="10604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1219200" y="5403850"/>
              <a:ext cx="228600" cy="45720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032000" y="5575300"/>
              <a:ext cx="228600" cy="2857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438400" y="5232400"/>
              <a:ext cx="228600" cy="628650"/>
            </a:xfrm>
            <a:prstGeom prst="rect">
              <a:avLst/>
            </a:prstGeom>
            <a:solidFill>
              <a:schemeClr val="accent6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itchFamily="18" charset="0"/>
                </a:rPr>
                <a:t>v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844800" y="4889500"/>
              <a:ext cx="228600" cy="9715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3251200" y="5518150"/>
              <a:ext cx="228600" cy="34290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625600" y="5060950"/>
              <a:ext cx="228600" cy="80010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</p:grpSp>
      <p:sp>
        <p:nvSpPr>
          <p:cNvPr id="14" name="AutoShape 31"/>
          <p:cNvSpPr>
            <a:spLocks/>
          </p:cNvSpPr>
          <p:nvPr/>
        </p:nvSpPr>
        <p:spPr bwMode="auto">
          <a:xfrm rot="16200000">
            <a:off x="2095500" y="4908550"/>
            <a:ext cx="304800" cy="2514600"/>
          </a:xfrm>
          <a:prstGeom prst="leftBrace">
            <a:avLst>
              <a:gd name="adj1" fmla="val 68750"/>
              <a:gd name="adj2" fmla="val 5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</a:rPr>
              <a:t>S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4654550" y="4914900"/>
            <a:ext cx="3041650" cy="1066800"/>
            <a:chOff x="4959350" y="4914900"/>
            <a:chExt cx="3041650" cy="1066800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6934200" y="4914900"/>
              <a:ext cx="228600" cy="10604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7772400" y="5003800"/>
              <a:ext cx="228600" cy="9715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7353300" y="5175250"/>
              <a:ext cx="228600" cy="80010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grpSp>
          <p:nvGrpSpPr>
            <p:cNvPr id="18" name="Group 17"/>
            <p:cNvGrpSpPr>
              <a:grpSpLocks/>
            </p:cNvGrpSpPr>
            <p:nvPr/>
          </p:nvGrpSpPr>
          <p:grpSpPr bwMode="auto">
            <a:xfrm>
              <a:off x="4959350" y="5524500"/>
              <a:ext cx="1054100" cy="457200"/>
              <a:chOff x="3320" y="2304"/>
              <a:chExt cx="664" cy="384"/>
            </a:xfrm>
          </p:grpSpPr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3320" y="2304"/>
                <a:ext cx="144" cy="384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/>
              </a:p>
            </p:txBody>
          </p:sp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3580" y="2448"/>
                <a:ext cx="14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/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3840" y="2400"/>
                <a:ext cx="144" cy="288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/>
              </a:p>
            </p:txBody>
          </p:sp>
        </p:grp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6362700" y="5353050"/>
              <a:ext cx="228600" cy="628650"/>
            </a:xfrm>
            <a:prstGeom prst="rect">
              <a:avLst/>
            </a:prstGeom>
            <a:solidFill>
              <a:schemeClr val="accent6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itchFamily="18" charset="0"/>
                </a:rPr>
                <a:t>v</a:t>
              </a:r>
            </a:p>
          </p:txBody>
        </p:sp>
      </p:grpSp>
      <p:sp>
        <p:nvSpPr>
          <p:cNvPr id="23" name="AutoShape 22"/>
          <p:cNvSpPr>
            <a:spLocks/>
          </p:cNvSpPr>
          <p:nvPr/>
        </p:nvSpPr>
        <p:spPr bwMode="auto">
          <a:xfrm rot="16200000">
            <a:off x="5029200" y="555625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</a:rPr>
              <a:t>S1</a:t>
            </a:r>
          </a:p>
        </p:txBody>
      </p:sp>
      <p:sp>
        <p:nvSpPr>
          <p:cNvPr id="24" name="AutoShape 23"/>
          <p:cNvSpPr>
            <a:spLocks/>
          </p:cNvSpPr>
          <p:nvPr/>
        </p:nvSpPr>
        <p:spPr bwMode="auto">
          <a:xfrm rot="16200000">
            <a:off x="7010400" y="555625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403126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Conquer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If there is no more than 1 element in </a:t>
            </a:r>
            <a:r>
              <a:rPr lang="en-US" altLang="zh-CN" sz="28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altLang="zh-CN" sz="2800" dirty="0"/>
              <a:t>, return directly.</a:t>
            </a:r>
          </a:p>
          <a:p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629174" y="2743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/>
              <a:t>Combine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29174" y="3962400"/>
            <a:ext cx="8229600" cy="20113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No action is needed.</a:t>
            </a:r>
          </a:p>
          <a:p>
            <a:r>
              <a:rPr lang="en-US" altLang="zh-CN" dirty="0"/>
              <a:t>The </a:t>
            </a:r>
            <a:r>
              <a:rPr lang="en-US" altLang="zh-CN" sz="5200" dirty="0">
                <a:solidFill>
                  <a:schemeClr val="accent6"/>
                </a:solidFill>
              </a:rPr>
              <a:t>sorted </a:t>
            </a:r>
            <a:r>
              <a:rPr lang="en-US" altLang="zh-CN" sz="52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S1</a:t>
            </a:r>
            <a:r>
              <a:rPr lang="en-US" altLang="zh-CN" sz="5200" dirty="0">
                <a:solidFill>
                  <a:schemeClr val="accent6"/>
                </a:solidFill>
              </a:rPr>
              <a:t> </a:t>
            </a:r>
            <a:r>
              <a:rPr lang="en-US" altLang="zh-CN" dirty="0"/>
              <a:t>(when the recursion is done) followed by </a:t>
            </a:r>
            <a:r>
              <a:rPr lang="en-US" altLang="zh-CN" sz="5200" i="1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v</a:t>
            </a:r>
            <a:r>
              <a:rPr lang="en-US" altLang="zh-CN" dirty="0"/>
              <a:t>, followed by the </a:t>
            </a:r>
            <a:r>
              <a:rPr lang="en-US" altLang="zh-CN" sz="4700" dirty="0">
                <a:solidFill>
                  <a:schemeClr val="accent6"/>
                </a:solidFill>
              </a:rPr>
              <a:t>sorted </a:t>
            </a:r>
            <a:r>
              <a:rPr lang="en-US" altLang="zh-CN" sz="47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S2</a:t>
            </a:r>
            <a:r>
              <a:rPr lang="en-US" altLang="zh-CN" sz="4700" dirty="0"/>
              <a:t> </a:t>
            </a:r>
            <a:r>
              <a:rPr lang="en-US" altLang="zh-CN" dirty="0"/>
              <a:t>(when the recursion is done), make a </a:t>
            </a:r>
            <a:r>
              <a:rPr lang="en-US" altLang="zh-CN" sz="4600" dirty="0">
                <a:solidFill>
                  <a:schemeClr val="accent6"/>
                </a:solidFill>
              </a:rPr>
              <a:t>sorted new list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25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594404"/>
              </p:ext>
            </p:extLst>
          </p:nvPr>
        </p:nvGraphicFramePr>
        <p:xfrm>
          <a:off x="914401" y="1447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a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041002"/>
              </p:ext>
            </p:extLst>
          </p:nvPr>
        </p:nvGraphicFramePr>
        <p:xfrm>
          <a:off x="914400" y="20574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Partition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248019"/>
              </p:ext>
            </p:extLst>
          </p:nvPr>
        </p:nvGraphicFramePr>
        <p:xfrm>
          <a:off x="914401" y="28194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a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23255"/>
              </p:ext>
            </p:extLst>
          </p:nvPr>
        </p:nvGraphicFramePr>
        <p:xfrm>
          <a:off x="914400" y="34290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Partition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933483"/>
              </p:ext>
            </p:extLst>
          </p:nvPr>
        </p:nvGraphicFramePr>
        <p:xfrm>
          <a:off x="914400" y="41910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a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304675"/>
              </p:ext>
            </p:extLst>
          </p:nvPr>
        </p:nvGraphicFramePr>
        <p:xfrm>
          <a:off x="914400" y="48006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Partition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五边形 17"/>
          <p:cNvSpPr/>
          <p:nvPr/>
        </p:nvSpPr>
        <p:spPr>
          <a:xfrm rot="16200000">
            <a:off x="3009901" y="5905499"/>
            <a:ext cx="1447801" cy="457201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Conquer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五边形 18"/>
          <p:cNvSpPr/>
          <p:nvPr/>
        </p:nvSpPr>
        <p:spPr>
          <a:xfrm rot="16200000">
            <a:off x="2029786" y="4533899"/>
            <a:ext cx="1447799" cy="457201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Conquer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50853" y="5488146"/>
            <a:ext cx="2821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right half can be solved similarly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424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22313" y="3362325"/>
            <a:ext cx="7772400" cy="1362075"/>
          </a:xfrm>
        </p:spPr>
        <p:txBody>
          <a:bodyPr>
            <a:noAutofit/>
          </a:bodyPr>
          <a:lstStyle/>
          <a:p>
            <a:r>
              <a:rPr lang="en-US" altLang="zh-CN" sz="48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“Divide” is the key</a:t>
            </a:r>
            <a:endParaRPr lang="zh-CN" altLang="en-US" sz="48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722313" y="1862138"/>
            <a:ext cx="7772400" cy="1500187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+mn-lt"/>
              </a:rPr>
              <a:t>Nothing is done in conquer and combine</a:t>
            </a:r>
            <a:endParaRPr lang="zh-CN" altLang="en-US" sz="2400" dirty="0"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19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Animation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  <a:hlinkClick r:id="rId2"/>
              </a:rPr>
              <a:t>Animation</a:t>
            </a:r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Note that</a:t>
            </a:r>
          </a:p>
          <a:p>
            <a:pPr lvl="1"/>
            <a:r>
              <a:rPr lang="en-US" altLang="zh-CN" dirty="0">
                <a:ea typeface="宋体" charset="-122"/>
              </a:rPr>
              <a:t>There are various methods to 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choose a pivot</a:t>
            </a:r>
          </a:p>
          <a:p>
            <a:pPr lvl="1"/>
            <a:r>
              <a:rPr lang="en-US" altLang="zh-CN" dirty="0">
                <a:ea typeface="宋体" charset="-122"/>
              </a:rPr>
              <a:t>There are various methods to 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partition a sub-array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6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Pseudo Code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7800" y="1905000"/>
            <a:ext cx="6248400" cy="3276600"/>
          </a:xfrm>
          <a:ln w="76200">
            <a:solidFill>
              <a:schemeClr val="tx2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altLang="zh-CN" sz="2600" dirty="0">
                <a:solidFill>
                  <a:schemeClr val="dk1"/>
                </a:solidFill>
              </a:rPr>
              <a:t>QUICKSORT(A, left, right)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1.     IF left &gt;= right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2.          return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3.     </a:t>
            </a:r>
            <a:r>
              <a:rPr lang="en-US" altLang="zh-CN" sz="2600" dirty="0">
                <a:solidFill>
                  <a:schemeClr val="bg2">
                    <a:lumMod val="75000"/>
                  </a:schemeClr>
                </a:solidFill>
              </a:rPr>
              <a:t>q = PARTITION(A, left, right)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4.</a:t>
            </a:r>
            <a:r>
              <a:rPr lang="en-US" altLang="zh-CN" sz="2600" dirty="0">
                <a:solidFill>
                  <a:schemeClr val="accent6"/>
                </a:solidFill>
              </a:rPr>
              <a:t>     //q is the position of the pivot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5.     QUICKSORT(A, left, q-1)           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6.     QUICKSORT(A, q+1, right)</a:t>
            </a:r>
            <a:endParaRPr lang="zh-CN" altLang="en-US" sz="2600" dirty="0">
              <a:solidFill>
                <a:schemeClr val="dk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9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Partitioning</a:t>
            </a:r>
            <a:r>
              <a:rPr lang="en-US" altLang="zh-CN" dirty="0">
                <a:ea typeface="宋体" pitchFamily="2" charset="-122"/>
              </a:rPr>
              <a:t> 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This is a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key step </a:t>
            </a:r>
            <a:r>
              <a:rPr lang="en-US" altLang="zh-CN" dirty="0">
                <a:ea typeface="宋体" pitchFamily="2" charset="-122"/>
              </a:rPr>
              <a:t>of the quicksort algorithm</a:t>
            </a:r>
          </a:p>
          <a:p>
            <a:pPr lvl="1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Goal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: given the picked pivot, partition the remaining elements into two smaller sets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Many ways to implement how to partition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Even the slightest deviations may cause surprisingly bad results.</a:t>
            </a:r>
          </a:p>
          <a:p>
            <a:r>
              <a:rPr lang="en-US" altLang="zh-CN" dirty="0">
                <a:ea typeface="宋体" pitchFamily="2" charset="-122"/>
              </a:rPr>
              <a:t>We will learn an easy and efficient partitioning strategy here.</a:t>
            </a:r>
          </a:p>
          <a:p>
            <a:r>
              <a:rPr lang="en-US" altLang="zh-CN" dirty="0">
                <a:ea typeface="宋体" pitchFamily="2" charset="-122"/>
              </a:rPr>
              <a:t>How to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pick a pivot </a:t>
            </a:r>
            <a:r>
              <a:rPr lang="en-US" altLang="zh-CN" dirty="0">
                <a:ea typeface="宋体" pitchFamily="2" charset="-122"/>
              </a:rPr>
              <a:t>will be discussed later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14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43199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ea typeface="宋体" pitchFamily="2" charset="-122"/>
              </a:rPr>
              <a:t>Want to partition an array A[left .. right]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Get the pivot element out of the way by swapping it with the last element. (Swap pivot and A[right])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Let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i start at the first element </a:t>
            </a:r>
            <a:r>
              <a:rPr lang="en-US" altLang="zh-CN" dirty="0">
                <a:ea typeface="宋体" pitchFamily="2" charset="-122"/>
              </a:rPr>
              <a:t>and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j start at the next-to-last element 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i = left, j = right </a:t>
            </a:r>
            <a:r>
              <a:rPr lang="en-US" altLang="zh-CN" dirty="0">
                <a:latin typeface="Arial" charset="0"/>
                <a:ea typeface="宋体" pitchFamily="2" charset="-122"/>
              </a:rPr>
              <a:t>–</a:t>
            </a:r>
            <a:r>
              <a:rPr lang="en-US" altLang="zh-CN" dirty="0">
                <a:ea typeface="宋体" pitchFamily="2" charset="-122"/>
              </a:rPr>
              <a:t> 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828663"/>
              </p:ext>
            </p:extLst>
          </p:nvPr>
        </p:nvGraphicFramePr>
        <p:xfrm>
          <a:off x="1066800" y="41910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a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190337"/>
              </p:ext>
            </p:extLst>
          </p:nvPr>
        </p:nvGraphicFramePr>
        <p:xfrm>
          <a:off x="1066800" y="4876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Swap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直接箭头连接符 7"/>
          <p:cNvCxnSpPr/>
          <p:nvPr/>
        </p:nvCxnSpPr>
        <p:spPr>
          <a:xfrm flipV="1">
            <a:off x="2875608" y="5486400"/>
            <a:ext cx="0" cy="39768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743200" y="5877580"/>
            <a:ext cx="264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i</a:t>
            </a:r>
            <a:endParaRPr lang="zh-CN" alt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6990408" y="5492906"/>
            <a:ext cx="0" cy="39768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858000" y="5884086"/>
            <a:ext cx="264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j</a:t>
            </a:r>
            <a:endParaRPr lang="zh-CN" alt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85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8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3100" dirty="0"/>
              <a:t>Goal:</a:t>
            </a:r>
          </a:p>
          <a:p>
            <a:pPr>
              <a:lnSpc>
                <a:spcPct val="110000"/>
              </a:lnSpc>
            </a:pPr>
            <a:r>
              <a:rPr lang="en-US" altLang="zh-CN" sz="3100" dirty="0"/>
              <a:t>A[left..</a:t>
            </a:r>
            <a:r>
              <a:rPr lang="en-US" altLang="zh-CN" sz="3100" dirty="0" err="1"/>
              <a:t>i</a:t>
            </a:r>
            <a:r>
              <a:rPr lang="en-US" altLang="zh-CN" sz="3100" dirty="0"/>
              <a:t>] are smaller or equal to the pivot</a:t>
            </a:r>
          </a:p>
          <a:p>
            <a:pPr>
              <a:lnSpc>
                <a:spcPct val="110000"/>
              </a:lnSpc>
            </a:pPr>
            <a:r>
              <a:rPr lang="en-US" altLang="zh-CN" sz="3100" dirty="0"/>
              <a:t>A[</a:t>
            </a:r>
            <a:r>
              <a:rPr lang="en-US" altLang="zh-CN" sz="3100" dirty="0" err="1"/>
              <a:t>j..right</a:t>
            </a:r>
            <a:r>
              <a:rPr lang="en-US" altLang="zh-CN" sz="3100" dirty="0"/>
              <a:t>] are greater or equal to the pivot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3100" dirty="0"/>
              <a:t>Strategy:</a:t>
            </a:r>
          </a:p>
          <a:p>
            <a:r>
              <a:rPr lang="en-US" altLang="zh-CN" sz="3100" dirty="0"/>
              <a:t>When i &lt; j</a:t>
            </a:r>
          </a:p>
          <a:p>
            <a:pPr lvl="1"/>
            <a:r>
              <a:rPr lang="en-US" altLang="zh-CN" dirty="0"/>
              <a:t>Move i right, skipping over elements smaller than the pivot</a:t>
            </a:r>
          </a:p>
          <a:p>
            <a:pPr lvl="1"/>
            <a:r>
              <a:rPr lang="en-US" altLang="zh-CN" dirty="0"/>
              <a:t>Move j left, skipping over elements greater than the pivot</a:t>
            </a:r>
          </a:p>
          <a:p>
            <a:pPr lvl="1"/>
            <a:r>
              <a:rPr lang="en-US" altLang="zh-CN" dirty="0"/>
              <a:t>When both i and j have stopped</a:t>
            </a:r>
          </a:p>
          <a:p>
            <a:pPr lvl="2"/>
            <a:r>
              <a:rPr lang="en-US" altLang="zh-CN" sz="2900" dirty="0"/>
              <a:t>A[i] &gt;= pivot</a:t>
            </a:r>
          </a:p>
          <a:p>
            <a:pPr lvl="2"/>
            <a:r>
              <a:rPr lang="en-US" altLang="zh-CN" sz="2900" dirty="0"/>
              <a:t>A[j] &lt;= pivot   { A[i] and A[j] should now be </a:t>
            </a:r>
            <a:r>
              <a:rPr lang="en-US" altLang="zh-CN" sz="2900" dirty="0">
                <a:solidFill>
                  <a:schemeClr val="accent6"/>
                </a:solidFill>
              </a:rPr>
              <a:t>swapped</a:t>
            </a:r>
            <a:r>
              <a:rPr lang="en-US" altLang="zh-CN" sz="2900" dirty="0"/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277924"/>
              </p:ext>
            </p:extLst>
          </p:nvPr>
        </p:nvGraphicFramePr>
        <p:xfrm>
          <a:off x="838200" y="5054974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514600" y="5664574"/>
            <a:ext cx="264816" cy="914400"/>
            <a:chOff x="2514600" y="5664574"/>
            <a:chExt cx="264816" cy="914400"/>
          </a:xfrm>
        </p:grpSpPr>
        <p:cxnSp>
          <p:nvCxnSpPr>
            <p:cNvPr id="8" name="直接箭头连接符 7"/>
            <p:cNvCxnSpPr/>
            <p:nvPr/>
          </p:nvCxnSpPr>
          <p:spPr>
            <a:xfrm flipV="1">
              <a:off x="2647008" y="5664574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2514600" y="6055754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629400" y="5671080"/>
            <a:ext cx="264816" cy="914400"/>
            <a:chOff x="6629400" y="5671080"/>
            <a:chExt cx="264816" cy="914400"/>
          </a:xfrm>
        </p:grpSpPr>
        <p:cxnSp>
          <p:nvCxnSpPr>
            <p:cNvPr id="11" name="直接箭头连接符 10"/>
            <p:cNvCxnSpPr/>
            <p:nvPr/>
          </p:nvCxnSpPr>
          <p:spPr>
            <a:xfrm flipV="1">
              <a:off x="6761808" y="5671080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66294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48000" y="5671080"/>
            <a:ext cx="264816" cy="914400"/>
            <a:chOff x="3048000" y="5671080"/>
            <a:chExt cx="264816" cy="914400"/>
          </a:xfrm>
        </p:grpSpPr>
        <p:cxnSp>
          <p:nvCxnSpPr>
            <p:cNvPr id="13" name="直接箭头连接符 12"/>
            <p:cNvCxnSpPr/>
            <p:nvPr/>
          </p:nvCxnSpPr>
          <p:spPr>
            <a:xfrm flipV="1">
              <a:off x="3180408" y="5671080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30480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77679" y="5664574"/>
            <a:ext cx="264816" cy="914400"/>
            <a:chOff x="6629400" y="5671080"/>
            <a:chExt cx="264816" cy="914400"/>
          </a:xfrm>
        </p:grpSpPr>
        <p:cxnSp>
          <p:nvCxnSpPr>
            <p:cNvPr id="16" name="直接箭头连接符 15"/>
            <p:cNvCxnSpPr/>
            <p:nvPr/>
          </p:nvCxnSpPr>
          <p:spPr>
            <a:xfrm flipV="1">
              <a:off x="6761808" y="5671080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94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438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76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When i and j have stopped and i is to the left of j (thus legal)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Swap A[i] and A[j]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And then both elements are on the “correct” side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After swapping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A[i] &lt;= pivot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A[j] &gt;= pivot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Repeat the process until i and j cross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752232"/>
              </p:ext>
            </p:extLst>
          </p:nvPr>
        </p:nvGraphicFramePr>
        <p:xfrm>
          <a:off x="838200" y="5054974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Swap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V="1">
            <a:off x="3180408" y="5671080"/>
            <a:ext cx="0" cy="39768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048000" y="6062260"/>
            <a:ext cx="264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i</a:t>
            </a:r>
            <a:endParaRPr lang="zh-CN" alt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077679" y="5664574"/>
            <a:ext cx="264816" cy="914400"/>
            <a:chOff x="6629400" y="5671080"/>
            <a:chExt cx="264816" cy="914400"/>
          </a:xfrm>
        </p:grpSpPr>
        <p:cxnSp>
          <p:nvCxnSpPr>
            <p:cNvPr id="16" name="直接箭头连接符 15"/>
            <p:cNvCxnSpPr/>
            <p:nvPr/>
          </p:nvCxnSpPr>
          <p:spPr>
            <a:xfrm flipV="1">
              <a:off x="6761808" y="5671080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94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3510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639774"/>
              </p:ext>
            </p:extLst>
          </p:nvPr>
        </p:nvGraphicFramePr>
        <p:xfrm>
          <a:off x="838200" y="8382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4038600" y="1454306"/>
            <a:ext cx="264816" cy="669114"/>
            <a:chOff x="3048000" y="1454306"/>
            <a:chExt cx="264816" cy="669114"/>
          </a:xfrm>
        </p:grpSpPr>
        <p:cxnSp>
          <p:nvCxnSpPr>
            <p:cNvPr id="6" name="直接箭头连接符 5"/>
            <p:cNvCxnSpPr/>
            <p:nvPr/>
          </p:nvCxnSpPr>
          <p:spPr>
            <a:xfrm flipV="1">
              <a:off x="3180408" y="1454306"/>
              <a:ext cx="0" cy="198843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>
            <a:xfrm>
              <a:off x="3048000" y="160020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62600" y="1447800"/>
            <a:ext cx="264816" cy="675620"/>
            <a:chOff x="6629400" y="5671080"/>
            <a:chExt cx="264816" cy="675620"/>
          </a:xfrm>
        </p:grpSpPr>
        <p:cxnSp>
          <p:nvCxnSpPr>
            <p:cNvPr id="9" name="直接箭头连接符 8"/>
            <p:cNvCxnSpPr/>
            <p:nvPr/>
          </p:nvCxnSpPr>
          <p:spPr>
            <a:xfrm flipV="1">
              <a:off x="6761808" y="5671080"/>
              <a:ext cx="0" cy="198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29400" y="582348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175432"/>
              </p:ext>
            </p:extLst>
          </p:nvPr>
        </p:nvGraphicFramePr>
        <p:xfrm>
          <a:off x="838199" y="2209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Swap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4038600" y="2825906"/>
            <a:ext cx="264816" cy="669114"/>
            <a:chOff x="3048000" y="1454306"/>
            <a:chExt cx="264816" cy="669114"/>
          </a:xfrm>
        </p:grpSpPr>
        <p:cxnSp>
          <p:nvCxnSpPr>
            <p:cNvPr id="21" name="直接箭头连接符 20"/>
            <p:cNvCxnSpPr/>
            <p:nvPr/>
          </p:nvCxnSpPr>
          <p:spPr>
            <a:xfrm flipV="1">
              <a:off x="3180408" y="1454306"/>
              <a:ext cx="0" cy="198843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3048000" y="160020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562600" y="2819400"/>
            <a:ext cx="264816" cy="675620"/>
            <a:chOff x="6629400" y="5671080"/>
            <a:chExt cx="264816" cy="675620"/>
          </a:xfrm>
        </p:grpSpPr>
        <p:cxnSp>
          <p:nvCxnSpPr>
            <p:cNvPr id="24" name="直接箭头连接符 23"/>
            <p:cNvCxnSpPr/>
            <p:nvPr/>
          </p:nvCxnSpPr>
          <p:spPr>
            <a:xfrm flipV="1">
              <a:off x="6761808" y="5671080"/>
              <a:ext cx="0" cy="198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/>
            <p:cNvSpPr/>
            <p:nvPr/>
          </p:nvSpPr>
          <p:spPr>
            <a:xfrm>
              <a:off x="6629400" y="582348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636106"/>
              </p:ext>
            </p:extLst>
          </p:nvPr>
        </p:nvGraphicFramePr>
        <p:xfrm>
          <a:off x="838200" y="359158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4572000" y="4207686"/>
            <a:ext cx="264816" cy="669114"/>
            <a:chOff x="3048000" y="1454306"/>
            <a:chExt cx="264816" cy="669114"/>
          </a:xfrm>
        </p:grpSpPr>
        <p:cxnSp>
          <p:nvCxnSpPr>
            <p:cNvPr id="28" name="直接箭头连接符 27"/>
            <p:cNvCxnSpPr/>
            <p:nvPr/>
          </p:nvCxnSpPr>
          <p:spPr>
            <a:xfrm flipV="1">
              <a:off x="3180408" y="1454306"/>
              <a:ext cx="0" cy="198843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/>
            <p:cNvSpPr/>
            <p:nvPr/>
          </p:nvSpPr>
          <p:spPr>
            <a:xfrm>
              <a:off x="3048000" y="160020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38600" y="4201180"/>
            <a:ext cx="264816" cy="675620"/>
            <a:chOff x="6629400" y="5671080"/>
            <a:chExt cx="264816" cy="675620"/>
          </a:xfrm>
        </p:grpSpPr>
        <p:cxnSp>
          <p:nvCxnSpPr>
            <p:cNvPr id="31" name="直接箭头连接符 30"/>
            <p:cNvCxnSpPr/>
            <p:nvPr/>
          </p:nvCxnSpPr>
          <p:spPr>
            <a:xfrm flipV="1">
              <a:off x="6761808" y="5671080"/>
              <a:ext cx="0" cy="198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6629400" y="582348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0" y="5105400"/>
            <a:ext cx="9144000" cy="9567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i and j cross now!</a:t>
            </a:r>
            <a:endParaRPr lang="zh-CN" altLang="en-US" sz="48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/>
              <p14:cNvContentPartPr/>
              <p14:nvPr/>
            </p14:nvContentPartPr>
            <p14:xfrm>
              <a:off x="4807800" y="3907080"/>
              <a:ext cx="21600" cy="147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91960" y="3843720"/>
                <a:ext cx="53280" cy="1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14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76600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ea typeface="宋体" pitchFamily="2" charset="-122"/>
              </a:rPr>
              <a:t>When i and j have crossed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Swap A[i] and pivot</a:t>
            </a:r>
          </a:p>
          <a:p>
            <a:r>
              <a:rPr lang="en-US" altLang="zh-CN" dirty="0">
                <a:ea typeface="宋体" pitchFamily="2" charset="-122"/>
              </a:rPr>
              <a:t>Result: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A[p] &lt;= pivot, for p &lt; i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A[p] &gt;= pivot, for p &gt; I</a:t>
            </a:r>
          </a:p>
          <a:p>
            <a:r>
              <a:rPr lang="en-US" altLang="zh-CN" dirty="0">
                <a:ea typeface="宋体" pitchFamily="2" charset="-122"/>
              </a:rPr>
              <a:t>Partition complete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4572000" y="5562600"/>
            <a:ext cx="264816" cy="914400"/>
            <a:chOff x="3048000" y="5671080"/>
            <a:chExt cx="264816" cy="914400"/>
          </a:xfrm>
        </p:grpSpPr>
        <p:cxnSp>
          <p:nvCxnSpPr>
            <p:cNvPr id="13" name="直接箭头连接符 12"/>
            <p:cNvCxnSpPr/>
            <p:nvPr/>
          </p:nvCxnSpPr>
          <p:spPr>
            <a:xfrm flipV="1">
              <a:off x="3180408" y="5671080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30480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078584" y="5562600"/>
            <a:ext cx="264816" cy="914400"/>
            <a:chOff x="6629400" y="5671080"/>
            <a:chExt cx="264816" cy="914400"/>
          </a:xfrm>
        </p:grpSpPr>
        <p:cxnSp>
          <p:nvCxnSpPr>
            <p:cNvPr id="16" name="直接箭头连接符 15"/>
            <p:cNvCxnSpPr/>
            <p:nvPr/>
          </p:nvCxnSpPr>
          <p:spPr>
            <a:xfrm flipV="1">
              <a:off x="6761808" y="5671080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94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645123"/>
              </p:ext>
            </p:extLst>
          </p:nvPr>
        </p:nvGraphicFramePr>
        <p:xfrm>
          <a:off x="838200" y="4876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87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Pseudo Code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orient="vert" idx="1"/>
          </p:nvPr>
        </p:nvSpPr>
        <p:spPr>
          <a:xfrm rot="16200000">
            <a:off x="678657" y="526255"/>
            <a:ext cx="6354762" cy="5851525"/>
          </a:xfrm>
          <a:ln w="76200">
            <a:solidFill>
              <a:schemeClr val="tx2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PARTITION(A, left, right)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1.     </a:t>
            </a:r>
            <a:r>
              <a:rPr lang="en-US" altLang="zh-CN" sz="2200" dirty="0">
                <a:solidFill>
                  <a:schemeClr val="bg2">
                    <a:lumMod val="75000"/>
                  </a:schemeClr>
                </a:solidFill>
              </a:rPr>
              <a:t>p = PIVOT(A, left, right)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2.</a:t>
            </a:r>
            <a:r>
              <a:rPr lang="en-US" altLang="zh-CN" sz="2200" dirty="0">
                <a:solidFill>
                  <a:schemeClr val="accent6"/>
                </a:solidFill>
              </a:rPr>
              <a:t>    //p is the position of the pivot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3.    swap A[p] and A[right]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4.</a:t>
            </a:r>
            <a:r>
              <a:rPr lang="en-US" altLang="zh-CN" sz="2200" dirty="0">
                <a:solidFill>
                  <a:schemeClr val="accent6"/>
                </a:solidFill>
              </a:rPr>
              <a:t>    </a:t>
            </a:r>
            <a:r>
              <a:rPr lang="en-US" altLang="zh-CN" sz="2200" dirty="0">
                <a:solidFill>
                  <a:schemeClr val="dk1"/>
                </a:solidFill>
              </a:rPr>
              <a:t>i = left, j = right-1, pivot = A[right]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5.    WHILE true           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6.        WHILE </a:t>
            </a:r>
            <a:r>
              <a:rPr lang="en-US" altLang="zh-CN" sz="2200" dirty="0" err="1">
                <a:solidFill>
                  <a:schemeClr val="dk1"/>
                </a:solidFill>
              </a:rPr>
              <a:t>i</a:t>
            </a:r>
            <a:r>
              <a:rPr lang="en-US" altLang="zh-CN" sz="2200" dirty="0">
                <a:solidFill>
                  <a:schemeClr val="dk1"/>
                </a:solidFill>
              </a:rPr>
              <a:t>&lt;right AND A[i]&lt;pivot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7.            i++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8.        WHILE j&gt;=left AND A[j]&gt;pivot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9.            j--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10.       IF </a:t>
            </a:r>
            <a:r>
              <a:rPr lang="en-US" altLang="zh-CN" sz="2200" dirty="0" err="1">
                <a:solidFill>
                  <a:schemeClr val="dk1"/>
                </a:solidFill>
              </a:rPr>
              <a:t>i</a:t>
            </a:r>
            <a:r>
              <a:rPr lang="en-US" altLang="zh-CN" sz="2200" dirty="0">
                <a:solidFill>
                  <a:schemeClr val="dk1"/>
                </a:solidFill>
              </a:rPr>
              <a:t>&lt;j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11.           swap A[i] and A[j]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12.           </a:t>
            </a:r>
            <a:r>
              <a:rPr lang="en-US" altLang="zh-CN" sz="2200" dirty="0" err="1">
                <a:solidFill>
                  <a:schemeClr val="dk1"/>
                </a:solidFill>
              </a:rPr>
              <a:t>i</a:t>
            </a:r>
            <a:r>
              <a:rPr lang="en-US" altLang="zh-CN" sz="2200" dirty="0">
                <a:solidFill>
                  <a:schemeClr val="dk1"/>
                </a:solidFill>
              </a:rPr>
              <a:t>++, j--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13.       ELSE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14.           BREAK</a:t>
            </a:r>
            <a:endParaRPr lang="zh-CN" altLang="en-US" sz="220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15.   swap A[i] and A[right]</a:t>
            </a:r>
            <a:endParaRPr lang="zh-CN" altLang="en-US" sz="2200"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lang="zh-CN" altLang="en-US" sz="2200" dirty="0">
              <a:solidFill>
                <a:schemeClr val="dk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18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Small arrays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For very small arrays, quicksort does not perform as well as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insertion sort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how small depends on many factors, such as the time spent making a recursive call, the compiler, </a:t>
            </a:r>
            <a:r>
              <a:rPr lang="en-US" altLang="zh-CN" dirty="0" err="1">
                <a:ea typeface="宋体" pitchFamily="2" charset="-122"/>
              </a:rPr>
              <a:t>etc</a:t>
            </a:r>
            <a:endParaRPr lang="en-US" altLang="zh-CN" dirty="0">
              <a:ea typeface="宋体" pitchFamily="2" charset="-122"/>
            </a:endParaRP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Do not use quicksort recursively for small arrays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Instead, use a sorting algorithm that is efficient for small arrays, such as insertion sort</a:t>
            </a:r>
          </a:p>
          <a:p>
            <a:pPr eaLnBrk="1" hangingPunct="1"/>
            <a:endParaRPr lang="en-US" altLang="zh-CN" dirty="0">
              <a:ea typeface="宋体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55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Quick Sort + Small Array Strategy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447800" y="2133600"/>
            <a:ext cx="6248400" cy="3581400"/>
          </a:xfrm>
          <a:ln w="76200">
            <a:solidFill>
              <a:schemeClr val="tx2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altLang="zh-CN" sz="2600" dirty="0">
                <a:solidFill>
                  <a:schemeClr val="dk1"/>
                </a:solidFill>
              </a:rPr>
              <a:t>QUICKSORT(A, left, right)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1.     IF left &gt;= right - 10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2.          INSERTIONSORT(A, left, right)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dk1"/>
                </a:solidFill>
              </a:rPr>
              <a:t>3.	   RETURN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4</a:t>
            </a:r>
            <a:r>
              <a:rPr lang="en-US" altLang="zh-CN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    q = PARTITION(A, left, right)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5.</a:t>
            </a:r>
            <a:r>
              <a:rPr lang="en-US" altLang="zh-CN" sz="2600" dirty="0">
                <a:solidFill>
                  <a:schemeClr val="accent6"/>
                </a:solidFill>
              </a:rPr>
              <a:t>     //q is the position of the pivot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6.     QUICKSORT(A, left, q-1)           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7.     QUICKSORT(A, q+1, right)</a:t>
            </a:r>
            <a:endParaRPr lang="zh-CN" altLang="en-U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120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722313" y="2438400"/>
            <a:ext cx="7772400" cy="150018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</a:rPr>
              <a:t>Picking the </a:t>
            </a:r>
            <a:r>
              <a:rPr lang="en-US" altLang="zh-CN" sz="8000" b="1" dirty="0">
                <a:solidFill>
                  <a:schemeClr val="bg2">
                    <a:lumMod val="75000"/>
                  </a:schemeClr>
                </a:solidFill>
              </a:rPr>
              <a:t>PIVOT</a:t>
            </a:r>
            <a:endParaRPr lang="zh-CN" altLang="en-US" sz="60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98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Strategy I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Use the </a:t>
            </a:r>
            <a:r>
              <a:rPr lang="en-US" altLang="zh-CN" dirty="0">
                <a:solidFill>
                  <a:schemeClr val="accent6"/>
                </a:solidFill>
              </a:rPr>
              <a:t>first element </a:t>
            </a:r>
            <a:r>
              <a:rPr lang="en-US" altLang="zh-CN" dirty="0"/>
              <a:t>as pivot</a:t>
            </a:r>
          </a:p>
          <a:p>
            <a:pPr lvl="1"/>
            <a:r>
              <a:rPr lang="en-US" altLang="zh-CN" dirty="0"/>
              <a:t>if the input is </a:t>
            </a:r>
            <a:r>
              <a:rPr lang="en-US" altLang="zh-CN" dirty="0">
                <a:solidFill>
                  <a:schemeClr val="accent6"/>
                </a:solidFill>
              </a:rPr>
              <a:t>random</a:t>
            </a:r>
            <a:r>
              <a:rPr lang="en-US" altLang="zh-CN" dirty="0"/>
              <a:t>, ok</a:t>
            </a:r>
          </a:p>
          <a:p>
            <a:pPr lvl="1"/>
            <a:r>
              <a:rPr lang="en-US" altLang="zh-CN" dirty="0"/>
              <a:t>if the input is </a:t>
            </a:r>
            <a:r>
              <a:rPr lang="en-US" altLang="zh-CN" dirty="0">
                <a:solidFill>
                  <a:schemeClr val="accent6"/>
                </a:solidFill>
              </a:rPr>
              <a:t>presorted</a:t>
            </a:r>
            <a:r>
              <a:rPr lang="en-US" altLang="zh-CN" dirty="0"/>
              <a:t> (or in reverse order)</a:t>
            </a:r>
          </a:p>
          <a:p>
            <a:pPr lvl="2"/>
            <a:r>
              <a:rPr lang="en-US" altLang="zh-CN" dirty="0"/>
              <a:t>all the elements go into S2 (or S1)</a:t>
            </a:r>
          </a:p>
          <a:p>
            <a:pPr lvl="2"/>
            <a:r>
              <a:rPr lang="en-US" altLang="zh-CN" dirty="0"/>
              <a:t>this happens consistently throughout the recursive calls</a:t>
            </a:r>
          </a:p>
          <a:p>
            <a:pPr lvl="2"/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Results in O(n</a:t>
            </a:r>
            <a:r>
              <a:rPr lang="en-US" altLang="zh-CN" baseline="30000" dirty="0">
                <a:solidFill>
                  <a:schemeClr val="bg2">
                    <a:lumMod val="75000"/>
                  </a:schemeClr>
                </a:solidFill>
              </a:rPr>
              <a:t>2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) behavior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08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Strategy II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Choose the pivot randomly</a:t>
            </a:r>
          </a:p>
          <a:p>
            <a:pPr lvl="1"/>
            <a:r>
              <a:rPr lang="en-US" altLang="zh-CN" dirty="0"/>
              <a:t>generally safe</a:t>
            </a: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random number generation</a:t>
            </a:r>
            <a:r>
              <a:rPr lang="en-US" altLang="zh-CN" dirty="0"/>
              <a:t> can be expensive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2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Strategy III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ea typeface="宋体" pitchFamily="2" charset="-122"/>
              </a:rPr>
              <a:t>Use the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median</a:t>
            </a:r>
            <a:r>
              <a:rPr lang="en-US" altLang="zh-CN" dirty="0">
                <a:ea typeface="宋体" pitchFamily="2" charset="-122"/>
              </a:rPr>
              <a:t> of the array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 median is the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middle element </a:t>
            </a:r>
            <a:r>
              <a:rPr lang="en-US" altLang="zh-CN" dirty="0">
                <a:ea typeface="宋体" pitchFamily="2" charset="-122"/>
              </a:rPr>
              <a:t>if the array is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sorted</a:t>
            </a:r>
            <a:r>
              <a:rPr lang="en-US" altLang="zh-CN" dirty="0">
                <a:ea typeface="宋体" pitchFamily="2" charset="-122"/>
              </a:rPr>
              <a:t>. For example, if there are 9 elements in the array, the median is the 5</a:t>
            </a:r>
            <a:r>
              <a:rPr lang="en-US" altLang="zh-CN" baseline="30000" dirty="0">
                <a:ea typeface="宋体" pitchFamily="2" charset="-122"/>
              </a:rPr>
              <a:t>th</a:t>
            </a:r>
            <a:r>
              <a:rPr lang="en-US" altLang="zh-CN" dirty="0">
                <a:ea typeface="宋体" pitchFamily="2" charset="-122"/>
              </a:rPr>
              <a:t> largest one.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Partitioning always cuts the array into roughly half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An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optimal</a:t>
            </a:r>
            <a:r>
              <a:rPr lang="en-US" altLang="zh-CN" dirty="0">
                <a:ea typeface="宋体" pitchFamily="2" charset="-122"/>
              </a:rPr>
              <a:t> quicksort: O(N log N)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However,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expensive</a:t>
            </a:r>
            <a:r>
              <a:rPr lang="en-US" altLang="zh-CN" dirty="0">
                <a:ea typeface="宋体" pitchFamily="2" charset="-122"/>
              </a:rPr>
              <a:t> to find the exact median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e.g., sort an array to pick the value in the middle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2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Strategy IV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dirty="0"/>
              <a:t>We will use </a:t>
            </a:r>
            <a:r>
              <a:rPr lang="en-US" altLang="zh-CN" dirty="0">
                <a:solidFill>
                  <a:schemeClr val="accent6"/>
                </a:solidFill>
              </a:rPr>
              <a:t>median of three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Compare just three elements: the </a:t>
            </a:r>
            <a:r>
              <a:rPr lang="en-US" altLang="zh-CN" dirty="0">
                <a:solidFill>
                  <a:schemeClr val="accent6"/>
                </a:solidFill>
              </a:rPr>
              <a:t>left most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accent6"/>
                </a:solidFill>
              </a:rPr>
              <a:t>right most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chemeClr val="accent6"/>
                </a:solidFill>
              </a:rPr>
              <a:t>center</a:t>
            </a:r>
          </a:p>
          <a:p>
            <a:pPr lvl="1">
              <a:lnSpc>
                <a:spcPct val="80000"/>
              </a:lnSpc>
            </a:pPr>
            <a:r>
              <a:rPr lang="en-US" altLang="zh-CN" dirty="0">
                <a:solidFill>
                  <a:schemeClr val="accent6"/>
                </a:solidFill>
              </a:rPr>
              <a:t>Swap</a:t>
            </a:r>
            <a:r>
              <a:rPr lang="en-US" altLang="zh-CN" dirty="0"/>
              <a:t> these elements if necessary so that </a:t>
            </a:r>
          </a:p>
          <a:p>
            <a:pPr lvl="2">
              <a:lnSpc>
                <a:spcPct val="80000"/>
              </a:lnSpc>
            </a:pPr>
            <a:r>
              <a:rPr lang="en-US" altLang="zh-CN" dirty="0"/>
              <a:t>A[left]	= 	Smallest</a:t>
            </a:r>
          </a:p>
          <a:p>
            <a:pPr lvl="2">
              <a:lnSpc>
                <a:spcPct val="80000"/>
              </a:lnSpc>
            </a:pPr>
            <a:r>
              <a:rPr lang="en-US" altLang="zh-CN" dirty="0"/>
              <a:t>A[right]  	= 	Largest</a:t>
            </a:r>
          </a:p>
          <a:p>
            <a:pPr lvl="2">
              <a:lnSpc>
                <a:spcPct val="80000"/>
              </a:lnSpc>
            </a:pPr>
            <a:r>
              <a:rPr lang="en-US" altLang="zh-CN" dirty="0"/>
              <a:t>A[center] 	=	Median of three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Pick </a:t>
            </a:r>
            <a:r>
              <a:rPr lang="en-US" altLang="zh-CN" dirty="0">
                <a:solidFill>
                  <a:schemeClr val="accent6"/>
                </a:solidFill>
              </a:rPr>
              <a:t>A[center]</a:t>
            </a:r>
            <a:r>
              <a:rPr lang="en-US" altLang="zh-CN" dirty="0"/>
              <a:t> as the pivot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Swap A[center] and </a:t>
            </a:r>
            <a:r>
              <a:rPr lang="en-US" altLang="zh-CN" dirty="0">
                <a:solidFill>
                  <a:schemeClr val="accent6"/>
                </a:solidFill>
              </a:rPr>
              <a:t>A[right – 1] </a:t>
            </a:r>
            <a:r>
              <a:rPr lang="en-US" altLang="zh-CN" dirty="0"/>
              <a:t>so that pivot is at second last position </a:t>
            </a:r>
          </a:p>
          <a:p>
            <a:pPr lvl="2">
              <a:lnSpc>
                <a:spcPct val="80000"/>
              </a:lnSpc>
            </a:pPr>
            <a:r>
              <a:rPr lang="en-US" altLang="zh-CN" sz="2800" b="1" dirty="0">
                <a:solidFill>
                  <a:schemeClr val="accent6"/>
                </a:solidFill>
                <a:latin typeface="+mj-lt"/>
              </a:rPr>
              <a:t>WHY?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58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Median3 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55073"/>
              </p:ext>
            </p:extLst>
          </p:nvPr>
        </p:nvGraphicFramePr>
        <p:xfrm>
          <a:off x="1066800" y="17526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median3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008606"/>
              </p:ext>
            </p:extLst>
          </p:nvPr>
        </p:nvGraphicFramePr>
        <p:xfrm>
          <a:off x="1066800" y="2590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reposition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537950"/>
              </p:ext>
            </p:extLst>
          </p:nvPr>
        </p:nvGraphicFramePr>
        <p:xfrm>
          <a:off x="1066800" y="34290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767596"/>
              </p:ext>
            </p:extLst>
          </p:nvPr>
        </p:nvGraphicFramePr>
        <p:xfrm>
          <a:off x="1066800" y="43434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swap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3276600" y="4953000"/>
            <a:ext cx="264816" cy="914400"/>
            <a:chOff x="3048000" y="5671080"/>
            <a:chExt cx="264816" cy="914400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3180408" y="5671080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30480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324600" y="4953000"/>
            <a:ext cx="264816" cy="914400"/>
            <a:chOff x="6629400" y="5671080"/>
            <a:chExt cx="264816" cy="914400"/>
          </a:xfrm>
        </p:grpSpPr>
        <p:cxnSp>
          <p:nvCxnSpPr>
            <p:cNvPr id="13" name="直接箭头连接符 12"/>
            <p:cNvCxnSpPr/>
            <p:nvPr/>
          </p:nvCxnSpPr>
          <p:spPr>
            <a:xfrm flipV="1">
              <a:off x="6761808" y="5671080"/>
              <a:ext cx="0" cy="3976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66294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01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922789" y="2500744"/>
            <a:ext cx="5867400" cy="161405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orient="vert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Partition With Median3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orient="vert" idx="1"/>
          </p:nvPr>
        </p:nvSpPr>
        <p:spPr>
          <a:xfrm rot="16200000">
            <a:off x="655638" y="427038"/>
            <a:ext cx="6400799" cy="5851525"/>
          </a:xfrm>
          <a:noFill/>
          <a:ln w="76200">
            <a:solidFill>
              <a:schemeClr val="tx2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PARTITION(A, left, right)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    MEDIAN3(A, left, right)</a:t>
            </a:r>
            <a:b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2.</a:t>
            </a:r>
            <a:r>
              <a:rPr lang="en-US" altLang="zh-CN" sz="2200" dirty="0">
                <a:solidFill>
                  <a:schemeClr val="accent6"/>
                </a:solidFill>
              </a:rPr>
              <a:t>    // MEDIAN3 repositions the left, center    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</a:t>
            </a:r>
            <a:r>
              <a:rPr lang="en-US" altLang="zh-CN" sz="2200" dirty="0">
                <a:solidFill>
                  <a:schemeClr val="accent6"/>
                </a:solidFill>
              </a:rPr>
              <a:t>    // and the right elements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4.</a:t>
            </a:r>
            <a:r>
              <a:rPr lang="en-US" altLang="zh-CN" sz="2200" dirty="0">
                <a:solidFill>
                  <a:schemeClr val="accent6"/>
                </a:solidFill>
              </a:rPr>
              <a:t>    </a:t>
            </a:r>
            <a:r>
              <a:rPr lang="en-US" altLang="zh-CN" sz="2200" dirty="0">
                <a:solidFill>
                  <a:schemeClr val="dk1"/>
                </a:solidFill>
              </a:rPr>
              <a:t>i = left+1, j = right-2, pivot = A[right-1]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5.    WHILE true           </a:t>
            </a:r>
            <a:br>
              <a:rPr lang="en-US" altLang="zh-CN" sz="2200" dirty="0">
                <a:solidFill>
                  <a:schemeClr val="dk1"/>
                </a:solidFill>
              </a:rPr>
            </a:br>
            <a:r>
              <a:rPr lang="en-US" altLang="zh-CN" sz="2200" dirty="0">
                <a:solidFill>
                  <a:schemeClr val="dk1"/>
                </a:solidFill>
              </a:rPr>
              <a:t>6.        WHILE A[i]&lt;pivot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7.            i++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8.        WHILE A[j]&gt;pivot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9.            j--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10.       IF i&lt;j</a:t>
            </a:r>
          </a:p>
          <a:p>
            <a:pPr marL="457200" indent="-457200">
              <a:buAutoNum type="arabicPeriod" startAt="11"/>
            </a:pPr>
            <a:r>
              <a:rPr lang="en-US" altLang="zh-CN" sz="2200" dirty="0">
                <a:solidFill>
                  <a:schemeClr val="dk1"/>
                </a:solidFill>
              </a:rPr>
              <a:t>         swap A[i] and A[j]</a:t>
            </a:r>
          </a:p>
          <a:p>
            <a:pPr marL="457200" indent="-457200">
              <a:buAutoNum type="arabicPeriod" startAt="11"/>
            </a:pPr>
            <a:r>
              <a:rPr lang="en-US" altLang="zh-CN" sz="2200" dirty="0">
                <a:solidFill>
                  <a:schemeClr val="dk1"/>
                </a:solidFill>
              </a:rPr>
              <a:t>         </a:t>
            </a:r>
            <a:r>
              <a:rPr lang="en-US" altLang="zh-CN" sz="2200" dirty="0" err="1">
                <a:solidFill>
                  <a:schemeClr val="dk1"/>
                </a:solidFill>
              </a:rPr>
              <a:t>i</a:t>
            </a:r>
            <a:r>
              <a:rPr lang="en-US" altLang="zh-CN" sz="2200" dirty="0"/>
              <a:t>++, j--</a:t>
            </a:r>
            <a:endParaRPr lang="en-US" altLang="zh-CN" sz="220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13.       ELSE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14.           BREAK</a:t>
            </a:r>
            <a:endParaRPr lang="zh-CN" altLang="en-US" sz="220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altLang="zh-CN" sz="2200" dirty="0">
                <a:solidFill>
                  <a:schemeClr val="dk1"/>
                </a:solidFill>
              </a:rPr>
              <a:t>15.   Swap A[i] and A[right-1]</a:t>
            </a:r>
            <a:endParaRPr lang="zh-CN" altLang="en-US" sz="2200"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lang="zh-CN" altLang="en-US" sz="2200" dirty="0">
              <a:solidFill>
                <a:schemeClr val="dk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 flipH="1">
            <a:off x="4495800" y="2505064"/>
            <a:ext cx="2218188" cy="16097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j-lt"/>
              </a:rPr>
              <a:t>No boundary check. Why?</a:t>
            </a:r>
            <a:endParaRPr lang="zh-CN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271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Quicksort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Faster </a:t>
            </a:r>
            <a:r>
              <a:rPr lang="en-US" altLang="zh-CN" dirty="0">
                <a:ea typeface="宋体" pitchFamily="2" charset="-122"/>
              </a:rPr>
              <a:t>than </a:t>
            </a:r>
            <a:r>
              <a:rPr lang="en-US" altLang="zh-CN" dirty="0" err="1">
                <a:ea typeface="宋体" pitchFamily="2" charset="-122"/>
              </a:rPr>
              <a:t>Mergesort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Both quicksort and </a:t>
            </a:r>
            <a:r>
              <a:rPr lang="en-US" altLang="zh-CN" dirty="0" err="1">
                <a:ea typeface="宋体" pitchFamily="2" charset="-122"/>
              </a:rPr>
              <a:t>mergesort</a:t>
            </a:r>
            <a:r>
              <a:rPr lang="en-US" altLang="zh-CN" dirty="0">
                <a:ea typeface="宋体" pitchFamily="2" charset="-122"/>
              </a:rPr>
              <a:t> take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O(N log N)</a:t>
            </a:r>
            <a:r>
              <a:rPr lang="en-US" altLang="zh-CN" dirty="0">
                <a:ea typeface="宋体" pitchFamily="2" charset="-122"/>
              </a:rPr>
              <a:t> in the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average case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r>
              <a:rPr lang="en-US" altLang="zh-CN" dirty="0">
                <a:ea typeface="宋体" pitchFamily="2" charset="-122"/>
              </a:rPr>
              <a:t>Why is quicksort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faster</a:t>
            </a:r>
            <a:r>
              <a:rPr lang="en-US" altLang="zh-CN" dirty="0">
                <a:ea typeface="宋体" pitchFamily="2" charset="-122"/>
              </a:rPr>
              <a:t> than </a:t>
            </a:r>
            <a:r>
              <a:rPr lang="en-US" altLang="zh-CN" dirty="0" err="1">
                <a:ea typeface="宋体" pitchFamily="2" charset="-122"/>
              </a:rPr>
              <a:t>mergesort</a:t>
            </a:r>
            <a:r>
              <a:rPr lang="en-US" altLang="zh-CN" dirty="0">
                <a:ea typeface="宋体" pitchFamily="2" charset="-122"/>
              </a:rPr>
              <a:t>?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 inner loop consists of an increment/decrement (by 1, which is fast), a test and a jump. 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There is no extra juggling as in </a:t>
            </a:r>
            <a:r>
              <a:rPr lang="en-US" altLang="zh-CN" dirty="0" err="1">
                <a:ea typeface="宋体" pitchFamily="2" charset="-122"/>
              </a:rPr>
              <a:t>mergesort</a:t>
            </a:r>
            <a:r>
              <a:rPr lang="en-US" altLang="zh-CN" dirty="0">
                <a:ea typeface="宋体" pitchFamily="2" charset="-122"/>
              </a:rPr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862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ea typeface="宋体" pitchFamily="2" charset="-122"/>
              </a:rPr>
              <a:t>Assumptions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Pivot Selection: Median of 3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Base Case: Array size &lt;= 10</a:t>
            </a:r>
          </a:p>
          <a:p>
            <a:r>
              <a:rPr lang="en-US" altLang="zh-CN" dirty="0">
                <a:ea typeface="宋体" pitchFamily="2" charset="-122"/>
              </a:rPr>
              <a:t>Running time T(n)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Divide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Pivot selection: O(1)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Partitioning: O(n)</a:t>
            </a:r>
          </a:p>
          <a:p>
            <a:pPr lvl="2"/>
            <a:r>
              <a:rPr lang="en-US" altLang="zh-CN" dirty="0"/>
              <a:t>Recursive calls: T(i) + T(n-i-1)</a:t>
            </a:r>
          </a:p>
          <a:p>
            <a:pPr lvl="3"/>
            <a:r>
              <a:rPr lang="en-US" altLang="zh-CN" sz="2400" dirty="0"/>
              <a:t>i: number of elements in S1</a:t>
            </a:r>
          </a:p>
          <a:p>
            <a:pPr lvl="1"/>
            <a:r>
              <a:rPr lang="en-US" altLang="zh-CN" dirty="0"/>
              <a:t>Conquer and Combine: O(1)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2590800" y="5562600"/>
            <a:ext cx="4472699" cy="5847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</a:rPr>
              <a:t>T(n)=T(i)+T(n-i-1)+O(n)</a:t>
            </a:r>
            <a:endParaRPr lang="zh-CN" altLang="en-US" sz="3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674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Worst-Case Analysis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17526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What will be the worst case?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The pivot is the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smallest</a:t>
            </a:r>
            <a:r>
              <a:rPr lang="en-US" altLang="zh-CN" dirty="0">
                <a:ea typeface="宋体" pitchFamily="2" charset="-122"/>
              </a:rPr>
              <a:t> element, all the time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Partition is always 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unbalanced</a:t>
            </a:r>
          </a:p>
        </p:txBody>
      </p:sp>
      <p:pic>
        <p:nvPicPr>
          <p:cNvPr id="25604" name="Picture 4" descr="untitled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76600"/>
            <a:ext cx="3962400" cy="2945691"/>
          </a:xfrm>
          <a:prstGeom prst="rect">
            <a:avLst/>
          </a:prstGeom>
          <a:noFill/>
          <a:ln w="76200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41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16838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>
                <a:ea typeface="宋体" pitchFamily="2" charset="-122"/>
              </a:rPr>
              <a:t>Best-case Analysis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69988"/>
            <a:ext cx="7848600" cy="18018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dirty="0">
                <a:ea typeface="宋体" pitchFamily="2" charset="-122"/>
              </a:rPr>
              <a:t>What will be the best case?</a:t>
            </a:r>
          </a:p>
          <a:p>
            <a:pPr lvl="1" eaLnBrk="1" hangingPunct="1"/>
            <a:r>
              <a:rPr lang="en-US" altLang="zh-CN" sz="2400" dirty="0">
                <a:ea typeface="宋体" pitchFamily="2" charset="-122"/>
              </a:rPr>
              <a:t>Partition is </a:t>
            </a:r>
            <a:r>
              <a:rPr lang="en-US" altLang="zh-CN" sz="2400" dirty="0">
                <a:solidFill>
                  <a:schemeClr val="accent6"/>
                </a:solidFill>
                <a:ea typeface="宋体" pitchFamily="2" charset="-122"/>
              </a:rPr>
              <a:t>perfectly balanced</a:t>
            </a:r>
            <a:endParaRPr lang="en-US" altLang="zh-CN" sz="2400" dirty="0">
              <a:ea typeface="宋体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itchFamily="2" charset="-122"/>
              </a:rPr>
              <a:t>Pivot is always in the middle (median of the array)</a:t>
            </a:r>
            <a:endParaRPr lang="en-US" altLang="zh-CN" sz="2800" dirty="0">
              <a:ea typeface="宋体" pitchFamily="2" charset="-122"/>
            </a:endParaRPr>
          </a:p>
          <a:p>
            <a:pPr eaLnBrk="1" hangingPunct="1"/>
            <a:endParaRPr lang="en-US" altLang="zh-CN" sz="2800" dirty="0">
              <a:ea typeface="宋体" pitchFamily="2" charset="-122"/>
            </a:endParaRPr>
          </a:p>
          <a:p>
            <a:pPr eaLnBrk="1" hangingPunct="1"/>
            <a:endParaRPr lang="zh-CN" altLang="en-US" sz="2800" dirty="0">
              <a:ea typeface="宋体" pitchFamily="2" charset="-122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05000" y="2895600"/>
            <a:ext cx="5410201" cy="3429000"/>
          </a:xfrm>
          <a:prstGeom prst="rect">
            <a:avLst/>
          </a:prstGeom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defPPr>
              <a:defRPr lang="en-US"/>
            </a:defPPr>
            <a:lvl1pPr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2000" dirty="0"/>
              <a:t>T(n)	= 2T(n/2) + n</a:t>
            </a:r>
          </a:p>
          <a:p>
            <a:r>
              <a:rPr lang="en-US" altLang="zh-CN" sz="2000" dirty="0"/>
              <a:t>	= 2[2T(n/2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) + n/2] + n</a:t>
            </a:r>
            <a:endParaRPr lang="en-US" sz="2000" dirty="0"/>
          </a:p>
          <a:p>
            <a:r>
              <a:rPr lang="en-US" altLang="zh-CN" sz="2000" dirty="0"/>
              <a:t>	= 2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T(n/2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) + 2n</a:t>
            </a:r>
            <a:endParaRPr lang="en-US" sz="2000" dirty="0"/>
          </a:p>
          <a:p>
            <a:r>
              <a:rPr lang="en-US" sz="2000" dirty="0"/>
              <a:t>	= 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3</a:t>
            </a:r>
            <a:r>
              <a:rPr lang="en-US" sz="2000" dirty="0"/>
              <a:t>T(n/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3</a:t>
            </a:r>
            <a:r>
              <a:rPr lang="en-US" sz="2000" dirty="0"/>
              <a:t>)</a:t>
            </a:r>
            <a:r>
              <a:rPr lang="en-US" altLang="zh-CN" sz="2000" dirty="0"/>
              <a:t> + 3n</a:t>
            </a:r>
          </a:p>
          <a:p>
            <a:r>
              <a:rPr lang="en-US" sz="2000" dirty="0"/>
              <a:t>	= 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i</a:t>
            </a:r>
            <a:r>
              <a:rPr lang="en-US" sz="2000" dirty="0"/>
              <a:t>T(n/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i</a:t>
            </a:r>
            <a:r>
              <a:rPr lang="en-US" sz="2000" dirty="0"/>
              <a:t>) + i*n</a:t>
            </a:r>
          </a:p>
          <a:p>
            <a:r>
              <a:rPr lang="en-US" sz="2000" dirty="0"/>
              <a:t>Let i=log(n),</a:t>
            </a:r>
          </a:p>
          <a:p>
            <a:r>
              <a:rPr lang="en-US" sz="2000" dirty="0"/>
              <a:t>	= </a:t>
            </a:r>
            <a:r>
              <a:rPr lang="en-US" sz="2000" dirty="0" err="1"/>
              <a:t>nT</a:t>
            </a:r>
            <a:r>
              <a:rPr lang="en-US" sz="2000" dirty="0"/>
              <a:t>(n/n) + n*log(n)</a:t>
            </a:r>
          </a:p>
          <a:p>
            <a:r>
              <a:rPr lang="en-US" sz="2000" dirty="0"/>
              <a:t>	= O(n*log(n))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16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Average-Case Analysis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2819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Assume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Each of the sizes for S1 is equally likely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This assumption is valid for our pivoting (median-of-three) strategy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On average, the running time is O(N log N)</a:t>
            </a:r>
          </a:p>
        </p:txBody>
      </p:sp>
      <p:sp>
        <p:nvSpPr>
          <p:cNvPr id="2" name="矩形 1"/>
          <p:cNvSpPr/>
          <p:nvPr/>
        </p:nvSpPr>
        <p:spPr>
          <a:xfrm>
            <a:off x="0" y="4724400"/>
            <a:ext cx="9144000" cy="21336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noAutofit/>
          </a:bodyPr>
          <a:lstStyle/>
          <a:p>
            <a:pPr lvl="1"/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Covered in </a:t>
            </a:r>
          </a:p>
          <a:p>
            <a:pPr lvl="1"/>
            <a:r>
              <a:rPr lang="en-US" altLang="zh-CN" sz="4000" b="1" dirty="0">
                <a:solidFill>
                  <a:schemeClr val="bg2">
                    <a:lumMod val="75000"/>
                  </a:schemeClr>
                </a:solidFill>
                <a:latin typeface="+mj-lt"/>
                <a:ea typeface="宋体" pitchFamily="2" charset="-122"/>
              </a:rPr>
              <a:t>DESIGN AND ANALYSIS OF ALGORITHMS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16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Consider special cases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When all elements are the same?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Other cases?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04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of Quick Sort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8126309"/>
              </p:ext>
            </p:extLst>
          </p:nvPr>
        </p:nvGraphicFramePr>
        <p:xfrm>
          <a:off x="457200" y="1600200"/>
          <a:ext cx="5257800" cy="266700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200" dirty="0"/>
                        <a:t>Best-case Running Time</a:t>
                      </a:r>
                      <a:endParaRPr lang="zh-CN" altLang="en-US" sz="22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dirty="0"/>
                        <a:t>O(</a:t>
                      </a:r>
                      <a:r>
                        <a:rPr lang="en-US" altLang="zh-CN" sz="2200" dirty="0" err="1"/>
                        <a:t>nlog</a:t>
                      </a:r>
                      <a:r>
                        <a:rPr lang="en-US" altLang="zh-CN" sz="2200" dirty="0"/>
                        <a:t>(n))</a:t>
                      </a:r>
                      <a:endParaRPr lang="zh-CN" altLang="en-US" sz="22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/>
                        <a:t>Worst-case Running Time</a:t>
                      </a:r>
                      <a:endParaRPr lang="zh-CN" altLang="en-US" sz="22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/>
                        <a:t>O(n</a:t>
                      </a:r>
                      <a:r>
                        <a:rPr lang="en-US" altLang="zh-CN" sz="2200" baseline="30000" dirty="0"/>
                        <a:t>2</a:t>
                      </a:r>
                      <a:r>
                        <a:rPr lang="en-US" altLang="zh-CN" sz="2200" dirty="0"/>
                        <a:t>)</a:t>
                      </a:r>
                      <a:endParaRPr lang="zh-CN" altLang="en-US" sz="22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/>
                        <a:t>Average Running Time</a:t>
                      </a:r>
                      <a:endParaRPr lang="zh-CN" altLang="en-US" sz="22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dirty="0"/>
                        <a:t>O(</a:t>
                      </a:r>
                      <a:r>
                        <a:rPr lang="en-US" altLang="zh-CN" sz="2200" dirty="0" err="1"/>
                        <a:t>nlog</a:t>
                      </a:r>
                      <a:r>
                        <a:rPr lang="en-US" altLang="zh-CN" sz="2200" dirty="0"/>
                        <a:t>(n))</a:t>
                      </a:r>
                      <a:endParaRPr lang="zh-CN" altLang="en-US" sz="22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791200" y="1676400"/>
            <a:ext cx="3048000" cy="2819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Quick sort is </a:t>
            </a:r>
            <a:r>
              <a:rPr lang="en-US" altLang="zh-CN" sz="2400" dirty="0">
                <a:solidFill>
                  <a:schemeClr val="accent6"/>
                </a:solidFill>
              </a:rPr>
              <a:t>not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stable</a:t>
            </a:r>
          </a:p>
          <a:p>
            <a:r>
              <a:rPr lang="en-US" altLang="zh-CN" sz="2400" dirty="0"/>
              <a:t>But it is the </a:t>
            </a:r>
            <a:r>
              <a:rPr lang="en-US" altLang="zh-CN" sz="2400" dirty="0">
                <a:solidFill>
                  <a:schemeClr val="accent6"/>
                </a:solidFill>
              </a:rPr>
              <a:t>fastest </a:t>
            </a:r>
            <a:r>
              <a:rPr lang="en-US" altLang="zh-CN" sz="2400" dirty="0"/>
              <a:t>in practice</a:t>
            </a:r>
          </a:p>
          <a:p>
            <a:r>
              <a:rPr lang="en-US" altLang="zh-CN" sz="2400" dirty="0"/>
              <a:t>The worst case </a:t>
            </a:r>
            <a:r>
              <a:rPr lang="en-US" altLang="zh-CN" sz="2400" dirty="0">
                <a:solidFill>
                  <a:schemeClr val="accent6"/>
                </a:solidFill>
              </a:rPr>
              <a:t>seldom</a:t>
            </a:r>
            <a:r>
              <a:rPr lang="en-US" altLang="zh-CN" sz="2400" dirty="0"/>
              <a:t> happens</a:t>
            </a:r>
            <a:endParaRPr lang="zh-CN" altLang="en-US" sz="2400" dirty="0"/>
          </a:p>
        </p:txBody>
      </p:sp>
      <p:pic>
        <p:nvPicPr>
          <p:cNvPr id="2056" name="Picture 8" descr="Image result for hoor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108199"/>
            <a:ext cx="5943600" cy="279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0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Create a class, </a:t>
            </a:r>
            <a:r>
              <a:rPr lang="en-US" altLang="zh-CN" dirty="0">
                <a:solidFill>
                  <a:schemeClr val="accent6"/>
                </a:solidFill>
              </a:rPr>
              <a:t>Sorting3</a:t>
            </a:r>
            <a:r>
              <a:rPr lang="en-US" altLang="zh-CN" dirty="0"/>
              <a:t>, which includes at least the following static methods</a:t>
            </a:r>
          </a:p>
          <a:p>
            <a:pPr lvl="1"/>
            <a:r>
              <a:rPr lang="en-US" altLang="zh-CN" dirty="0"/>
              <a:t>public static void </a:t>
            </a:r>
            <a:r>
              <a:rPr lang="en-US" altLang="zh-CN" dirty="0" err="1"/>
              <a:t>insertionSort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[] A)</a:t>
            </a:r>
          </a:p>
          <a:p>
            <a:pPr lvl="1"/>
            <a:r>
              <a:rPr lang="en-US" altLang="zh-CN" dirty="0"/>
              <a:t>public static void </a:t>
            </a:r>
            <a:r>
              <a:rPr lang="en-US" altLang="zh-CN" dirty="0" err="1"/>
              <a:t>mergeSort</a:t>
            </a:r>
            <a:r>
              <a:rPr lang="en-US" altLang="zh-CN" dirty="0"/>
              <a:t>(int[] A)</a:t>
            </a:r>
          </a:p>
          <a:p>
            <a:pPr lvl="1"/>
            <a:r>
              <a:rPr lang="en-US" altLang="zh-CN" dirty="0"/>
              <a:t>Two overloading </a:t>
            </a:r>
            <a:r>
              <a:rPr lang="en-US" altLang="zh-CN" dirty="0" err="1"/>
              <a:t>quickSort</a:t>
            </a:r>
            <a:r>
              <a:rPr lang="en-US" altLang="zh-CN" dirty="0"/>
              <a:t> methods</a:t>
            </a:r>
          </a:p>
          <a:p>
            <a:pPr lvl="2"/>
            <a:r>
              <a:rPr lang="en-US" altLang="zh-CN" dirty="0">
                <a:solidFill>
                  <a:schemeClr val="accent6"/>
                </a:solidFill>
              </a:rPr>
              <a:t>public static void </a:t>
            </a:r>
            <a:r>
              <a:rPr lang="en-US" altLang="zh-CN" dirty="0" err="1">
                <a:solidFill>
                  <a:schemeClr val="accent6"/>
                </a:solidFill>
              </a:rPr>
              <a:t>quickSort</a:t>
            </a:r>
            <a:r>
              <a:rPr lang="en-US" altLang="zh-CN" dirty="0">
                <a:solidFill>
                  <a:schemeClr val="accent6"/>
                </a:solidFill>
              </a:rPr>
              <a:t>()</a:t>
            </a:r>
          </a:p>
          <a:p>
            <a:pPr lvl="2"/>
            <a:r>
              <a:rPr lang="en-US" altLang="zh-CN" dirty="0">
                <a:solidFill>
                  <a:schemeClr val="accent6"/>
                </a:solidFill>
              </a:rPr>
              <a:t>private static void </a:t>
            </a:r>
            <a:r>
              <a:rPr lang="en-US" altLang="zh-CN" dirty="0" err="1">
                <a:solidFill>
                  <a:schemeClr val="accent6"/>
                </a:solidFill>
              </a:rPr>
              <a:t>quickSort</a:t>
            </a:r>
            <a:r>
              <a:rPr lang="en-US" altLang="zh-CN" dirty="0">
                <a:solidFill>
                  <a:schemeClr val="accent6"/>
                </a:solidFill>
              </a:rPr>
              <a:t>(int[] A, int left, int right)</a:t>
            </a:r>
          </a:p>
          <a:p>
            <a:pPr lvl="1"/>
            <a:r>
              <a:rPr lang="en-US" altLang="zh-CN" dirty="0"/>
              <a:t>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Auxiliary methods may be defined</a:t>
            </a:r>
          </a:p>
          <a:p>
            <a:r>
              <a:rPr lang="en-US" altLang="zh-CN" dirty="0"/>
              <a:t>Submit </a:t>
            </a:r>
            <a:r>
              <a:rPr lang="en-US" altLang="zh-CN" dirty="0">
                <a:solidFill>
                  <a:schemeClr val="accent6"/>
                </a:solidFill>
              </a:rPr>
              <a:t>Sorting3.java </a:t>
            </a:r>
            <a:r>
              <a:rPr lang="en-US" altLang="zh-CN" dirty="0"/>
              <a:t>to iSpace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4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public static void </a:t>
            </a:r>
            <a:r>
              <a:rPr lang="en-US" altLang="zh-CN" dirty="0" err="1">
                <a:solidFill>
                  <a:schemeClr val="accent6"/>
                </a:solidFill>
              </a:rPr>
              <a:t>quickSort</a:t>
            </a:r>
            <a:r>
              <a:rPr lang="en-US" altLang="zh-CN" dirty="0">
                <a:solidFill>
                  <a:schemeClr val="accent6"/>
                </a:solidFill>
              </a:rPr>
              <a:t>(int[] A)</a:t>
            </a:r>
          </a:p>
          <a:p>
            <a:pPr lvl="1"/>
            <a:r>
              <a:rPr lang="en-US" altLang="zh-CN" dirty="0"/>
              <a:t>It calls the recursive </a:t>
            </a:r>
            <a:r>
              <a:rPr lang="en-US" altLang="zh-CN" dirty="0" err="1"/>
              <a:t>quickSort</a:t>
            </a:r>
            <a:r>
              <a:rPr lang="en-US" altLang="zh-CN" dirty="0"/>
              <a:t> method to sort</a:t>
            </a:r>
            <a:r>
              <a:rPr lang="en-US" altLang="zh-CN" i="1" dirty="0"/>
              <a:t> A</a:t>
            </a:r>
          </a:p>
          <a:p>
            <a:pPr lvl="1"/>
            <a:r>
              <a:rPr lang="en-US" altLang="zh-CN" i="1" dirty="0" err="1">
                <a:solidFill>
                  <a:schemeClr val="accent6"/>
                </a:solidFill>
              </a:rPr>
              <a:t>quickSort</a:t>
            </a:r>
            <a:r>
              <a:rPr lang="en-US" altLang="zh-CN" i="1" dirty="0">
                <a:solidFill>
                  <a:schemeClr val="accent6"/>
                </a:solidFill>
              </a:rPr>
              <a:t>(A, 0, A.length-1)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altLang="zh-CN" dirty="0">
                <a:solidFill>
                  <a:schemeClr val="accent6"/>
                </a:solidFill>
              </a:rPr>
              <a:t>private static void </a:t>
            </a:r>
            <a:r>
              <a:rPr lang="en-US" altLang="zh-CN" dirty="0" err="1">
                <a:solidFill>
                  <a:schemeClr val="accent6"/>
                </a:solidFill>
              </a:rPr>
              <a:t>quickSort</a:t>
            </a:r>
            <a:r>
              <a:rPr lang="en-US" altLang="zh-CN" dirty="0">
                <a:solidFill>
                  <a:schemeClr val="accent6"/>
                </a:solidFill>
              </a:rPr>
              <a:t>(int[] A, int left, int right)</a:t>
            </a:r>
          </a:p>
          <a:p>
            <a:pPr lvl="1"/>
            <a:r>
              <a:rPr lang="en-US" altLang="zh-CN" dirty="0"/>
              <a:t>Sort sub-array </a:t>
            </a:r>
            <a:r>
              <a:rPr lang="en-US" altLang="zh-CN" i="1" dirty="0"/>
              <a:t>A</a:t>
            </a:r>
            <a:r>
              <a:rPr lang="en-US" altLang="zh-CN" dirty="0"/>
              <a:t>[</a:t>
            </a:r>
            <a:r>
              <a:rPr lang="en-US" altLang="zh-CN" i="1" dirty="0" err="1"/>
              <a:t>left..right</a:t>
            </a:r>
            <a:r>
              <a:rPr lang="en-US" altLang="zh-CN" dirty="0"/>
              <a:t>] recursively using quick sort</a:t>
            </a:r>
            <a:endParaRPr lang="en-US" altLang="zh-CN" i="1" dirty="0"/>
          </a:p>
          <a:p>
            <a:pPr lvl="1"/>
            <a:r>
              <a:rPr lang="en-US" altLang="zh-CN" dirty="0"/>
              <a:t>Pivot is picked using median-of-3</a:t>
            </a:r>
          </a:p>
          <a:p>
            <a:pPr lvl="1"/>
            <a:r>
              <a:rPr lang="en-US" altLang="zh-CN" dirty="0"/>
              <a:t>Switch to </a:t>
            </a:r>
            <a:r>
              <a:rPr lang="en-US" altLang="zh-CN" dirty="0" err="1"/>
              <a:t>insertionSort</a:t>
            </a:r>
            <a:r>
              <a:rPr lang="en-US" altLang="zh-CN" dirty="0"/>
              <a:t> for </a:t>
            </a:r>
            <a:r>
              <a:rPr lang="en-US" altLang="zh-CN" dirty="0">
                <a:solidFill>
                  <a:schemeClr val="accent4"/>
                </a:solidFill>
              </a:rPr>
              <a:t>small arrays</a:t>
            </a:r>
          </a:p>
          <a:p>
            <a:pPr lvl="2"/>
            <a:r>
              <a:rPr lang="en-US" altLang="zh-CN" sz="3100" dirty="0"/>
              <a:t>Test on your computer and find the best </a:t>
            </a:r>
            <a:r>
              <a:rPr lang="en-US" altLang="zh-CN" sz="3100" dirty="0">
                <a:solidFill>
                  <a:schemeClr val="accent4"/>
                </a:solidFill>
              </a:rPr>
              <a:t>BASE CASE </a:t>
            </a:r>
            <a:r>
              <a:rPr lang="en-US" altLang="zh-CN" sz="3100" dirty="0"/>
              <a:t>for you </a:t>
            </a:r>
          </a:p>
          <a:p>
            <a:pPr lvl="3"/>
            <a:r>
              <a:rPr lang="en-US" altLang="zh-CN" sz="2600" dirty="0"/>
              <a:t>When shall we switch to </a:t>
            </a:r>
            <a:r>
              <a:rPr lang="en-US" altLang="zh-CN" sz="2600" dirty="0" err="1"/>
              <a:t>insertionSort</a:t>
            </a:r>
            <a:r>
              <a:rPr lang="en-US" altLang="zh-CN" sz="2600" dirty="0"/>
              <a:t>?</a:t>
            </a:r>
          </a:p>
          <a:p>
            <a:pPr lvl="2"/>
            <a:r>
              <a:rPr lang="en-US" altLang="zh-CN" sz="3100" dirty="0"/>
              <a:t>Overload the existing </a:t>
            </a:r>
            <a:r>
              <a:rPr lang="en-US" altLang="zh-CN" sz="3100" dirty="0" err="1"/>
              <a:t>insertionSort</a:t>
            </a:r>
            <a:r>
              <a:rPr lang="en-US" altLang="zh-CN" sz="3100" dirty="0"/>
              <a:t> so that it can sort a sub-array</a:t>
            </a:r>
          </a:p>
          <a:p>
            <a:pPr lvl="3"/>
            <a:r>
              <a:rPr lang="en-US" altLang="zh-CN" sz="2600" dirty="0">
                <a:solidFill>
                  <a:schemeClr val="accent1"/>
                </a:solidFill>
              </a:rPr>
              <a:t>private static void </a:t>
            </a:r>
            <a:r>
              <a:rPr lang="en-US" altLang="zh-CN" sz="2600" dirty="0" err="1">
                <a:solidFill>
                  <a:schemeClr val="accent1"/>
                </a:solidFill>
              </a:rPr>
              <a:t>insertionSort</a:t>
            </a:r>
            <a:r>
              <a:rPr lang="en-US" altLang="zh-CN" sz="2600" dirty="0">
                <a:solidFill>
                  <a:schemeClr val="accent1"/>
                </a:solidFill>
              </a:rPr>
              <a:t>(int[] A, int left, int right)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39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public static void main(String[] </a:t>
            </a:r>
            <a:r>
              <a:rPr lang="en-US" altLang="zh-CN" dirty="0" err="1">
                <a:solidFill>
                  <a:schemeClr val="accent6"/>
                </a:solidFill>
              </a:rPr>
              <a:t>args</a:t>
            </a:r>
            <a:r>
              <a:rPr lang="en-US" altLang="zh-CN" dirty="0">
                <a:solidFill>
                  <a:schemeClr val="accent6"/>
                </a:solidFill>
              </a:rPr>
              <a:t>)</a:t>
            </a:r>
          </a:p>
          <a:p>
            <a:pPr lvl="1"/>
            <a:r>
              <a:rPr lang="en-US" altLang="zh-CN" dirty="0"/>
              <a:t>Generate an array </a:t>
            </a:r>
            <a:r>
              <a:rPr lang="en-US" altLang="zh-CN" i="1" dirty="0"/>
              <a:t>A1</a:t>
            </a:r>
            <a:r>
              <a:rPr lang="en-US" altLang="zh-CN" dirty="0"/>
              <a:t> consisting of 10</a:t>
            </a:r>
            <a:r>
              <a:rPr lang="en-US" altLang="zh-CN" baseline="30000" dirty="0"/>
              <a:t>5</a:t>
            </a:r>
            <a:r>
              <a:rPr lang="en-US" altLang="zh-CN" dirty="0"/>
              <a:t> random integers which are in range [0, 999]</a:t>
            </a:r>
          </a:p>
          <a:p>
            <a:pPr lvl="1"/>
            <a:r>
              <a:rPr lang="en-US" altLang="zh-CN" dirty="0"/>
              <a:t>Generate arrays </a:t>
            </a:r>
            <a:r>
              <a:rPr lang="en-US" altLang="zh-CN" i="1" dirty="0"/>
              <a:t>A2, A3</a:t>
            </a:r>
            <a:r>
              <a:rPr lang="en-US" altLang="zh-CN" dirty="0"/>
              <a:t> which are identical to </a:t>
            </a:r>
            <a:r>
              <a:rPr lang="en-US" altLang="zh-CN" i="1" dirty="0"/>
              <a:t>A1</a:t>
            </a:r>
          </a:p>
          <a:p>
            <a:pPr lvl="1"/>
            <a:r>
              <a:rPr lang="en-US" altLang="zh-CN" dirty="0"/>
              <a:t>Sort </a:t>
            </a:r>
            <a:r>
              <a:rPr lang="en-US" altLang="zh-CN" i="1" dirty="0"/>
              <a:t>A1 </a:t>
            </a:r>
            <a:r>
              <a:rPr lang="en-US" altLang="zh-CN" dirty="0"/>
              <a:t>using </a:t>
            </a:r>
            <a:r>
              <a:rPr lang="en-US" altLang="zh-CN" dirty="0" err="1">
                <a:solidFill>
                  <a:schemeClr val="accent6"/>
                </a:solidFill>
              </a:rPr>
              <a:t>insertionSort</a:t>
            </a:r>
            <a:r>
              <a:rPr lang="en-US" altLang="zh-CN" dirty="0"/>
              <a:t>, </a:t>
            </a:r>
            <a:r>
              <a:rPr lang="en-US" altLang="zh-CN" i="1" dirty="0"/>
              <a:t>A2</a:t>
            </a:r>
            <a:r>
              <a:rPr lang="en-US" altLang="zh-CN" dirty="0"/>
              <a:t> using </a:t>
            </a:r>
            <a:r>
              <a:rPr lang="en-US" altLang="zh-CN" dirty="0" err="1">
                <a:solidFill>
                  <a:schemeClr val="accent6"/>
                </a:solidFill>
              </a:rPr>
              <a:t>mergeSort</a:t>
            </a:r>
            <a:r>
              <a:rPr lang="en-US" altLang="zh-CN" dirty="0"/>
              <a:t>, and </a:t>
            </a:r>
            <a:r>
              <a:rPr lang="en-US" altLang="zh-CN" i="1" dirty="0"/>
              <a:t>A3</a:t>
            </a:r>
            <a:r>
              <a:rPr lang="en-US" altLang="zh-CN" dirty="0"/>
              <a:t> using </a:t>
            </a:r>
            <a:r>
              <a:rPr lang="en-US" altLang="zh-CN" dirty="0" err="1">
                <a:solidFill>
                  <a:schemeClr val="accent6"/>
                </a:solidFill>
              </a:rPr>
              <a:t>quickSort</a:t>
            </a:r>
            <a:endParaRPr lang="en-US" altLang="zh-CN" dirty="0"/>
          </a:p>
          <a:p>
            <a:pPr lvl="1"/>
            <a:r>
              <a:rPr lang="en-US" altLang="zh-CN" dirty="0"/>
              <a:t>Print the elapsed time in </a:t>
            </a:r>
            <a:r>
              <a:rPr lang="en-US" altLang="zh-CN" dirty="0">
                <a:solidFill>
                  <a:schemeClr val="accent6"/>
                </a:solidFill>
              </a:rPr>
              <a:t>milliseconds</a:t>
            </a:r>
            <a:r>
              <a:rPr lang="en-US" altLang="zh-CN" dirty="0"/>
              <a:t> during which all the search functions run, respectively</a:t>
            </a:r>
          </a:p>
          <a:p>
            <a:r>
              <a:rPr lang="en-US" altLang="zh-CN" dirty="0"/>
              <a:t>You can use the sample code on iSpace for existing methods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03491"/>
      </p:ext>
    </p:extLst>
  </p:cSld>
  <p:clrMapOvr>
    <a:masterClrMapping/>
  </p:clrMapOvr>
</p:sld>
</file>

<file path=ppt/theme/theme1.xml><?xml version="1.0" encoding="utf-8"?>
<a:theme xmlns:a="http://schemas.openxmlformats.org/drawingml/2006/main" name="知识图谱及其应用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548DD4"/>
      </a:accent4>
      <a:accent5>
        <a:srgbClr val="4BACC6"/>
      </a:accent5>
      <a:accent6>
        <a:srgbClr val="548DD4"/>
      </a:accent6>
      <a:hlink>
        <a:srgbClr val="4F81BD"/>
      </a:hlink>
      <a:folHlink>
        <a:srgbClr val="C2BB93"/>
      </a:folHlink>
    </a:clrScheme>
    <a:fontScheme name="Custom 1">
      <a:majorFont>
        <a:latin typeface="Verdana"/>
        <a:ea typeface=""/>
        <a:cs typeface=""/>
      </a:majorFont>
      <a:minorFont>
        <a:latin typeface="微软雅黑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Lec0 - Introduction</Template>
  <TotalTime>3078</TotalTime>
  <Words>2222</Words>
  <Application>Microsoft Office PowerPoint</Application>
  <PresentationFormat>On-screen Show (4:3)</PresentationFormat>
  <Paragraphs>491</Paragraphs>
  <Slides>36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微软雅黑</vt:lpstr>
      <vt:lpstr>微软雅黑 Light</vt:lpstr>
      <vt:lpstr>Arial</vt:lpstr>
      <vt:lpstr>Calibri</vt:lpstr>
      <vt:lpstr>Courier New</vt:lpstr>
      <vt:lpstr>Times New Roman</vt:lpstr>
      <vt:lpstr>Verdana</vt:lpstr>
      <vt:lpstr>知识图谱及其应用</vt:lpstr>
      <vt:lpstr>Data Structures and Algorithms   Lecture 7: Quick Sort</vt:lpstr>
      <vt:lpstr>Outline</vt:lpstr>
      <vt:lpstr>Introduction</vt:lpstr>
      <vt:lpstr>● Divide ● Conquer ● Combine</vt:lpstr>
      <vt:lpstr>Divide</vt:lpstr>
      <vt:lpstr>Conquer</vt:lpstr>
      <vt:lpstr>Example</vt:lpstr>
      <vt:lpstr>“Divide” is the key</vt:lpstr>
      <vt:lpstr>Animation</vt:lpstr>
      <vt:lpstr>Pseudo Code</vt:lpstr>
      <vt:lpstr>Partitioning</vt:lpstr>
      <vt:lpstr>Partitioning Strategy</vt:lpstr>
      <vt:lpstr>Partitioning Strategy</vt:lpstr>
      <vt:lpstr>Partitioning Strategy</vt:lpstr>
      <vt:lpstr>PowerPoint Presentation</vt:lpstr>
      <vt:lpstr>Partitioning Strategy</vt:lpstr>
      <vt:lpstr>Pseudo Code</vt:lpstr>
      <vt:lpstr>Small arrays</vt:lpstr>
      <vt:lpstr>Quick Sort + Small Array Strategy</vt:lpstr>
      <vt:lpstr>PowerPoint Presentation</vt:lpstr>
      <vt:lpstr>Strategy I</vt:lpstr>
      <vt:lpstr>Strategy II</vt:lpstr>
      <vt:lpstr>Strategy III</vt:lpstr>
      <vt:lpstr>Strategy IV</vt:lpstr>
      <vt:lpstr>Median3 Example</vt:lpstr>
      <vt:lpstr>Partition With Median3</vt:lpstr>
      <vt:lpstr>Quicksort Faster than Mergesort</vt:lpstr>
      <vt:lpstr>Analysis</vt:lpstr>
      <vt:lpstr>Worst-Case Analysis</vt:lpstr>
      <vt:lpstr>Best-case Analysis</vt:lpstr>
      <vt:lpstr>Average-Case Analysis</vt:lpstr>
      <vt:lpstr>Consider special cases</vt:lpstr>
      <vt:lpstr>Analysis of Quick Sort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Lecture 1: C</dc:title>
  <dc:creator>UIC</dc:creator>
  <cp:lastModifiedBy>Dyce ZHAO</cp:lastModifiedBy>
  <cp:revision>270</cp:revision>
  <dcterms:created xsi:type="dcterms:W3CDTF">2006-08-16T00:00:00Z</dcterms:created>
  <dcterms:modified xsi:type="dcterms:W3CDTF">2023-06-29T07:53:15Z</dcterms:modified>
</cp:coreProperties>
</file>
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85" r:id="rId3"/>
    <p:sldId id="286" r:id="rId4"/>
    <p:sldId id="289" r:id="rId5"/>
    <p:sldId id="288" r:id="rId6"/>
    <p:sldId id="290" r:id="rId7"/>
    <p:sldId id="291" r:id="rId8"/>
    <p:sldId id="311" r:id="rId9"/>
    <p:sldId id="312" r:id="rId10"/>
    <p:sldId id="292" r:id="rId11"/>
    <p:sldId id="306" r:id="rId12"/>
    <p:sldId id="295" r:id="rId13"/>
    <p:sldId id="296" r:id="rId14"/>
    <p:sldId id="297" r:id="rId15"/>
    <p:sldId id="298" r:id="rId16"/>
    <p:sldId id="307" r:id="rId17"/>
    <p:sldId id="309" r:id="rId18"/>
    <p:sldId id="310" r:id="rId19"/>
    <p:sldId id="30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8"/>
    <p:restoredTop sz="63605"/>
  </p:normalViewPr>
  <p:slideViewPr>
    <p:cSldViewPr>
      <p:cViewPr varScale="1">
        <p:scale>
          <a:sx n="79" d="100"/>
          <a:sy n="79" d="100"/>
        </p:scale>
        <p:origin x="1384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9/24/23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5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Why?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Insert Operation is low-efficient in array.</a:t>
            </a:r>
          </a:p>
          <a:p>
            <a:r>
              <a:rPr kumimoji="1" lang="en-US" altLang="zh-CN" dirty="0"/>
              <a:t>Both constant time for all, but array is a little faster, don’t operate pointers and allocate space.</a:t>
            </a:r>
          </a:p>
          <a:p>
            <a:r>
              <a:rPr kumimoji="1" lang="en-US" altLang="zh-CN" dirty="0"/>
              <a:t>Space: </a:t>
            </a:r>
            <a:r>
              <a:rPr kumimoji="1" lang="en-US" altLang="zh-CN" dirty="0" err="1"/>
              <a:t>max_N</a:t>
            </a:r>
            <a:r>
              <a:rPr kumimoji="1" lang="en-US" altLang="zh-CN" dirty="0"/>
              <a:t>, 2N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9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79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91600D-3733-461D-807A-0102233BD933}" type="slidenum">
              <a:rPr lang="zh-CN" altLang="en-US" sz="1200">
                <a:latin typeface="Arial" charset="0"/>
              </a:rPr>
              <a:pPr eaLnBrk="1" hangingPunct="1"/>
              <a:t>17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7469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91600D-3733-461D-807A-0102233BD933}" type="slidenum">
              <a:rPr lang="zh-CN" altLang="en-US" sz="1200">
                <a:latin typeface="Arial" charset="0"/>
              </a:rPr>
              <a:pPr eaLnBrk="1" hangingPunct="1"/>
              <a:t>18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239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6E96-2896-41C5-87B0-F09DED4CC44C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4E9D1-D6D8-405C-91A2-D9ED30DA71EF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444B3-2ECA-4075-B405-921E1E0C82CD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79EB-12E3-4216-8C45-8B3A3587A3CD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79C-F332-484E-A821-3A791EB66004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8A20-ACF5-45CE-9DA2-EB7613DE56C8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D33B-83E6-4CB5-AA23-C5B0FCCF775F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362C-2178-4D18-A730-88C525FBD1B3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C1CD-EB4B-4F41-B03C-CFB13764D56E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077A-8CF6-422B-B28F-5D8166EC776D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39FCC-FBD8-4101-B6C2-84C35F474D5D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9E250-1D7D-4A8A-AA39-1E058FB8BB7A}" type="datetime1">
              <a:rPr lang="en-US" altLang="zh-CN" smtClean="0"/>
              <a:t>9/24/23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iveexample.pearsoncmg.com/liang/animation/animat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349375"/>
            <a:ext cx="7772400" cy="2232025"/>
          </a:xfrm>
          <a:noFill/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4000" b="1" dirty="0">
                <a:ea typeface="PMingLiU" pitchFamily="18" charset="-120"/>
              </a:rPr>
            </a:b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Lecture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3</a:t>
            </a:r>
            <a:r>
              <a:rPr lang="en-US" altLang="zh-TW" sz="2400" b="1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altLang="zh-TW" sz="4000" b="1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6600" b="1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Stacks</a:t>
            </a:r>
            <a:endParaRPr lang="en-US" altLang="zh-TW" sz="32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267200"/>
            <a:ext cx="7620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54260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Stack ADT</a:t>
            </a:r>
          </a:p>
          <a:p>
            <a:r>
              <a:rPr lang="en-US" altLang="zh-CN" dirty="0">
                <a:ea typeface="宋体" pitchFamily="2" charset="-122"/>
              </a:rPr>
              <a:t>Basic operations of stack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Pushing, popping etc. </a:t>
            </a:r>
          </a:p>
          <a:p>
            <a:r>
              <a:rPr lang="en-US" altLang="zh-CN" dirty="0">
                <a:ea typeface="宋体" pitchFamily="2" charset="-122"/>
              </a:rPr>
              <a:t>Applications of stacks</a:t>
            </a:r>
          </a:p>
          <a:p>
            <a:r>
              <a:rPr lang="en-US" altLang="zh-CN" dirty="0">
                <a:ea typeface="宋体" pitchFamily="2" charset="-122"/>
              </a:rPr>
              <a:t>Implementations of stacks using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array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linked list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42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ADT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Stack is a special list where </a:t>
            </a:r>
            <a:r>
              <a:rPr lang="en-US" altLang="zh-CN" dirty="0">
                <a:solidFill>
                  <a:schemeClr val="accent1"/>
                </a:solidFill>
              </a:rPr>
              <a:t>insertion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chemeClr val="accent1"/>
                </a:solidFill>
              </a:rPr>
              <a:t>deletion</a:t>
            </a:r>
            <a:r>
              <a:rPr lang="en-US" altLang="zh-CN" dirty="0"/>
              <a:t> take place at the same end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This end is called </a:t>
            </a:r>
            <a:r>
              <a:rPr lang="en-US" altLang="zh-CN" i="1" dirty="0">
                <a:solidFill>
                  <a:schemeClr val="accent1"/>
                </a:solidFill>
                <a:ea typeface="宋体" pitchFamily="2" charset="-122"/>
              </a:rPr>
              <a:t>top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other end is called </a:t>
            </a:r>
            <a:r>
              <a:rPr lang="en-US" altLang="zh-CN" i="1" dirty="0">
                <a:solidFill>
                  <a:schemeClr val="accent1"/>
                </a:solidFill>
                <a:ea typeface="宋体" pitchFamily="2" charset="-122"/>
              </a:rPr>
              <a:t>bottom</a:t>
            </a:r>
          </a:p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Everything </a:t>
            </a:r>
            <a:r>
              <a:rPr lang="en-US" altLang="zh-CN" dirty="0"/>
              <a:t>happens at the top</a:t>
            </a:r>
          </a:p>
          <a:p>
            <a:r>
              <a:rPr lang="en-US" altLang="zh-CN" dirty="0"/>
              <a:t>Nothing happens at the bottom</a:t>
            </a:r>
            <a:endParaRPr lang="en-US" altLang="zh-CN" i="1" dirty="0">
              <a:solidFill>
                <a:schemeClr val="accent1"/>
              </a:solidFill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394043"/>
              </p:ext>
            </p:extLst>
          </p:nvPr>
        </p:nvGraphicFramePr>
        <p:xfrm>
          <a:off x="5638800" y="1752600"/>
          <a:ext cx="1447800" cy="4165600"/>
        </p:xfrm>
        <a:graphic>
          <a:graphicData uri="http://schemas.openxmlformats.org/drawingml/2006/table">
            <a:tbl>
              <a:tblPr bandRow="1">
                <a:tableStyleId>{912C8C85-51F0-491E-9774-3900AFEF0FD7}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38862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top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8" name="直接箭头连接符 7"/>
          <p:cNvCxnSpPr>
            <a:stCxn id="6" idx="1"/>
          </p:cNvCxnSpPr>
          <p:nvPr/>
        </p:nvCxnSpPr>
        <p:spPr>
          <a:xfrm flipH="1">
            <a:off x="7162800" y="4070866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0" y="5486400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bottom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10" name="直接箭头连接符 9"/>
          <p:cNvCxnSpPr>
            <a:stCxn id="9" idx="1"/>
          </p:cNvCxnSpPr>
          <p:nvPr/>
        </p:nvCxnSpPr>
        <p:spPr>
          <a:xfrm flipH="1">
            <a:off x="7162800" y="5671066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0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Animation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CN" i="1" dirty="0">
              <a:solidFill>
                <a:schemeClr val="accent1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  <a:hlinkClick r:id="rId2"/>
              </a:rPr>
              <a:t>http://liveexample.pearsoncmg.com/liang/animation/animation.html</a:t>
            </a:r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Stacks are known as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LIFO </a:t>
            </a:r>
            <a:r>
              <a:rPr lang="en-US" altLang="zh-CN" dirty="0">
                <a:ea typeface="宋体" pitchFamily="2" charset="-122"/>
              </a:rPr>
              <a:t>(Last In, First Out) lists.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6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4419600" y="4572000"/>
            <a:ext cx="2286000" cy="1981200"/>
            <a:chOff x="2784" y="2880"/>
            <a:chExt cx="1440" cy="1248"/>
          </a:xfrm>
        </p:grpSpPr>
        <p:grpSp>
          <p:nvGrpSpPr>
            <p:cNvPr id="7190" name="Group 25"/>
            <p:cNvGrpSpPr>
              <a:grpSpLocks/>
            </p:cNvGrpSpPr>
            <p:nvPr/>
          </p:nvGrpSpPr>
          <p:grpSpPr bwMode="auto">
            <a:xfrm>
              <a:off x="2784" y="3408"/>
              <a:ext cx="384" cy="252"/>
              <a:chOff x="2784" y="3888"/>
              <a:chExt cx="384" cy="252"/>
            </a:xfrm>
          </p:grpSpPr>
          <p:sp>
            <p:nvSpPr>
              <p:cNvPr id="7205" name="Text Box 27"/>
              <p:cNvSpPr txBox="1">
                <a:spLocks noChangeArrowheads="1"/>
              </p:cNvSpPr>
              <p:nvPr/>
            </p:nvSpPr>
            <p:spPr bwMode="auto">
              <a:xfrm>
                <a:off x="2804" y="3888"/>
                <a:ext cx="3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+mn-lt"/>
                  </a:rPr>
                  <a:t>top</a:t>
                </a:r>
              </a:p>
            </p:txBody>
          </p:sp>
          <p:sp>
            <p:nvSpPr>
              <p:cNvPr id="7204" name="Line 26"/>
              <p:cNvSpPr>
                <a:spLocks noChangeShapeType="1"/>
              </p:cNvSpPr>
              <p:nvPr/>
            </p:nvSpPr>
            <p:spPr bwMode="auto">
              <a:xfrm flipV="1">
                <a:off x="2784" y="4128"/>
                <a:ext cx="384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191" name="Group 28"/>
            <p:cNvGrpSpPr>
              <a:grpSpLocks/>
            </p:cNvGrpSpPr>
            <p:nvPr/>
          </p:nvGrpSpPr>
          <p:grpSpPr bwMode="auto">
            <a:xfrm>
              <a:off x="3024" y="3216"/>
              <a:ext cx="1200" cy="912"/>
              <a:chOff x="672" y="3216"/>
              <a:chExt cx="1200" cy="912"/>
            </a:xfrm>
          </p:grpSpPr>
          <p:sp>
            <p:nvSpPr>
              <p:cNvPr id="7199" name="Line 29"/>
              <p:cNvSpPr>
                <a:spLocks noChangeShapeType="1"/>
              </p:cNvSpPr>
              <p:nvPr/>
            </p:nvSpPr>
            <p:spPr bwMode="auto">
              <a:xfrm>
                <a:off x="672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00" name="Line 30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01" name="Line 31"/>
              <p:cNvSpPr>
                <a:spLocks noChangeShapeType="1"/>
              </p:cNvSpPr>
              <p:nvPr/>
            </p:nvSpPr>
            <p:spPr bwMode="auto">
              <a:xfrm>
                <a:off x="864" y="4128"/>
                <a:ext cx="816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02" name="Line 32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03" name="Line 33"/>
              <p:cNvSpPr>
                <a:spLocks noChangeShapeType="1"/>
              </p:cNvSpPr>
              <p:nvPr/>
            </p:nvSpPr>
            <p:spPr bwMode="auto">
              <a:xfrm>
                <a:off x="1680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7192" name="Text Box 44"/>
            <p:cNvSpPr txBox="1">
              <a:spLocks noChangeArrowheads="1"/>
            </p:cNvSpPr>
            <p:nvPr/>
          </p:nvSpPr>
          <p:spPr bwMode="auto">
            <a:xfrm>
              <a:off x="3341" y="2880"/>
              <a:ext cx="6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2">
                      <a:lumMod val="75000"/>
                    </a:schemeClr>
                  </a:solidFill>
                  <a:latin typeface="+mn-lt"/>
                </a:rPr>
                <a:t>push B</a:t>
              </a:r>
            </a:p>
          </p:txBody>
        </p:sp>
        <p:grpSp>
          <p:nvGrpSpPr>
            <p:cNvPr id="7193" name="Group 45"/>
            <p:cNvGrpSpPr>
              <a:grpSpLocks/>
            </p:cNvGrpSpPr>
            <p:nvPr/>
          </p:nvGrpSpPr>
          <p:grpSpPr bwMode="auto">
            <a:xfrm>
              <a:off x="3344" y="3845"/>
              <a:ext cx="576" cy="212"/>
              <a:chOff x="3648" y="3405"/>
              <a:chExt cx="576" cy="212"/>
            </a:xfrm>
          </p:grpSpPr>
          <p:sp>
            <p:nvSpPr>
              <p:cNvPr id="7197" name="Rectangle 46"/>
              <p:cNvSpPr>
                <a:spLocks noChangeArrowheads="1"/>
              </p:cNvSpPr>
              <p:nvPr/>
            </p:nvSpPr>
            <p:spPr bwMode="auto">
              <a:xfrm>
                <a:off x="3648" y="3408"/>
                <a:ext cx="576" cy="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98" name="Text Box 47"/>
              <p:cNvSpPr txBox="1">
                <a:spLocks noChangeArrowheads="1"/>
              </p:cNvSpPr>
              <p:nvPr/>
            </p:nvSpPr>
            <p:spPr bwMode="auto">
              <a:xfrm>
                <a:off x="3839" y="3405"/>
                <a:ext cx="2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</a:rPr>
                  <a:t>A</a:t>
                </a:r>
              </a:p>
            </p:txBody>
          </p:sp>
        </p:grpSp>
        <p:grpSp>
          <p:nvGrpSpPr>
            <p:cNvPr id="7194" name="Group 48"/>
            <p:cNvGrpSpPr>
              <a:grpSpLocks/>
            </p:cNvGrpSpPr>
            <p:nvPr/>
          </p:nvGrpSpPr>
          <p:grpSpPr bwMode="auto">
            <a:xfrm>
              <a:off x="3352" y="3563"/>
              <a:ext cx="576" cy="212"/>
              <a:chOff x="3648" y="3403"/>
              <a:chExt cx="576" cy="212"/>
            </a:xfrm>
          </p:grpSpPr>
          <p:sp>
            <p:nvSpPr>
              <p:cNvPr id="7195" name="Rectangle 49"/>
              <p:cNvSpPr>
                <a:spLocks noChangeArrowheads="1"/>
              </p:cNvSpPr>
              <p:nvPr/>
            </p:nvSpPr>
            <p:spPr bwMode="auto">
              <a:xfrm>
                <a:off x="3648" y="3408"/>
                <a:ext cx="576" cy="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96" name="Text Box 50"/>
              <p:cNvSpPr txBox="1">
                <a:spLocks noChangeArrowheads="1"/>
              </p:cNvSpPr>
              <p:nvPr/>
            </p:nvSpPr>
            <p:spPr bwMode="auto">
              <a:xfrm>
                <a:off x="3839" y="3403"/>
                <a:ext cx="2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</a:rPr>
                  <a:t>B</a:t>
                </a:r>
              </a:p>
            </p:txBody>
          </p:sp>
        </p:grpSp>
      </p:grpSp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58796E-B373-4873-A00C-2CD4867340CC}" type="slidenum">
              <a:rPr lang="zh-CN" altLang="en-US" sz="1400">
                <a:solidFill>
                  <a:schemeClr val="bg2">
                    <a:lumMod val="75000"/>
                  </a:schemeClr>
                </a:solidFill>
                <a:latin typeface="+mn-lt"/>
              </a:rPr>
              <a:pPr eaLnBrk="1" hangingPunct="1"/>
              <a:t>5</a:t>
            </a:fld>
            <a:endParaRPr lang="en-US" altLang="zh-CN" sz="140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Push and Pop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848600" cy="28956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Primary operations: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Push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Pop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Push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Add an element to the top of the stack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Pop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Remove the element at the top of the stack</a:t>
            </a:r>
          </a:p>
          <a:p>
            <a:r>
              <a:rPr lang="en-US" altLang="zh-CN" dirty="0">
                <a:ea typeface="宋体" pitchFamily="2" charset="-122"/>
              </a:rPr>
              <a:t>Top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Return, without removing, the element at the top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28600" y="4572000"/>
            <a:ext cx="2286000" cy="2000250"/>
            <a:chOff x="144" y="2880"/>
            <a:chExt cx="1440" cy="1260"/>
          </a:xfrm>
        </p:grpSpPr>
        <p:sp>
          <p:nvSpPr>
            <p:cNvPr id="7219" name="Line 7"/>
            <p:cNvSpPr>
              <a:spLocks noChangeShapeType="1"/>
            </p:cNvSpPr>
            <p:nvPr/>
          </p:nvSpPr>
          <p:spPr bwMode="auto">
            <a:xfrm flipV="1">
              <a:off x="144" y="4128"/>
              <a:ext cx="384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7220" name="Text Box 8"/>
            <p:cNvSpPr txBox="1">
              <a:spLocks noChangeArrowheads="1"/>
            </p:cNvSpPr>
            <p:nvPr/>
          </p:nvSpPr>
          <p:spPr bwMode="auto">
            <a:xfrm>
              <a:off x="164" y="3888"/>
              <a:ext cx="3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2">
                      <a:lumMod val="75000"/>
                    </a:schemeClr>
                  </a:solidFill>
                  <a:latin typeface="+mn-lt"/>
                </a:rPr>
                <a:t>top</a:t>
              </a:r>
            </a:p>
          </p:txBody>
        </p:sp>
        <p:sp>
          <p:nvSpPr>
            <p:cNvPr id="7221" name="Text Box 9"/>
            <p:cNvSpPr txBox="1">
              <a:spLocks noChangeArrowheads="1"/>
            </p:cNvSpPr>
            <p:nvPr/>
          </p:nvSpPr>
          <p:spPr bwMode="auto">
            <a:xfrm>
              <a:off x="512" y="2880"/>
              <a:ext cx="9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bg2">
                      <a:lumMod val="75000"/>
                    </a:schemeClr>
                  </a:solidFill>
                  <a:latin typeface="+mn-lt"/>
                </a:rPr>
                <a:t>empty stack</a:t>
              </a:r>
            </a:p>
          </p:txBody>
        </p:sp>
        <p:grpSp>
          <p:nvGrpSpPr>
            <p:cNvPr id="7222" name="Group 10"/>
            <p:cNvGrpSpPr>
              <a:grpSpLocks/>
            </p:cNvGrpSpPr>
            <p:nvPr/>
          </p:nvGrpSpPr>
          <p:grpSpPr bwMode="auto">
            <a:xfrm>
              <a:off x="384" y="3216"/>
              <a:ext cx="1200" cy="912"/>
              <a:chOff x="672" y="3216"/>
              <a:chExt cx="1200" cy="912"/>
            </a:xfrm>
          </p:grpSpPr>
          <p:sp>
            <p:nvSpPr>
              <p:cNvPr id="7223" name="Line 11"/>
              <p:cNvSpPr>
                <a:spLocks noChangeShapeType="1"/>
              </p:cNvSpPr>
              <p:nvPr/>
            </p:nvSpPr>
            <p:spPr bwMode="auto">
              <a:xfrm>
                <a:off x="672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24" name="Line 12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25" name="Line 13"/>
              <p:cNvSpPr>
                <a:spLocks noChangeShapeType="1"/>
              </p:cNvSpPr>
              <p:nvPr/>
            </p:nvSpPr>
            <p:spPr bwMode="auto">
              <a:xfrm>
                <a:off x="864" y="4128"/>
                <a:ext cx="816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26" name="Line 14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27" name="Line 15"/>
              <p:cNvSpPr>
                <a:spLocks noChangeShapeType="1"/>
              </p:cNvSpPr>
              <p:nvPr/>
            </p:nvSpPr>
            <p:spPr bwMode="auto">
              <a:xfrm>
                <a:off x="1680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2362200" y="4572000"/>
            <a:ext cx="2286000" cy="1981200"/>
            <a:chOff x="1488" y="2880"/>
            <a:chExt cx="1440" cy="1248"/>
          </a:xfrm>
        </p:grpSpPr>
        <p:grpSp>
          <p:nvGrpSpPr>
            <p:cNvPr id="7206" name="Group 4"/>
            <p:cNvGrpSpPr>
              <a:grpSpLocks/>
            </p:cNvGrpSpPr>
            <p:nvPr/>
          </p:nvGrpSpPr>
          <p:grpSpPr bwMode="auto">
            <a:xfrm>
              <a:off x="2064" y="3851"/>
              <a:ext cx="576" cy="212"/>
              <a:chOff x="3648" y="3399"/>
              <a:chExt cx="576" cy="212"/>
            </a:xfrm>
          </p:grpSpPr>
          <p:sp>
            <p:nvSpPr>
              <p:cNvPr id="7217" name="Rectangle 5"/>
              <p:cNvSpPr>
                <a:spLocks noChangeArrowheads="1"/>
              </p:cNvSpPr>
              <p:nvPr/>
            </p:nvSpPr>
            <p:spPr bwMode="auto">
              <a:xfrm>
                <a:off x="3648" y="3408"/>
                <a:ext cx="576" cy="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218" name="Text Box 6"/>
              <p:cNvSpPr txBox="1">
                <a:spLocks noChangeArrowheads="1"/>
              </p:cNvSpPr>
              <p:nvPr/>
            </p:nvSpPr>
            <p:spPr bwMode="auto">
              <a:xfrm>
                <a:off x="3833" y="3399"/>
                <a:ext cx="2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</a:rPr>
                  <a:t>A</a:t>
                </a:r>
              </a:p>
            </p:txBody>
          </p:sp>
        </p:grpSp>
        <p:grpSp>
          <p:nvGrpSpPr>
            <p:cNvPr id="7207" name="Group 16"/>
            <p:cNvGrpSpPr>
              <a:grpSpLocks/>
            </p:cNvGrpSpPr>
            <p:nvPr/>
          </p:nvGrpSpPr>
          <p:grpSpPr bwMode="auto">
            <a:xfrm>
              <a:off x="1488" y="3696"/>
              <a:ext cx="384" cy="252"/>
              <a:chOff x="1488" y="3888"/>
              <a:chExt cx="384" cy="252"/>
            </a:xfrm>
          </p:grpSpPr>
          <p:sp>
            <p:nvSpPr>
              <p:cNvPr id="7215" name="Line 17"/>
              <p:cNvSpPr>
                <a:spLocks noChangeShapeType="1"/>
              </p:cNvSpPr>
              <p:nvPr/>
            </p:nvSpPr>
            <p:spPr bwMode="auto">
              <a:xfrm flipV="1">
                <a:off x="1488" y="4128"/>
                <a:ext cx="384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16" name="Text Box 18"/>
              <p:cNvSpPr txBox="1">
                <a:spLocks noChangeArrowheads="1"/>
              </p:cNvSpPr>
              <p:nvPr/>
            </p:nvSpPr>
            <p:spPr bwMode="auto">
              <a:xfrm>
                <a:off x="1508" y="3888"/>
                <a:ext cx="3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+mn-lt"/>
                  </a:rPr>
                  <a:t>top</a:t>
                </a:r>
              </a:p>
            </p:txBody>
          </p:sp>
        </p:grpSp>
        <p:grpSp>
          <p:nvGrpSpPr>
            <p:cNvPr id="7208" name="Group 19"/>
            <p:cNvGrpSpPr>
              <a:grpSpLocks/>
            </p:cNvGrpSpPr>
            <p:nvPr/>
          </p:nvGrpSpPr>
          <p:grpSpPr bwMode="auto">
            <a:xfrm>
              <a:off x="1728" y="3216"/>
              <a:ext cx="1200" cy="912"/>
              <a:chOff x="672" y="3216"/>
              <a:chExt cx="1200" cy="912"/>
            </a:xfrm>
          </p:grpSpPr>
          <p:sp>
            <p:nvSpPr>
              <p:cNvPr id="7210" name="Line 20"/>
              <p:cNvSpPr>
                <a:spLocks noChangeShapeType="1"/>
              </p:cNvSpPr>
              <p:nvPr/>
            </p:nvSpPr>
            <p:spPr bwMode="auto">
              <a:xfrm>
                <a:off x="672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11" name="Line 21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12" name="Line 22"/>
              <p:cNvSpPr>
                <a:spLocks noChangeShapeType="1"/>
              </p:cNvSpPr>
              <p:nvPr/>
            </p:nvSpPr>
            <p:spPr bwMode="auto">
              <a:xfrm>
                <a:off x="864" y="4128"/>
                <a:ext cx="816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13" name="Line 23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14" name="Line 24"/>
              <p:cNvSpPr>
                <a:spLocks noChangeShapeType="1"/>
              </p:cNvSpPr>
              <p:nvPr/>
            </p:nvSpPr>
            <p:spPr bwMode="auto">
              <a:xfrm>
                <a:off x="1680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7209" name="Text Box 43"/>
            <p:cNvSpPr txBox="1">
              <a:spLocks noChangeArrowheads="1"/>
            </p:cNvSpPr>
            <p:nvPr/>
          </p:nvSpPr>
          <p:spPr bwMode="auto">
            <a:xfrm>
              <a:off x="1990" y="2880"/>
              <a:ext cx="62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2">
                      <a:lumMod val="75000"/>
                    </a:schemeClr>
                  </a:solidFill>
                  <a:latin typeface="+mn-lt"/>
                </a:rPr>
                <a:t>push A</a:t>
              </a:r>
            </a:p>
          </p:txBody>
        </p:sp>
      </p:grpSp>
      <p:grpSp>
        <p:nvGrpSpPr>
          <p:cNvPr id="13" name="Group 57"/>
          <p:cNvGrpSpPr>
            <a:grpSpLocks/>
          </p:cNvGrpSpPr>
          <p:nvPr/>
        </p:nvGrpSpPr>
        <p:grpSpPr bwMode="auto">
          <a:xfrm>
            <a:off x="6629400" y="4572000"/>
            <a:ext cx="2286000" cy="1981200"/>
            <a:chOff x="4176" y="2880"/>
            <a:chExt cx="1440" cy="1248"/>
          </a:xfrm>
        </p:grpSpPr>
        <p:grpSp>
          <p:nvGrpSpPr>
            <p:cNvPr id="7177" name="Group 34"/>
            <p:cNvGrpSpPr>
              <a:grpSpLocks/>
            </p:cNvGrpSpPr>
            <p:nvPr/>
          </p:nvGrpSpPr>
          <p:grpSpPr bwMode="auto">
            <a:xfrm>
              <a:off x="4176" y="3696"/>
              <a:ext cx="384" cy="252"/>
              <a:chOff x="4176" y="3888"/>
              <a:chExt cx="384" cy="252"/>
            </a:xfrm>
          </p:grpSpPr>
          <p:sp>
            <p:nvSpPr>
              <p:cNvPr id="7188" name="Line 35"/>
              <p:cNvSpPr>
                <a:spLocks noChangeShapeType="1"/>
              </p:cNvSpPr>
              <p:nvPr/>
            </p:nvSpPr>
            <p:spPr bwMode="auto">
              <a:xfrm flipV="1">
                <a:off x="4176" y="4128"/>
                <a:ext cx="384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9" name="Text Box 36"/>
              <p:cNvSpPr txBox="1">
                <a:spLocks noChangeArrowheads="1"/>
              </p:cNvSpPr>
              <p:nvPr/>
            </p:nvSpPr>
            <p:spPr bwMode="auto">
              <a:xfrm>
                <a:off x="4196" y="3888"/>
                <a:ext cx="3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+mn-lt"/>
                  </a:rPr>
                  <a:t>top</a:t>
                </a:r>
              </a:p>
            </p:txBody>
          </p:sp>
        </p:grpSp>
        <p:grpSp>
          <p:nvGrpSpPr>
            <p:cNvPr id="7178" name="Group 37"/>
            <p:cNvGrpSpPr>
              <a:grpSpLocks/>
            </p:cNvGrpSpPr>
            <p:nvPr/>
          </p:nvGrpSpPr>
          <p:grpSpPr bwMode="auto">
            <a:xfrm>
              <a:off x="4416" y="3216"/>
              <a:ext cx="1200" cy="912"/>
              <a:chOff x="672" y="3216"/>
              <a:chExt cx="1200" cy="912"/>
            </a:xfrm>
          </p:grpSpPr>
          <p:sp>
            <p:nvSpPr>
              <p:cNvPr id="7183" name="Line 38"/>
              <p:cNvSpPr>
                <a:spLocks noChangeShapeType="1"/>
              </p:cNvSpPr>
              <p:nvPr/>
            </p:nvSpPr>
            <p:spPr bwMode="auto">
              <a:xfrm>
                <a:off x="672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4" name="Line 39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5" name="Line 40"/>
              <p:cNvSpPr>
                <a:spLocks noChangeShapeType="1"/>
              </p:cNvSpPr>
              <p:nvPr/>
            </p:nvSpPr>
            <p:spPr bwMode="auto">
              <a:xfrm>
                <a:off x="864" y="4128"/>
                <a:ext cx="816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6" name="Line 41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0" cy="912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7" name="Line 42"/>
              <p:cNvSpPr>
                <a:spLocks noChangeShapeType="1"/>
              </p:cNvSpPr>
              <p:nvPr/>
            </p:nvSpPr>
            <p:spPr bwMode="auto">
              <a:xfrm>
                <a:off x="1680" y="3216"/>
                <a:ext cx="192" cy="0"/>
              </a:xfrm>
              <a:prstGeom prst="line">
                <a:avLst/>
              </a:prstGeom>
              <a:noFill/>
              <a:ln w="3175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7179" name="Text Box 51"/>
            <p:cNvSpPr txBox="1">
              <a:spLocks noChangeArrowheads="1"/>
            </p:cNvSpPr>
            <p:nvPr/>
          </p:nvSpPr>
          <p:spPr bwMode="auto">
            <a:xfrm>
              <a:off x="4791" y="2880"/>
              <a:ext cx="4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bg2">
                      <a:lumMod val="75000"/>
                    </a:schemeClr>
                  </a:solidFill>
                  <a:latin typeface="+mn-lt"/>
                </a:rPr>
                <a:t>pop</a:t>
              </a:r>
            </a:p>
          </p:txBody>
        </p:sp>
        <p:grpSp>
          <p:nvGrpSpPr>
            <p:cNvPr id="7180" name="Group 52"/>
            <p:cNvGrpSpPr>
              <a:grpSpLocks/>
            </p:cNvGrpSpPr>
            <p:nvPr/>
          </p:nvGrpSpPr>
          <p:grpSpPr bwMode="auto">
            <a:xfrm>
              <a:off x="4752" y="3814"/>
              <a:ext cx="576" cy="212"/>
              <a:chOff x="3648" y="3394"/>
              <a:chExt cx="576" cy="212"/>
            </a:xfrm>
          </p:grpSpPr>
          <p:sp>
            <p:nvSpPr>
              <p:cNvPr id="7181" name="Rectangle 53"/>
              <p:cNvSpPr>
                <a:spLocks noChangeArrowheads="1"/>
              </p:cNvSpPr>
              <p:nvPr/>
            </p:nvSpPr>
            <p:spPr bwMode="auto">
              <a:xfrm>
                <a:off x="3648" y="3408"/>
                <a:ext cx="576" cy="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82" name="Text Box 54"/>
              <p:cNvSpPr txBox="1">
                <a:spLocks noChangeArrowheads="1"/>
              </p:cNvSpPr>
              <p:nvPr/>
            </p:nvSpPr>
            <p:spPr bwMode="auto">
              <a:xfrm>
                <a:off x="3822" y="3394"/>
                <a:ext cx="2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</a:rPr>
                  <a:t>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775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Expression evaluation</a:t>
            </a:r>
          </a:p>
          <a:p>
            <a:r>
              <a:rPr lang="en-US" altLang="zh-CN" b="1" dirty="0"/>
              <a:t>Backtracking</a:t>
            </a:r>
          </a:p>
          <a:p>
            <a:r>
              <a:rPr lang="en-US" altLang="zh-CN" b="1" dirty="0"/>
              <a:t>Memory Management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16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Implementation of Stacks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Recall the reason why we usually don't implement the list using array?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8699399"/>
              </p:ext>
            </p:extLst>
          </p:nvPr>
        </p:nvGraphicFramePr>
        <p:xfrm>
          <a:off x="1295400" y="3048000"/>
          <a:ext cx="6629400" cy="1955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Topic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Array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Linked List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</a:rPr>
                        <a:t>Efficiency</a:t>
                      </a:r>
                      <a:endParaRPr lang="zh-CN" altLang="en-US" sz="2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push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>
                          <a:latin typeface="+mn-lt"/>
                        </a:rPr>
                        <a:t>pop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>
                          <a:latin typeface="+mn-lt"/>
                        </a:rPr>
                        <a:t>Top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dirty="0">
                          <a:latin typeface="+mn-lt"/>
                        </a:rPr>
                        <a:t>space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75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EBB32-E5DA-2902-5250-EA662ED0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Linked List Implementation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37BCA9-7D66-6365-A72D-8AF2A8026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79285"/>
            <a:ext cx="8229600" cy="297851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AAE79-A976-4945-2EF4-A5EEB559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5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53DC0-A79F-9007-F42A-504F5D1E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Array Implementation: Which is Better?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42A4A14-3F1A-22ED-09FB-1FF383B0E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3433"/>
            <a:ext cx="8229600" cy="449949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18682C-DE31-C4C9-3B30-8B939C3E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199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Data are stored in an array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values</a:t>
            </a:r>
            <a:r>
              <a:rPr lang="en-US" altLang="zh-CN" dirty="0">
                <a:ea typeface="宋体" pitchFamily="2" charset="-122"/>
              </a:rPr>
              <a:t>: an array which stores elements of stack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values</a:t>
            </a:r>
            <a:r>
              <a:rPr lang="en-US" altLang="zh-CN" dirty="0"/>
              <a:t> can be of any data type but we use </a:t>
            </a:r>
            <a:r>
              <a:rPr lang="en-US" altLang="zh-CN" dirty="0">
                <a:solidFill>
                  <a:schemeClr val="accent1"/>
                </a:solidFill>
              </a:rPr>
              <a:t>Double</a:t>
            </a:r>
            <a:r>
              <a:rPr lang="en-US" altLang="zh-CN" dirty="0"/>
              <a:t> for demonstration</a:t>
            </a:r>
            <a:endParaRPr lang="en-US" altLang="zh-CN" dirty="0">
              <a:latin typeface="+mn-lt"/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chemeClr val="accent1"/>
                </a:solidFill>
                <a:latin typeface="+mn-lt"/>
                <a:ea typeface="宋体" pitchFamily="2" charset="-122"/>
              </a:rPr>
              <a:t>top</a:t>
            </a:r>
            <a:r>
              <a:rPr lang="en-US" altLang="zh-CN" dirty="0">
                <a:latin typeface="+mn-lt"/>
                <a:ea typeface="宋体" pitchFamily="2" charset="-122"/>
              </a:rPr>
              <a:t>: the index of the top element of stack</a:t>
            </a:r>
          </a:p>
          <a:p>
            <a:pPr lvl="1"/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2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Class: Stack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F58654-1911-4BBD-932E-8EFBB301A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709462"/>
              </p:ext>
            </p:extLst>
          </p:nvPr>
        </p:nvGraphicFramePr>
        <p:xfrm>
          <a:off x="3124200" y="1701601"/>
          <a:ext cx="5029200" cy="452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563731259"/>
                    </a:ext>
                  </a:extLst>
                </a:gridCol>
              </a:tblGrid>
              <a:tr h="583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Stack</a:t>
                      </a:r>
                      <a:endParaRPr lang="zh-CN" altLang="en-US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855616"/>
                  </a:ext>
                </a:extLst>
              </a:tr>
              <a:tr h="909987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values: Double[]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top: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3944658"/>
                  </a:ext>
                </a:extLst>
              </a:tr>
              <a:tr h="79248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+ Stack(</a:t>
                      </a:r>
                      <a:r>
                        <a:rPr lang="en-US" altLang="zh-CN" sz="2400" dirty="0" err="1"/>
                        <a:t>int</a:t>
                      </a:r>
                      <a:r>
                        <a:rPr lang="en-US" altLang="zh-CN" sz="2400" dirty="0"/>
                        <a:t> size)</a:t>
                      </a:r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isEmpty</a:t>
                      </a:r>
                      <a:r>
                        <a:rPr lang="en-US" altLang="zh-CN" sz="2400" dirty="0"/>
                        <a:t>(): </a:t>
                      </a:r>
                      <a:r>
                        <a:rPr lang="en-US" altLang="zh-CN" sz="2400" dirty="0" err="1"/>
                        <a:t>boolean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isFull</a:t>
                      </a:r>
                      <a:r>
                        <a:rPr lang="en-US" altLang="zh-CN" sz="2400" dirty="0"/>
                        <a:t>(): </a:t>
                      </a:r>
                      <a:r>
                        <a:rPr lang="en-US" altLang="zh-CN" sz="2400" dirty="0" err="1"/>
                        <a:t>boolean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+ top(): Double</a:t>
                      </a:r>
                    </a:p>
                    <a:p>
                      <a:r>
                        <a:rPr lang="en-US" altLang="zh-CN" sz="2400" dirty="0"/>
                        <a:t>+ push(double x): Double</a:t>
                      </a:r>
                    </a:p>
                    <a:p>
                      <a:r>
                        <a:rPr lang="en-US" altLang="zh-CN" sz="2400" dirty="0"/>
                        <a:t>+ pop(): Double</a:t>
                      </a:r>
                    </a:p>
                    <a:p>
                      <a:r>
                        <a:rPr lang="en-US" altLang="zh-CN" sz="2400" dirty="0"/>
                        <a:t>+ </a:t>
                      </a:r>
                      <a:r>
                        <a:rPr lang="en-US" altLang="zh-CN" sz="2400" dirty="0" err="1"/>
                        <a:t>displayStack</a:t>
                      </a:r>
                      <a:r>
                        <a:rPr lang="en-US" altLang="zh-CN" sz="2400" dirty="0"/>
                        <a:t>():void</a:t>
                      </a:r>
                      <a:endParaRPr lang="zh-CN" altLang="en-US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88350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01195D-D0BA-421F-BCBD-FCCBF02F782A}"/>
              </a:ext>
            </a:extLst>
          </p:cNvPr>
          <p:cNvSpPr txBox="1"/>
          <p:nvPr/>
        </p:nvSpPr>
        <p:spPr>
          <a:xfrm>
            <a:off x="685800" y="2781301"/>
            <a:ext cx="1905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i="1" dirty="0"/>
              <a:t>Setters and getters are not listed.</a:t>
            </a:r>
            <a:endParaRPr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21036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sz="31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Stack(</a:t>
            </a:r>
            <a:r>
              <a:rPr lang="en-US" altLang="zh-CN" sz="3100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int</a:t>
            </a:r>
            <a:r>
              <a:rPr lang="en-US" altLang="zh-CN" sz="3100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size)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+mn-lt"/>
                <a:cs typeface="Courier New" pitchFamily="49" charset="0"/>
              </a:rPr>
              <a:t>Creates an empty stack whose capacity is </a:t>
            </a:r>
            <a:r>
              <a:rPr lang="en-US" altLang="zh-CN" i="1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size</a:t>
            </a:r>
            <a:endParaRPr lang="en-US" altLang="zh-CN" dirty="0"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boolean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isEmpty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+mn-lt"/>
                <a:cs typeface="Courier New" pitchFamily="49" charset="0"/>
              </a:rPr>
              <a:t>Returns true if the stack is empty and false otherwise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boolean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isFull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Returns true if the stack is full and false otherwise</a:t>
            </a:r>
            <a:endParaRPr lang="en-US" altLang="zh-CN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Double top()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+mn-lt"/>
                <a:cs typeface="Courier New" pitchFamily="49" charset="0"/>
              </a:rPr>
              <a:t>Returns the top element</a:t>
            </a:r>
            <a:endParaRPr lang="en-US" altLang="zh-CN" i="1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Returns null if the stack is empty</a:t>
            </a:r>
            <a:endParaRPr lang="en-US" altLang="zh-CN" i="1" dirty="0">
              <a:cs typeface="Courier New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79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Double push(double x)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Adds a new element with value </a:t>
            </a:r>
            <a:r>
              <a:rPr lang="en-US" altLang="zh-CN" i="1" dirty="0">
                <a:solidFill>
                  <a:schemeClr val="accent1"/>
                </a:solidFill>
                <a:cs typeface="Courier New" pitchFamily="49" charset="0"/>
              </a:rPr>
              <a:t>x</a:t>
            </a:r>
            <a:r>
              <a:rPr lang="en-US" altLang="zh-CN" dirty="0">
                <a:cs typeface="Courier New" pitchFamily="49" charset="0"/>
              </a:rPr>
              <a:t> to the top of the stack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Returns the new element if the operation is successful and null otherwise</a:t>
            </a:r>
            <a:endParaRPr lang="en-US" altLang="zh-CN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Double pop()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Removes and returns the top element of the stack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cs typeface="Courier New" pitchFamily="49" charset="0"/>
              </a:rPr>
              <a:t>Returns null if the operation fails</a:t>
            </a:r>
            <a:endParaRPr lang="en-US" altLang="zh-CN" dirty="0">
              <a:solidFill>
                <a:schemeClr val="accent1"/>
              </a:solidFill>
              <a:latin typeface="+mn-lt"/>
              <a:cs typeface="Courier New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public void </a:t>
            </a:r>
            <a:r>
              <a:rPr lang="en-US" altLang="zh-CN" dirty="0" err="1">
                <a:solidFill>
                  <a:schemeClr val="accent1"/>
                </a:solidFill>
                <a:latin typeface="+mn-lt"/>
                <a:cs typeface="Courier New" pitchFamily="49" charset="0"/>
              </a:rPr>
              <a:t>displayStack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669B0-311D-4611-9EDD-51DB39AC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953000"/>
            <a:ext cx="3301863" cy="127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82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828800"/>
            <a:ext cx="9144000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43000" y="2819400"/>
            <a:ext cx="6019800" cy="54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852400"/>
            <a:ext cx="9296400" cy="1900520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public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Stack(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size)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values =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new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Double[size];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top = -1;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Constructor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7162800" y="2819400"/>
            <a:ext cx="1600200" cy="549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006747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828800"/>
            <a:ext cx="9144000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5800" y="3565280"/>
            <a:ext cx="6019800" cy="54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Push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0" y="2153483"/>
            <a:ext cx="9296400" cy="2823850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public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Double push(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isFull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())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null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values[++top] =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Double.valueOf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(x);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top();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705600" y="3565280"/>
            <a:ext cx="1600200" cy="549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This explains.</a:t>
            </a:r>
          </a:p>
        </p:txBody>
      </p:sp>
    </p:spTree>
    <p:extLst>
      <p:ext uri="{BB962C8B-B14F-4D97-AF65-F5344CB8AC3E}">
        <p14:creationId xmlns:p14="http://schemas.microsoft.com/office/powerpoint/2010/main" val="1261457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828800"/>
            <a:ext cx="9144000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35D9A384-6D35-4D42-8E6D-889F77326CC5}"/>
              </a:ext>
            </a:extLst>
          </p:cNvPr>
          <p:cNvSpPr/>
          <p:nvPr/>
        </p:nvSpPr>
        <p:spPr>
          <a:xfrm>
            <a:off x="1371600" y="4027073"/>
            <a:ext cx="7239000" cy="54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99D9F851-EDF4-4F27-9E8C-CACC88ABD1E1}"/>
              </a:ext>
            </a:extLst>
          </p:cNvPr>
          <p:cNvSpPr/>
          <p:nvPr/>
        </p:nvSpPr>
        <p:spPr>
          <a:xfrm>
            <a:off x="228600" y="4027073"/>
            <a:ext cx="1143000" cy="549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Check it online!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displayStack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0" y="2153483"/>
            <a:ext cx="9296400" cy="3747180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public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void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displayStack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System.out.print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("top --&gt;");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for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=top;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&gt;= 0;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--)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System.out.println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("\t|\t " +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String.format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("%, .4f",values[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].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doubleValue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()) +       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"\t|");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System.out.println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("\t+-----------------------+");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872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 orient="vert"/>
          </p:nvPr>
        </p:nvSpPr>
        <p:spPr>
          <a:xfrm>
            <a:off x="381000" y="152400"/>
            <a:ext cx="8534400" cy="944562"/>
          </a:xfrm>
        </p:spPr>
        <p:txBody>
          <a:bodyPr vert="horz">
            <a:normAutofit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Using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Stack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990600"/>
            <a:ext cx="9144000" cy="5867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52000">
            <a:no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Stack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Stack(4);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myStack.isEmpty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</a:t>
            </a:r>
            <a:endParaRPr lang="en-US" altLang="zh-C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(-3);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(5);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has 2 items:");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(-1);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has 4 items:");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top is: " +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myStack.top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myStack.isFull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</a:t>
            </a:r>
            <a:endParaRPr lang="en-US" altLang="zh-C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is empty:");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687C2-740D-4CFB-B3C8-B5CBC7207070}"/>
              </a:ext>
            </a:extLst>
          </p:cNvPr>
          <p:cNvSpPr/>
          <p:nvPr/>
        </p:nvSpPr>
        <p:spPr>
          <a:xfrm>
            <a:off x="4018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375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 orient="vert"/>
          </p:nvPr>
        </p:nvSpPr>
        <p:spPr>
          <a:xfrm>
            <a:off x="381000" y="152400"/>
            <a:ext cx="8534400" cy="944562"/>
          </a:xfrm>
        </p:spPr>
        <p:txBody>
          <a:bodyPr vert="horz">
            <a:normAutofit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Using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Stack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990600"/>
            <a:ext cx="9144000" cy="5867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52000">
            <a:no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Stack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Stack(4);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myStack.isEmpty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</a:t>
            </a:r>
            <a:endParaRPr lang="en-US" altLang="zh-C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(-3);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(5);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has 2 items:");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myStack.push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(-1);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has 4 items:");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top is: " +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myStack.top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myStack.isFull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</a:t>
            </a:r>
            <a:endParaRPr lang="en-US" altLang="zh-C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myStack.pop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("The stack is empty:");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latin typeface="Courier New" pitchFamily="49" charset="0"/>
                <a:cs typeface="Courier New" pitchFamily="49" charset="0"/>
              </a:rPr>
              <a:t>myStack.displayStack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687C2-740D-4CFB-B3C8-B5CBC7207070}"/>
              </a:ext>
            </a:extLst>
          </p:cNvPr>
          <p:cNvSpPr/>
          <p:nvPr/>
        </p:nvSpPr>
        <p:spPr>
          <a:xfrm>
            <a:off x="4018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D931D8-510E-4B2C-B803-8C5AC8004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257" y="1447800"/>
            <a:ext cx="3761484" cy="351279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74973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Complete </a:t>
            </a:r>
            <a:r>
              <a:rPr lang="en-US" altLang="zh-CN" i="1" dirty="0">
                <a:solidFill>
                  <a:schemeClr val="accent1"/>
                </a:solidFill>
              </a:rPr>
              <a:t>Stack.java </a:t>
            </a:r>
            <a:r>
              <a:rPr lang="en-US" altLang="zh-CN" dirty="0"/>
              <a:t>which implements the stack class</a:t>
            </a:r>
          </a:p>
          <a:p>
            <a:pPr lvl="1"/>
            <a:r>
              <a:rPr lang="en-US" altLang="zh-CN" dirty="0"/>
              <a:t>The class is defined on slide 9.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i="1" dirty="0"/>
              <a:t>main</a:t>
            </a:r>
            <a:r>
              <a:rPr lang="en-US" altLang="zh-CN" dirty="0"/>
              <a:t> function has been given for the class which tests 6 functions: push, pop, top, </a:t>
            </a:r>
            <a:r>
              <a:rPr lang="en-US" altLang="zh-CN" dirty="0" err="1"/>
              <a:t>isEmpty</a:t>
            </a:r>
            <a:r>
              <a:rPr lang="en-US" altLang="zh-CN" dirty="0"/>
              <a:t>, </a:t>
            </a:r>
            <a:r>
              <a:rPr lang="en-US" altLang="zh-CN" dirty="0" err="1"/>
              <a:t>isFull</a:t>
            </a:r>
            <a:r>
              <a:rPr lang="en-US" altLang="zh-CN" dirty="0"/>
              <a:t>, </a:t>
            </a:r>
            <a:r>
              <a:rPr lang="en-US" altLang="zh-CN" dirty="0" err="1"/>
              <a:t>displayStack</a:t>
            </a:r>
            <a:endParaRPr lang="en-US" altLang="zh-CN" dirty="0"/>
          </a:p>
          <a:p>
            <a:r>
              <a:rPr lang="en-US" altLang="zh-CN" dirty="0"/>
              <a:t>Submit </a:t>
            </a:r>
            <a:r>
              <a:rPr lang="en-US" altLang="zh-CN" i="1" dirty="0">
                <a:solidFill>
                  <a:schemeClr val="accent1"/>
                </a:solidFill>
              </a:rPr>
              <a:t>stack.java </a:t>
            </a:r>
            <a:r>
              <a:rPr lang="en-US" altLang="zh-CN" dirty="0"/>
              <a:t>to iSpace.</a:t>
            </a:r>
          </a:p>
        </p:txBody>
      </p:sp>
    </p:spTree>
    <p:extLst>
      <p:ext uri="{BB962C8B-B14F-4D97-AF65-F5344CB8AC3E}">
        <p14:creationId xmlns:p14="http://schemas.microsoft.com/office/powerpoint/2010/main" val="149894613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自定义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548DD4"/>
      </a:accent6>
      <a:hlink>
        <a:srgbClr val="C2BB93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Lec0 - Introduction</Template>
  <TotalTime>1178</TotalTime>
  <Words>1006</Words>
  <Application>Microsoft Macintosh PowerPoint</Application>
  <PresentationFormat>全屏显示(4:3)</PresentationFormat>
  <Paragraphs>197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微软雅黑</vt:lpstr>
      <vt:lpstr>微软雅黑 Light</vt:lpstr>
      <vt:lpstr>Arial</vt:lpstr>
      <vt:lpstr>Calibri</vt:lpstr>
      <vt:lpstr>Courier New</vt:lpstr>
      <vt:lpstr>Monotype Sorts</vt:lpstr>
      <vt:lpstr>Verdana</vt:lpstr>
      <vt:lpstr>知识图谱及其应用</vt:lpstr>
      <vt:lpstr>Data Structures and Algorithms  Lecture 3: Stacks</vt:lpstr>
      <vt:lpstr>Outline</vt:lpstr>
      <vt:lpstr>Stack ADT</vt:lpstr>
      <vt:lpstr>Stack Animation </vt:lpstr>
      <vt:lpstr>Push and Pop</vt:lpstr>
      <vt:lpstr>Stack Applications</vt:lpstr>
      <vt:lpstr>Implementation of Stacks</vt:lpstr>
      <vt:lpstr>Linked List Implementation</vt:lpstr>
      <vt:lpstr>Array Implementation: Which is Better?</vt:lpstr>
      <vt:lpstr>Stack Implementation</vt:lpstr>
      <vt:lpstr>Stack Implementation</vt:lpstr>
      <vt:lpstr>Methods</vt:lpstr>
      <vt:lpstr>Methods</vt:lpstr>
      <vt:lpstr>The Constructor</vt:lpstr>
      <vt:lpstr>Push</vt:lpstr>
      <vt:lpstr>displayStack</vt:lpstr>
      <vt:lpstr>Using Stack</vt:lpstr>
      <vt:lpstr>Using Stack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3: Stacks</dc:title>
  <cp:lastModifiedBy>Jianxiong Guo</cp:lastModifiedBy>
  <cp:revision>131</cp:revision>
  <dcterms:created xsi:type="dcterms:W3CDTF">2006-08-16T00:00:00Z</dcterms:created>
  <dcterms:modified xsi:type="dcterms:W3CDTF">2023-09-24T11:23:54Z</dcterms:modified>
</cp:coreProperties>
</file>
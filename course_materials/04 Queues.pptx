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1"/>
  </p:notesMasterIdLst>
  <p:sldIdLst>
    <p:sldId id="256" r:id="rId2"/>
    <p:sldId id="285" r:id="rId3"/>
    <p:sldId id="286" r:id="rId4"/>
    <p:sldId id="289" r:id="rId5"/>
    <p:sldId id="306" r:id="rId6"/>
    <p:sldId id="288" r:id="rId7"/>
    <p:sldId id="290" r:id="rId8"/>
    <p:sldId id="291" r:id="rId9"/>
    <p:sldId id="307" r:id="rId10"/>
    <p:sldId id="308" r:id="rId11"/>
    <p:sldId id="292" r:id="rId12"/>
    <p:sldId id="309" r:id="rId13"/>
    <p:sldId id="310" r:id="rId14"/>
    <p:sldId id="312" r:id="rId15"/>
    <p:sldId id="311" r:id="rId16"/>
    <p:sldId id="327" r:id="rId17"/>
    <p:sldId id="328" r:id="rId18"/>
    <p:sldId id="313" r:id="rId19"/>
    <p:sldId id="314" r:id="rId20"/>
    <p:sldId id="321" r:id="rId21"/>
    <p:sldId id="293" r:id="rId22"/>
    <p:sldId id="322" r:id="rId23"/>
    <p:sldId id="323" r:id="rId24"/>
    <p:sldId id="297" r:id="rId25"/>
    <p:sldId id="298" r:id="rId26"/>
    <p:sldId id="299" r:id="rId27"/>
    <p:sldId id="326" r:id="rId28"/>
    <p:sldId id="325" r:id="rId29"/>
    <p:sldId id="302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8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550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43F9D-0BE7-4D95-AB29-6EF42525F0B1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DCDC2-C1D2-44CB-8970-27B4CFF25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22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06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6AE6F9D-7203-446D-82C1-2590DD051B44}" type="slidenum">
              <a:rPr lang="zh-CN" altLang="en-US" sz="1200">
                <a:latin typeface="Arial" charset="0"/>
              </a:rPr>
              <a:pPr eaLnBrk="1" hangingPunct="1"/>
              <a:t>5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6AE6F9D-7203-446D-82C1-2590DD051B44}" type="slidenum">
              <a:rPr lang="zh-CN" altLang="en-US" sz="1200">
                <a:latin typeface="Arial" charset="0"/>
              </a:rPr>
              <a:pPr eaLnBrk="1" hangingPunct="1"/>
              <a:t>6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9507E7D-49CD-440E-BCD1-E877376E6E76}" type="slidenum">
              <a:rPr lang="zh-CN" altLang="en-US" sz="1200">
                <a:latin typeface="Arial" charset="0"/>
              </a:rPr>
              <a:pPr eaLnBrk="1" hangingPunct="1"/>
              <a:t>9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591600D-3733-461D-807A-0102233BD933}" type="slidenum">
              <a:rPr lang="zh-CN" altLang="en-US" sz="1200">
                <a:latin typeface="Arial" charset="0"/>
              </a:rPr>
              <a:pPr eaLnBrk="1" hangingPunct="1"/>
              <a:t>26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591600D-3733-461D-807A-0102233BD933}" type="slidenum">
              <a:rPr lang="zh-CN" altLang="en-US" sz="1200">
                <a:latin typeface="Arial" charset="0"/>
              </a:rPr>
              <a:pPr eaLnBrk="1" hangingPunct="1"/>
              <a:t>27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447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2">
                    <a:lumMod val="75000"/>
                  </a:schemeClr>
                </a:solidFill>
                <a:latin typeface="+mj-lt"/>
                <a:ea typeface="微软雅黑 Light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0B852-1398-4D2C-AC02-E5F387C12ACE}" type="datetime1">
              <a:rPr lang="en-US" altLang="zh-CN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4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C1C6-BCAB-4C50-8DFD-F9AE245778E5}" type="datetime1">
              <a:rPr lang="en-US" altLang="zh-CN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4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9D0-17F7-461C-A6EA-1D69EB096020}" type="datetime1">
              <a:rPr lang="en-US" altLang="zh-CN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67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A84EC-E101-4078-A668-C54DC0D3FADB}" type="datetime1">
              <a:rPr lang="en-US" altLang="zh-CN" smtClean="0"/>
              <a:t>10/9/2023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53FD1-DCC0-4E49-B4E3-405BAD3286BD}" type="datetime1">
              <a:rPr lang="en-US" altLang="zh-CN" smtClean="0"/>
              <a:t>10/9/2023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24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B410A-7A70-4947-9DE4-6C4B2AC4FC89}" type="datetime1">
              <a:rPr lang="en-US" altLang="zh-CN" smtClean="0"/>
              <a:t>10/9/2023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84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ACC8C-F25A-438B-9AC2-9C997E05C1E0}" type="datetime1">
              <a:rPr lang="en-US" altLang="zh-CN" smtClean="0"/>
              <a:t>10/9/2023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69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74769-5AA2-4E2F-AAC3-B233678D0115}" type="datetime1">
              <a:rPr lang="en-US" altLang="zh-CN" smtClean="0"/>
              <a:t>10/9/2023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222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6DEE-9A88-40C8-951E-5D2CC54AA3CF}" type="datetime1">
              <a:rPr lang="en-US" altLang="zh-CN" smtClean="0"/>
              <a:t>10/9/2023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94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AB47-D7BC-409D-8E32-EBA8114819A6}" type="datetime1">
              <a:rPr lang="en-US" altLang="zh-CN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9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774BA-A3C7-4C5C-981B-A201FB2D1C96}" type="datetime1">
              <a:rPr lang="en-US" altLang="zh-CN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06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75EC5-845C-4CBB-8149-8FEDF387D58D}" type="datetime1">
              <a:rPr lang="en-US" altLang="zh-CN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1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>
              <a:lumMod val="50000"/>
              <a:lumOff val="50000"/>
            </a:schemeClr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liveexample.pearsoncmg.com/liang/animation/animation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ctrTitle"/>
          </p:nvPr>
        </p:nvSpPr>
        <p:spPr>
          <a:xfrm>
            <a:off x="685800" y="1349375"/>
            <a:ext cx="7772400" cy="2232025"/>
          </a:xfrm>
          <a:noFill/>
        </p:spPr>
        <p:txBody>
          <a:bodyPr>
            <a:noAutofit/>
          </a:bodyPr>
          <a:lstStyle/>
          <a:p>
            <a:r>
              <a:rPr lang="en-US" altLang="zh-TW" sz="3200" dirty="0">
                <a:solidFill>
                  <a:schemeClr val="tx1">
                    <a:tint val="75000"/>
                  </a:schemeClr>
                </a:solidFill>
              </a:rPr>
              <a:t>Data Structures and Algorithms</a:t>
            </a:r>
            <a:br>
              <a:rPr lang="en-US" altLang="zh-TW" sz="3200" dirty="0">
                <a:solidFill>
                  <a:schemeClr val="tx1">
                    <a:tint val="75000"/>
                  </a:schemeClr>
                </a:solidFill>
              </a:rPr>
            </a:br>
            <a:br>
              <a:rPr lang="en-US" altLang="zh-TW" sz="4000" b="1" dirty="0">
                <a:ea typeface="PMingLiU" pitchFamily="18" charset="-120"/>
              </a:rPr>
            </a:br>
            <a:r>
              <a:rPr lang="en-US" altLang="zh-TW" sz="2400" b="1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Lecture</a:t>
            </a:r>
            <a:r>
              <a:rPr lang="en-US" altLang="zh-CN" sz="2400" b="1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4</a:t>
            </a:r>
            <a:r>
              <a:rPr lang="en-US" altLang="zh-TW" sz="2400" b="1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  <a:r>
              <a:rPr lang="en-US" altLang="zh-TW" sz="4000" b="1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6600" b="1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Queues</a:t>
            </a:r>
            <a:endParaRPr lang="en-US" altLang="zh-TW" sz="3200" b="1" dirty="0">
              <a:solidFill>
                <a:schemeClr val="bg2">
                  <a:lumMod val="7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914400" y="4267200"/>
            <a:ext cx="7620000" cy="1371600"/>
          </a:xfrm>
          <a:noFill/>
        </p:spPr>
        <p:txBody>
          <a:bodyPr>
            <a:noAutofit/>
          </a:bodyPr>
          <a:lstStyle/>
          <a:p>
            <a:pPr eaLnBrk="1" hangingPunct="1"/>
            <a:r>
              <a:rPr lang="en-US" altLang="zh-CN" sz="2400" dirty="0">
                <a:ea typeface="宋体" pitchFamily="2" charset="-122"/>
              </a:rPr>
              <a:t>Department of Computer Science &amp; Technology</a:t>
            </a:r>
          </a:p>
          <a:p>
            <a:pPr eaLnBrk="1" hangingPunct="1"/>
            <a:r>
              <a:rPr lang="en-US" altLang="zh-CN" sz="2400" dirty="0">
                <a:ea typeface="宋体" pitchFamily="2" charset="-122"/>
              </a:rPr>
              <a:t>United International College</a:t>
            </a:r>
          </a:p>
        </p:txBody>
      </p:sp>
    </p:spTree>
    <p:extLst>
      <p:ext uri="{BB962C8B-B14F-4D97-AF65-F5344CB8AC3E}">
        <p14:creationId xmlns:p14="http://schemas.microsoft.com/office/powerpoint/2010/main" val="542604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Outline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Queue ADT</a:t>
            </a:r>
          </a:p>
          <a:p>
            <a:r>
              <a:rPr lang="en-US" altLang="zh-CN" dirty="0">
                <a:ea typeface="宋体" pitchFamily="2" charset="-122"/>
              </a:rPr>
              <a:t>Basic operations of queue</a:t>
            </a:r>
          </a:p>
          <a:p>
            <a:pPr lvl="1"/>
            <a:r>
              <a:rPr lang="en-US" altLang="zh-CN" dirty="0" err="1">
                <a:ea typeface="宋体" pitchFamily="2" charset="-122"/>
              </a:rPr>
              <a:t>enqueue</a:t>
            </a:r>
            <a:r>
              <a:rPr lang="en-US" altLang="zh-CN" dirty="0">
                <a:ea typeface="宋体" pitchFamily="2" charset="-122"/>
              </a:rPr>
              <a:t>, </a:t>
            </a:r>
            <a:r>
              <a:rPr lang="en-US" altLang="zh-CN" dirty="0" err="1">
                <a:ea typeface="宋体" pitchFamily="2" charset="-122"/>
              </a:rPr>
              <a:t>dequeue</a:t>
            </a:r>
            <a:endParaRPr lang="en-US" altLang="zh-CN" dirty="0"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Applications of queue</a:t>
            </a:r>
          </a:p>
          <a:p>
            <a:r>
              <a:rPr lang="en-US" altLang="zh-CN" dirty="0">
                <a:ea typeface="宋体" pitchFamily="2" charset="-122"/>
              </a:rPr>
              <a:t>Implementation of queue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Array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Linked list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420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Queue ADT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7595084" cy="26670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>
                <a:ea typeface="宋体" pitchFamily="2" charset="-122"/>
              </a:rPr>
              <a:t>Like a stack, a</a:t>
            </a:r>
            <a:r>
              <a:rPr lang="en-US" altLang="zh-CN" i="1" dirty="0">
                <a:solidFill>
                  <a:schemeClr val="hlink"/>
                </a:solidFill>
                <a:ea typeface="宋体" pitchFamily="2" charset="-122"/>
              </a:rPr>
              <a:t> </a:t>
            </a:r>
            <a:r>
              <a:rPr lang="en-US" altLang="zh-CN" i="1" dirty="0">
                <a:solidFill>
                  <a:schemeClr val="accent1"/>
                </a:solidFill>
                <a:ea typeface="宋体" pitchFamily="2" charset="-122"/>
              </a:rPr>
              <a:t>queue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is also a </a:t>
            </a: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list</a:t>
            </a:r>
            <a:r>
              <a:rPr lang="en-US" altLang="zh-CN" dirty="0">
                <a:ea typeface="宋体" pitchFamily="2" charset="-122"/>
              </a:rPr>
              <a:t>.</a:t>
            </a:r>
          </a:p>
          <a:p>
            <a:r>
              <a:rPr lang="en-US" altLang="zh-CN" dirty="0">
                <a:ea typeface="宋体" pitchFamily="2" charset="-122"/>
              </a:rPr>
              <a:t>However, with a queue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insertion is done at one end</a:t>
            </a:r>
          </a:p>
          <a:p>
            <a:pPr lvl="2"/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The rear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while deletion is performed at the other end.</a:t>
            </a:r>
          </a:p>
          <a:p>
            <a:pPr lvl="2"/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The front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14400" y="4671536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dequeue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838200" y="5040868"/>
            <a:ext cx="1143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010400" y="4659868"/>
            <a:ext cx="1180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enqueue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6934201" y="5040868"/>
            <a:ext cx="125633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210904"/>
              </p:ext>
            </p:extLst>
          </p:nvPr>
        </p:nvGraphicFramePr>
        <p:xfrm>
          <a:off x="2057400" y="4478215"/>
          <a:ext cx="4847490" cy="10668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38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8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975338" y="5650468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+mj-lt"/>
              </a:rPr>
              <a:t>front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54451" y="5650468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+mj-lt"/>
              </a:rPr>
              <a:t>rear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1806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Queue Animation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altLang="zh-CN" i="1" dirty="0">
              <a:solidFill>
                <a:schemeClr val="accent1"/>
              </a:solidFill>
              <a:ea typeface="宋体" pitchFamily="2" charset="-122"/>
            </a:endParaRPr>
          </a:p>
          <a:p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ea typeface="宋体" pitchFamily="2" charset="-122"/>
                <a:hlinkClick r:id="rId2"/>
              </a:rPr>
              <a:t>http://liveexample.pearsoncmg.com/liang/animation/animation.html</a:t>
            </a:r>
            <a:endParaRPr lang="en-US" altLang="zh-CN" dirty="0">
              <a:solidFill>
                <a:schemeClr val="bg2">
                  <a:lumMod val="75000"/>
                </a:schemeClr>
              </a:solidFill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Queues are known as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FIFO </a:t>
            </a:r>
            <a:r>
              <a:rPr lang="en-US" altLang="zh-CN" dirty="0">
                <a:ea typeface="宋体" pitchFamily="2" charset="-122"/>
              </a:rPr>
              <a:t>(First In, First Out) lists.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61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ea typeface="宋体" pitchFamily="2" charset="-122"/>
              </a:rPr>
              <a:t>Enqueue</a:t>
            </a:r>
            <a:r>
              <a:rPr lang="en-US" altLang="zh-CN" dirty="0">
                <a:ea typeface="宋体" pitchFamily="2" charset="-122"/>
              </a:rPr>
              <a:t> and </a:t>
            </a:r>
            <a:r>
              <a:rPr lang="en-US" altLang="zh-CN" dirty="0" err="1">
                <a:ea typeface="宋体" pitchFamily="2" charset="-122"/>
              </a:rPr>
              <a:t>Dequeue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7848600" cy="28956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Primary operations: </a:t>
            </a:r>
            <a:r>
              <a:rPr lang="en-US" altLang="zh-CN" dirty="0" err="1">
                <a:solidFill>
                  <a:schemeClr val="accent1"/>
                </a:solidFill>
                <a:ea typeface="宋体" pitchFamily="2" charset="-122"/>
              </a:rPr>
              <a:t>Enqueue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and </a:t>
            </a:r>
            <a:r>
              <a:rPr lang="en-US" altLang="zh-CN" dirty="0" err="1">
                <a:solidFill>
                  <a:schemeClr val="accent1"/>
                </a:solidFill>
                <a:ea typeface="宋体" pitchFamily="2" charset="-122"/>
              </a:rPr>
              <a:t>Dequeue</a:t>
            </a:r>
            <a:endParaRPr lang="en-US" altLang="zh-CN" dirty="0">
              <a:solidFill>
                <a:schemeClr val="accent1"/>
              </a:solidFill>
              <a:ea typeface="宋体" pitchFamily="2" charset="-122"/>
            </a:endParaRPr>
          </a:p>
          <a:p>
            <a:r>
              <a:rPr lang="en-US" altLang="zh-CN" dirty="0" err="1">
                <a:solidFill>
                  <a:schemeClr val="tx2"/>
                </a:solidFill>
                <a:ea typeface="宋体" pitchFamily="2" charset="-122"/>
              </a:rPr>
              <a:t>Enqueue</a:t>
            </a:r>
            <a:endParaRPr lang="en-US" altLang="zh-CN" dirty="0">
              <a:solidFill>
                <a:srgbClr val="00FF00"/>
              </a:solidFill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insert an element at the </a:t>
            </a:r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rear</a:t>
            </a:r>
            <a:r>
              <a:rPr lang="en-US" altLang="zh-CN" dirty="0">
                <a:ea typeface="宋体" pitchFamily="2" charset="-122"/>
              </a:rPr>
              <a:t> of the queue</a:t>
            </a:r>
          </a:p>
          <a:p>
            <a:r>
              <a:rPr lang="en-US" altLang="zh-CN" dirty="0" err="1">
                <a:solidFill>
                  <a:schemeClr val="tx2"/>
                </a:solidFill>
                <a:ea typeface="宋体" pitchFamily="2" charset="-122"/>
              </a:rPr>
              <a:t>Dequeue</a:t>
            </a:r>
            <a:endParaRPr lang="en-US" altLang="zh-CN" dirty="0">
              <a:solidFill>
                <a:schemeClr val="tx2"/>
              </a:solidFill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remove an element from the </a:t>
            </a:r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front</a:t>
            </a:r>
            <a:r>
              <a:rPr lang="en-US" altLang="zh-CN" dirty="0">
                <a:ea typeface="宋体" pitchFamily="2" charset="-122"/>
              </a:rPr>
              <a:t> of the queue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108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ea typeface="宋体" pitchFamily="2" charset="-122"/>
              </a:rPr>
              <a:t>Enqueue</a:t>
            </a:r>
            <a:r>
              <a:rPr lang="en-US" altLang="zh-CN" dirty="0">
                <a:ea typeface="宋体" pitchFamily="2" charset="-122"/>
              </a:rPr>
              <a:t> and </a:t>
            </a:r>
            <a:r>
              <a:rPr lang="en-US" altLang="zh-CN" dirty="0" err="1">
                <a:ea typeface="宋体" pitchFamily="2" charset="-122"/>
              </a:rPr>
              <a:t>Dequeue</a:t>
            </a:r>
            <a:endParaRPr lang="en-US" altLang="zh-CN" dirty="0">
              <a:ea typeface="宋体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827518"/>
              </p:ext>
            </p:extLst>
          </p:nvPr>
        </p:nvGraphicFramePr>
        <p:xfrm>
          <a:off x="1800943" y="2075040"/>
          <a:ext cx="1447800" cy="60960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36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3" name="TextBox 62"/>
          <p:cNvSpPr txBox="1"/>
          <p:nvPr/>
        </p:nvSpPr>
        <p:spPr>
          <a:xfrm>
            <a:off x="1665249" y="2760840"/>
            <a:ext cx="1719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Empty queue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+mj-lt"/>
            </a:endParaRPr>
          </a:p>
        </p:txBody>
      </p:sp>
      <p:graphicFrame>
        <p:nvGraphicFramePr>
          <p:cNvPr id="64" name="表格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265030"/>
              </p:ext>
            </p:extLst>
          </p:nvPr>
        </p:nvGraphicFramePr>
        <p:xfrm>
          <a:off x="3818353" y="2057428"/>
          <a:ext cx="1447800" cy="609600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36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anchorCtr="1"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3765438" y="2743228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bg2">
                    <a:lumMod val="75000"/>
                  </a:schemeClr>
                </a:solidFill>
                <a:latin typeface="+mj-lt"/>
              </a:rPr>
              <a:t>Enqueue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(A)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+mj-lt"/>
            </a:endParaRPr>
          </a:p>
        </p:txBody>
      </p:sp>
      <p:graphicFrame>
        <p:nvGraphicFramePr>
          <p:cNvPr id="66" name="表格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111829"/>
              </p:ext>
            </p:extLst>
          </p:nvPr>
        </p:nvGraphicFramePr>
        <p:xfrm>
          <a:off x="5715000" y="2057400"/>
          <a:ext cx="1447800" cy="609600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36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anchorCtr="1"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" name="TextBox 66"/>
          <p:cNvSpPr txBox="1"/>
          <p:nvPr/>
        </p:nvSpPr>
        <p:spPr>
          <a:xfrm>
            <a:off x="5662085" y="2743200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bg2">
                    <a:lumMod val="75000"/>
                  </a:schemeClr>
                </a:solidFill>
                <a:latin typeface="+mj-lt"/>
              </a:rPr>
              <a:t>Enqueue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(B)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+mj-lt"/>
            </a:endParaRPr>
          </a:p>
        </p:txBody>
      </p:sp>
      <p:graphicFrame>
        <p:nvGraphicFramePr>
          <p:cNvPr id="69" name="表格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848089"/>
              </p:ext>
            </p:extLst>
          </p:nvPr>
        </p:nvGraphicFramePr>
        <p:xfrm>
          <a:off x="1853858" y="3675240"/>
          <a:ext cx="1447800" cy="609600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36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0" name="TextBox 69"/>
          <p:cNvSpPr txBox="1"/>
          <p:nvPr/>
        </p:nvSpPr>
        <p:spPr>
          <a:xfrm>
            <a:off x="1794360" y="4361040"/>
            <a:ext cx="1558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bg2">
                    <a:lumMod val="75000"/>
                  </a:schemeClr>
                </a:solidFill>
                <a:latin typeface="+mj-lt"/>
              </a:rPr>
              <a:t>Enqueue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(C)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+mj-lt"/>
            </a:endParaRPr>
          </a:p>
        </p:txBody>
      </p:sp>
      <p:graphicFrame>
        <p:nvGraphicFramePr>
          <p:cNvPr id="71" name="表格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580842"/>
              </p:ext>
            </p:extLst>
          </p:nvPr>
        </p:nvGraphicFramePr>
        <p:xfrm>
          <a:off x="3844810" y="3657628"/>
          <a:ext cx="1447800" cy="609600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36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anchorCtr="1"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2" name="TextBox 71"/>
          <p:cNvSpPr txBox="1"/>
          <p:nvPr/>
        </p:nvSpPr>
        <p:spPr>
          <a:xfrm>
            <a:off x="3858419" y="4343428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bg2">
                    <a:lumMod val="75000"/>
                  </a:schemeClr>
                </a:solidFill>
                <a:latin typeface="+mj-lt"/>
              </a:rPr>
              <a:t>Dequeue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()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+mj-lt"/>
            </a:endParaRPr>
          </a:p>
        </p:txBody>
      </p:sp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823484"/>
              </p:ext>
            </p:extLst>
          </p:nvPr>
        </p:nvGraphicFramePr>
        <p:xfrm>
          <a:off x="5741457" y="3657600"/>
          <a:ext cx="1447800" cy="609600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36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/>
          <p:cNvSpPr txBox="1"/>
          <p:nvPr/>
        </p:nvSpPr>
        <p:spPr>
          <a:xfrm>
            <a:off x="5755066" y="434340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bg2">
                    <a:lumMod val="75000"/>
                  </a:schemeClr>
                </a:solidFill>
                <a:latin typeface="+mj-lt"/>
              </a:rPr>
              <a:t>Dequeue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()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75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7" grpId="0"/>
      <p:bldP spid="70" grpId="0"/>
      <p:bldP spid="72" grpId="0"/>
      <p:bldP spid="7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Queue Applications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Printer Queue</a:t>
            </a:r>
          </a:p>
          <a:p>
            <a:r>
              <a:rPr lang="en-US" altLang="zh-CN" b="1" dirty="0"/>
              <a:t>Web Crawler</a:t>
            </a:r>
          </a:p>
          <a:p>
            <a:r>
              <a:rPr lang="en-US" altLang="zh-CN" b="1" dirty="0"/>
              <a:t>System Buffer</a:t>
            </a:r>
          </a:p>
          <a:p>
            <a:r>
              <a:rPr lang="en-US" altLang="zh-CN" b="1" dirty="0"/>
              <a:t>Any sequence maintained in a FIFO order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716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Implementation of Queue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2600"/>
          </a:xfrm>
        </p:spPr>
        <p:txBody>
          <a:bodyPr/>
          <a:lstStyle/>
          <a:p>
            <a:r>
              <a:rPr lang="en-US" altLang="zh-CN" dirty="0"/>
              <a:t>Recall the reason why we usually</a:t>
            </a:r>
          </a:p>
          <a:p>
            <a:pPr lvl="1"/>
            <a:r>
              <a:rPr lang="en-US" altLang="zh-CN" dirty="0"/>
              <a:t>implement a </a:t>
            </a:r>
            <a:r>
              <a:rPr lang="en-US" altLang="zh-CN" dirty="0">
                <a:solidFill>
                  <a:schemeClr val="accent1"/>
                </a:solidFill>
              </a:rPr>
              <a:t>list using links</a:t>
            </a:r>
            <a:r>
              <a:rPr lang="en-US" altLang="zh-CN" dirty="0"/>
              <a:t>?</a:t>
            </a:r>
          </a:p>
          <a:p>
            <a:pPr lvl="1"/>
            <a:r>
              <a:rPr lang="en-US" altLang="zh-CN" dirty="0"/>
              <a:t>implement a </a:t>
            </a:r>
            <a:r>
              <a:rPr lang="en-US" altLang="zh-CN" dirty="0">
                <a:solidFill>
                  <a:schemeClr val="accent1"/>
                </a:solidFill>
              </a:rPr>
              <a:t>stack using array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5" name="内容占位符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779986"/>
              </p:ext>
            </p:extLst>
          </p:nvPr>
        </p:nvGraphicFramePr>
        <p:xfrm>
          <a:off x="1447800" y="3810000"/>
          <a:ext cx="6629400" cy="15595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lt"/>
                        </a:rPr>
                        <a:t>Topic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lt"/>
                        </a:rPr>
                        <a:t>Array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lt"/>
                        </a:rPr>
                        <a:t>Linked List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n-lt"/>
                        </a:rPr>
                        <a:t>Efficiency</a:t>
                      </a:r>
                      <a:endParaRPr lang="zh-CN" altLang="en-US" sz="2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+mn-lt"/>
                        </a:rPr>
                        <a:t>Enqueue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+mn-lt"/>
                        </a:rPr>
                        <a:t>Dequeue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2000" dirty="0">
                          <a:latin typeface="+mn-lt"/>
                        </a:rPr>
                        <a:t>space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4752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dirty="0">
                <a:ea typeface="宋体" pitchFamily="2" charset="-122"/>
              </a:rPr>
              <a:t>Queue Implementation Using Array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848600" cy="25146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There are several different algorithms to implement </a:t>
            </a:r>
            <a:r>
              <a:rPr lang="en-US" altLang="zh-CN" dirty="0" err="1">
                <a:solidFill>
                  <a:schemeClr val="accent1"/>
                </a:solidFill>
                <a:ea typeface="宋体" pitchFamily="2" charset="-122"/>
              </a:rPr>
              <a:t>Enqueue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and </a:t>
            </a:r>
            <a:r>
              <a:rPr lang="en-US" altLang="zh-CN" dirty="0" err="1">
                <a:solidFill>
                  <a:schemeClr val="accent1"/>
                </a:solidFill>
                <a:ea typeface="宋体" pitchFamily="2" charset="-122"/>
              </a:rPr>
              <a:t>Dequeue</a:t>
            </a:r>
            <a:endParaRPr lang="en-US" altLang="zh-CN" dirty="0">
              <a:solidFill>
                <a:schemeClr val="accent1"/>
              </a:solidFill>
              <a:ea typeface="宋体" pitchFamily="2" charset="-122"/>
            </a:endParaRPr>
          </a:p>
          <a:p>
            <a:pPr eaLnBrk="1" hangingPunct="1"/>
            <a:r>
              <a:rPr lang="en-US" altLang="zh-CN" dirty="0">
                <a:ea typeface="宋体" pitchFamily="2" charset="-122"/>
              </a:rPr>
              <a:t>Naive way: </a:t>
            </a:r>
            <a:r>
              <a:rPr lang="en-US" altLang="zh-CN" dirty="0" err="1">
                <a:solidFill>
                  <a:schemeClr val="accent1"/>
                </a:solidFill>
                <a:ea typeface="宋体" pitchFamily="2" charset="-122"/>
              </a:rPr>
              <a:t>Enqueue</a:t>
            </a:r>
            <a:endParaRPr lang="en-US" altLang="zh-CN" dirty="0">
              <a:solidFill>
                <a:schemeClr val="accent1"/>
              </a:solidFill>
              <a:ea typeface="宋体" pitchFamily="2" charset="-122"/>
            </a:endParaRP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the 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ea typeface="宋体" pitchFamily="2" charset="-122"/>
              </a:rPr>
              <a:t>front index </a:t>
            </a:r>
            <a:r>
              <a:rPr lang="en-US" altLang="zh-CN" dirty="0">
                <a:ea typeface="宋体" pitchFamily="2" charset="-122"/>
              </a:rPr>
              <a:t>is always fixed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the 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ea typeface="宋体" pitchFamily="2" charset="-122"/>
              </a:rPr>
              <a:t>rear index </a:t>
            </a:r>
            <a:r>
              <a:rPr lang="en-US" altLang="zh-CN" dirty="0">
                <a:ea typeface="宋体" pitchFamily="2" charset="-122"/>
              </a:rPr>
              <a:t>moves forward in the array.</a:t>
            </a:r>
          </a:p>
        </p:txBody>
      </p:sp>
      <p:sp>
        <p:nvSpPr>
          <p:cNvPr id="25606" name="Rectangle 4"/>
          <p:cNvSpPr>
            <a:spLocks noChangeArrowheads="1"/>
          </p:cNvSpPr>
          <p:nvPr/>
        </p:nvSpPr>
        <p:spPr bwMode="auto">
          <a:xfrm>
            <a:off x="838200" y="48006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5607" name="Rectangle 5"/>
          <p:cNvSpPr>
            <a:spLocks noChangeArrowheads="1"/>
          </p:cNvSpPr>
          <p:nvPr/>
        </p:nvSpPr>
        <p:spPr bwMode="auto">
          <a:xfrm>
            <a:off x="1447800" y="48006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25608" name="Rectangle 6"/>
          <p:cNvSpPr>
            <a:spLocks noChangeArrowheads="1"/>
          </p:cNvSpPr>
          <p:nvPr/>
        </p:nvSpPr>
        <p:spPr bwMode="auto">
          <a:xfrm>
            <a:off x="2057400" y="48006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/>
          </a:p>
        </p:txBody>
      </p:sp>
      <p:grpSp>
        <p:nvGrpSpPr>
          <p:cNvPr id="25609" name="Group 12"/>
          <p:cNvGrpSpPr>
            <a:grpSpLocks/>
          </p:cNvGrpSpPr>
          <p:nvPr/>
        </p:nvGrpSpPr>
        <p:grpSpPr bwMode="auto">
          <a:xfrm>
            <a:off x="762000" y="5410200"/>
            <a:ext cx="990600" cy="762000"/>
            <a:chOff x="2928" y="2736"/>
            <a:chExt cx="624" cy="480"/>
          </a:xfrm>
        </p:grpSpPr>
        <p:sp>
          <p:nvSpPr>
            <p:cNvPr id="25640" name="Text Box 7"/>
            <p:cNvSpPr txBox="1">
              <a:spLocks noChangeArrowheads="1"/>
            </p:cNvSpPr>
            <p:nvPr/>
          </p:nvSpPr>
          <p:spPr bwMode="auto">
            <a:xfrm>
              <a:off x="2928" y="296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>
                  <a:solidFill>
                    <a:schemeClr val="accent1"/>
                  </a:solidFill>
                  <a:latin typeface="+mn-lt"/>
                </a:rPr>
                <a:t>front</a:t>
              </a:r>
            </a:p>
          </p:txBody>
        </p:sp>
        <p:sp>
          <p:nvSpPr>
            <p:cNvPr id="25641" name="Line 8"/>
            <p:cNvSpPr>
              <a:spLocks noChangeShapeType="1"/>
            </p:cNvSpPr>
            <p:nvPr/>
          </p:nvSpPr>
          <p:spPr bwMode="auto">
            <a:xfrm flipV="1">
              <a:off x="3168" y="2736"/>
              <a:ext cx="0" cy="288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610" name="Group 11"/>
          <p:cNvGrpSpPr>
            <a:grpSpLocks/>
          </p:cNvGrpSpPr>
          <p:nvPr/>
        </p:nvGrpSpPr>
        <p:grpSpPr bwMode="auto">
          <a:xfrm>
            <a:off x="809625" y="3886200"/>
            <a:ext cx="990600" cy="869950"/>
            <a:chOff x="2974" y="1776"/>
            <a:chExt cx="624" cy="548"/>
          </a:xfrm>
        </p:grpSpPr>
        <p:sp>
          <p:nvSpPr>
            <p:cNvPr id="25638" name="Text Box 9"/>
            <p:cNvSpPr txBox="1">
              <a:spLocks noChangeArrowheads="1"/>
            </p:cNvSpPr>
            <p:nvPr/>
          </p:nvSpPr>
          <p:spPr bwMode="auto">
            <a:xfrm>
              <a:off x="2974" y="177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rear</a:t>
              </a:r>
            </a:p>
          </p:txBody>
        </p:sp>
        <p:sp>
          <p:nvSpPr>
            <p:cNvPr id="25639" name="Line 10"/>
            <p:cNvSpPr>
              <a:spLocks noChangeShapeType="1"/>
            </p:cNvSpPr>
            <p:nvPr/>
          </p:nvSpPr>
          <p:spPr bwMode="auto">
            <a:xfrm>
              <a:off x="3194" y="1988"/>
              <a:ext cx="0" cy="336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611" name="Text Box 14"/>
          <p:cNvSpPr txBox="1">
            <a:spLocks noChangeArrowheads="1"/>
          </p:cNvSpPr>
          <p:nvPr/>
        </p:nvSpPr>
        <p:spPr bwMode="auto">
          <a:xfrm>
            <a:off x="898525" y="6200775"/>
            <a:ext cx="1768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b="1">
                <a:solidFill>
                  <a:schemeClr val="hlink"/>
                </a:solidFill>
                <a:latin typeface="Arial" charset="0"/>
              </a:rPr>
              <a:t>Enqueue(3)</a:t>
            </a:r>
          </a:p>
        </p:txBody>
      </p:sp>
      <p:sp>
        <p:nvSpPr>
          <p:cNvPr id="25613" name="Rectangle 17"/>
          <p:cNvSpPr>
            <a:spLocks noChangeArrowheads="1"/>
          </p:cNvSpPr>
          <p:nvPr/>
        </p:nvSpPr>
        <p:spPr bwMode="auto">
          <a:xfrm>
            <a:off x="3581400" y="48133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5614" name="Rectangle 18"/>
          <p:cNvSpPr>
            <a:spLocks noChangeArrowheads="1"/>
          </p:cNvSpPr>
          <p:nvPr/>
        </p:nvSpPr>
        <p:spPr bwMode="auto">
          <a:xfrm>
            <a:off x="4191000" y="48133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</a:rPr>
              <a:t>6</a:t>
            </a:r>
            <a:endParaRPr lang="zh-CN" alt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615" name="Rectangle 19"/>
          <p:cNvSpPr>
            <a:spLocks noChangeArrowheads="1"/>
          </p:cNvSpPr>
          <p:nvPr/>
        </p:nvSpPr>
        <p:spPr bwMode="auto">
          <a:xfrm>
            <a:off x="4800600" y="48133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/>
          </a:p>
        </p:txBody>
      </p:sp>
      <p:grpSp>
        <p:nvGrpSpPr>
          <p:cNvPr id="25616" name="Group 20"/>
          <p:cNvGrpSpPr>
            <a:grpSpLocks/>
          </p:cNvGrpSpPr>
          <p:nvPr/>
        </p:nvGrpSpPr>
        <p:grpSpPr bwMode="auto">
          <a:xfrm>
            <a:off x="3505200" y="5422900"/>
            <a:ext cx="990600" cy="762000"/>
            <a:chOff x="2928" y="2736"/>
            <a:chExt cx="624" cy="480"/>
          </a:xfrm>
        </p:grpSpPr>
        <p:sp>
          <p:nvSpPr>
            <p:cNvPr id="25636" name="Text Box 21"/>
            <p:cNvSpPr txBox="1">
              <a:spLocks noChangeArrowheads="1"/>
            </p:cNvSpPr>
            <p:nvPr/>
          </p:nvSpPr>
          <p:spPr bwMode="auto">
            <a:xfrm>
              <a:off x="2928" y="296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>
                  <a:solidFill>
                    <a:schemeClr val="accent1"/>
                  </a:solidFill>
                  <a:latin typeface="+mn-lt"/>
                </a:rPr>
                <a:t>front</a:t>
              </a:r>
            </a:p>
          </p:txBody>
        </p:sp>
        <p:sp>
          <p:nvSpPr>
            <p:cNvPr id="25637" name="Line 22"/>
            <p:cNvSpPr>
              <a:spLocks noChangeShapeType="1"/>
            </p:cNvSpPr>
            <p:nvPr/>
          </p:nvSpPr>
          <p:spPr bwMode="auto">
            <a:xfrm flipV="1">
              <a:off x="3168" y="2736"/>
              <a:ext cx="0" cy="288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617" name="Group 23"/>
          <p:cNvGrpSpPr>
            <a:grpSpLocks/>
          </p:cNvGrpSpPr>
          <p:nvPr/>
        </p:nvGrpSpPr>
        <p:grpSpPr bwMode="auto">
          <a:xfrm>
            <a:off x="4191000" y="3898900"/>
            <a:ext cx="990600" cy="869950"/>
            <a:chOff x="2974" y="1776"/>
            <a:chExt cx="624" cy="548"/>
          </a:xfrm>
        </p:grpSpPr>
        <p:sp>
          <p:nvSpPr>
            <p:cNvPr id="25634" name="Text Box 24"/>
            <p:cNvSpPr txBox="1">
              <a:spLocks noChangeArrowheads="1"/>
            </p:cNvSpPr>
            <p:nvPr/>
          </p:nvSpPr>
          <p:spPr bwMode="auto">
            <a:xfrm>
              <a:off x="2974" y="177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>
                  <a:solidFill>
                    <a:schemeClr val="accent1"/>
                  </a:solidFill>
                  <a:latin typeface="+mn-lt"/>
                </a:rPr>
                <a:t>rear</a:t>
              </a:r>
            </a:p>
          </p:txBody>
        </p:sp>
        <p:sp>
          <p:nvSpPr>
            <p:cNvPr id="25635" name="Line 25"/>
            <p:cNvSpPr>
              <a:spLocks noChangeShapeType="1"/>
            </p:cNvSpPr>
            <p:nvPr/>
          </p:nvSpPr>
          <p:spPr bwMode="auto">
            <a:xfrm>
              <a:off x="3194" y="1988"/>
              <a:ext cx="0" cy="336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618" name="Text Box 26"/>
          <p:cNvSpPr txBox="1">
            <a:spLocks noChangeArrowheads="1"/>
          </p:cNvSpPr>
          <p:nvPr/>
        </p:nvSpPr>
        <p:spPr bwMode="auto">
          <a:xfrm>
            <a:off x="3641725" y="6213475"/>
            <a:ext cx="1768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b="1">
                <a:solidFill>
                  <a:schemeClr val="hlink"/>
                </a:solidFill>
                <a:latin typeface="Arial" charset="0"/>
              </a:rPr>
              <a:t>Enqueue(6)</a:t>
            </a:r>
          </a:p>
        </p:txBody>
      </p:sp>
      <p:sp>
        <p:nvSpPr>
          <p:cNvPr id="25621" name="Rectangle 29"/>
          <p:cNvSpPr>
            <a:spLocks noChangeArrowheads="1"/>
          </p:cNvSpPr>
          <p:nvPr/>
        </p:nvSpPr>
        <p:spPr bwMode="auto">
          <a:xfrm>
            <a:off x="6400800" y="48006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5622" name="Rectangle 30"/>
          <p:cNvSpPr>
            <a:spLocks noChangeArrowheads="1"/>
          </p:cNvSpPr>
          <p:nvPr/>
        </p:nvSpPr>
        <p:spPr bwMode="auto">
          <a:xfrm>
            <a:off x="7010400" y="48006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5623" name="Rectangle 31"/>
          <p:cNvSpPr>
            <a:spLocks noChangeArrowheads="1"/>
          </p:cNvSpPr>
          <p:nvPr/>
        </p:nvSpPr>
        <p:spPr bwMode="auto">
          <a:xfrm>
            <a:off x="7620000" y="48006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</a:rPr>
              <a:t>9</a:t>
            </a:r>
            <a:endParaRPr lang="zh-CN" alt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25624" name="Group 32"/>
          <p:cNvGrpSpPr>
            <a:grpSpLocks/>
          </p:cNvGrpSpPr>
          <p:nvPr/>
        </p:nvGrpSpPr>
        <p:grpSpPr bwMode="auto">
          <a:xfrm>
            <a:off x="6324600" y="5410200"/>
            <a:ext cx="990600" cy="762000"/>
            <a:chOff x="2928" y="2736"/>
            <a:chExt cx="624" cy="480"/>
          </a:xfrm>
        </p:grpSpPr>
        <p:sp>
          <p:nvSpPr>
            <p:cNvPr id="25632" name="Text Box 33"/>
            <p:cNvSpPr txBox="1">
              <a:spLocks noChangeArrowheads="1"/>
            </p:cNvSpPr>
            <p:nvPr/>
          </p:nvSpPr>
          <p:spPr bwMode="auto">
            <a:xfrm>
              <a:off x="2928" y="296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>
                  <a:solidFill>
                    <a:schemeClr val="accent1"/>
                  </a:solidFill>
                  <a:latin typeface="+mn-lt"/>
                </a:rPr>
                <a:t>front</a:t>
              </a:r>
            </a:p>
          </p:txBody>
        </p:sp>
        <p:sp>
          <p:nvSpPr>
            <p:cNvPr id="25633" name="Line 34"/>
            <p:cNvSpPr>
              <a:spLocks noChangeShapeType="1"/>
            </p:cNvSpPr>
            <p:nvPr/>
          </p:nvSpPr>
          <p:spPr bwMode="auto">
            <a:xfrm flipV="1">
              <a:off x="3168" y="2736"/>
              <a:ext cx="0" cy="288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625" name="Group 35"/>
          <p:cNvGrpSpPr>
            <a:grpSpLocks/>
          </p:cNvGrpSpPr>
          <p:nvPr/>
        </p:nvGrpSpPr>
        <p:grpSpPr bwMode="auto">
          <a:xfrm>
            <a:off x="7543800" y="3886200"/>
            <a:ext cx="990600" cy="869950"/>
            <a:chOff x="2974" y="1776"/>
            <a:chExt cx="624" cy="548"/>
          </a:xfrm>
        </p:grpSpPr>
        <p:sp>
          <p:nvSpPr>
            <p:cNvPr id="25630" name="Text Box 36"/>
            <p:cNvSpPr txBox="1">
              <a:spLocks noChangeArrowheads="1"/>
            </p:cNvSpPr>
            <p:nvPr/>
          </p:nvSpPr>
          <p:spPr bwMode="auto">
            <a:xfrm>
              <a:off x="2974" y="177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>
                  <a:solidFill>
                    <a:schemeClr val="accent1"/>
                  </a:solidFill>
                  <a:latin typeface="+mn-lt"/>
                </a:rPr>
                <a:t>rear</a:t>
              </a:r>
            </a:p>
          </p:txBody>
        </p:sp>
        <p:sp>
          <p:nvSpPr>
            <p:cNvPr id="25631" name="Line 37"/>
            <p:cNvSpPr>
              <a:spLocks noChangeShapeType="1"/>
            </p:cNvSpPr>
            <p:nvPr/>
          </p:nvSpPr>
          <p:spPr bwMode="auto">
            <a:xfrm>
              <a:off x="3194" y="1988"/>
              <a:ext cx="0" cy="336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626" name="Text Box 38"/>
          <p:cNvSpPr txBox="1">
            <a:spLocks noChangeArrowheads="1"/>
          </p:cNvSpPr>
          <p:nvPr/>
        </p:nvSpPr>
        <p:spPr bwMode="auto">
          <a:xfrm>
            <a:off x="6461125" y="6200775"/>
            <a:ext cx="1768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b="1">
                <a:solidFill>
                  <a:schemeClr val="hlink"/>
                </a:solidFill>
                <a:latin typeface="Arial" charset="0"/>
              </a:rPr>
              <a:t>Enqueue(9)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22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6" grpId="0" animBg="1"/>
      <p:bldP spid="25607" grpId="0" animBg="1"/>
      <p:bldP spid="25608" grpId="0" animBg="1"/>
      <p:bldP spid="25611" grpId="0"/>
      <p:bldP spid="25613" grpId="0" animBg="1"/>
      <p:bldP spid="25614" grpId="0" animBg="1"/>
      <p:bldP spid="25615" grpId="0" animBg="1"/>
      <p:bldP spid="25618" grpId="0"/>
      <p:bldP spid="25621" grpId="0" animBg="1"/>
      <p:bldP spid="25622" grpId="0" animBg="1"/>
      <p:bldP spid="25623" grpId="0" animBg="1"/>
      <p:bldP spid="256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33" name="Picture 9" descr="d:\Desktop\Perfect-scor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8752" y="2057400"/>
            <a:ext cx="10002489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67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dirty="0"/>
              <a:t>Queue Implementation Using Array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33599"/>
          </a:xfrm>
        </p:spPr>
        <p:txBody>
          <a:bodyPr>
            <a:normAutofit fontScale="92500"/>
          </a:bodyPr>
          <a:lstStyle/>
          <a:p>
            <a:r>
              <a:rPr lang="en-US" altLang="zh-CN" dirty="0">
                <a:ea typeface="宋体" pitchFamily="2" charset="-122"/>
              </a:rPr>
              <a:t>Naive way: </a:t>
            </a:r>
            <a:r>
              <a:rPr lang="en-US" altLang="zh-CN" dirty="0" err="1">
                <a:solidFill>
                  <a:schemeClr val="accent1"/>
                </a:solidFill>
                <a:ea typeface="宋体" pitchFamily="2" charset="-122"/>
              </a:rPr>
              <a:t>Dequeue</a:t>
            </a:r>
            <a:endParaRPr lang="en-US" altLang="zh-CN" dirty="0">
              <a:solidFill>
                <a:schemeClr val="accent1"/>
              </a:solidFill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the front index is fixed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the element at the front the queue is removed</a:t>
            </a:r>
          </a:p>
          <a:p>
            <a:pPr lvl="1"/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ea typeface="宋体" pitchFamily="2" charset="-122"/>
              </a:rPr>
              <a:t>Move all the elements after it by one position.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38200" y="48006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447800" y="48006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057400" y="48006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/>
          </a:p>
        </p:txBody>
      </p:sp>
      <p:grpSp>
        <p:nvGrpSpPr>
          <p:cNvPr id="9" name="Group 12"/>
          <p:cNvGrpSpPr>
            <a:grpSpLocks/>
          </p:cNvGrpSpPr>
          <p:nvPr/>
        </p:nvGrpSpPr>
        <p:grpSpPr bwMode="auto">
          <a:xfrm>
            <a:off x="762000" y="5410200"/>
            <a:ext cx="990600" cy="762000"/>
            <a:chOff x="2928" y="2736"/>
            <a:chExt cx="624" cy="480"/>
          </a:xfrm>
        </p:grpSpPr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2928" y="296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>
                  <a:solidFill>
                    <a:schemeClr val="accent1"/>
                  </a:solidFill>
                  <a:latin typeface="+mn-lt"/>
                </a:rPr>
                <a:t>front</a:t>
              </a:r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 flipV="1">
              <a:off x="3168" y="2736"/>
              <a:ext cx="0" cy="288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1371600" y="3886200"/>
            <a:ext cx="990600" cy="869950"/>
            <a:chOff x="2974" y="1776"/>
            <a:chExt cx="624" cy="548"/>
          </a:xfrm>
        </p:grpSpPr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2974" y="177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rear</a:t>
              </a:r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3194" y="1988"/>
              <a:ext cx="0" cy="336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898525" y="6200775"/>
            <a:ext cx="1768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b="1" dirty="0" err="1">
                <a:solidFill>
                  <a:schemeClr val="hlink"/>
                </a:solidFill>
                <a:latin typeface="Arial" charset="0"/>
              </a:rPr>
              <a:t>Dequeue</a:t>
            </a:r>
            <a:r>
              <a:rPr lang="en-US" altLang="zh-CN" sz="2000" b="1" dirty="0">
                <a:solidFill>
                  <a:schemeClr val="hlink"/>
                </a:solidFill>
                <a:latin typeface="Arial" charset="0"/>
              </a:rPr>
              <a:t>()</a:t>
            </a:r>
          </a:p>
        </p:txBody>
      </p: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3581400" y="48133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4191000" y="48133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4800600" y="48133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/>
          </a:p>
        </p:txBody>
      </p:sp>
      <p:grpSp>
        <p:nvGrpSpPr>
          <p:cNvPr id="19" name="Group 20"/>
          <p:cNvGrpSpPr>
            <a:grpSpLocks/>
          </p:cNvGrpSpPr>
          <p:nvPr/>
        </p:nvGrpSpPr>
        <p:grpSpPr bwMode="auto">
          <a:xfrm>
            <a:off x="3505200" y="5422900"/>
            <a:ext cx="990600" cy="762000"/>
            <a:chOff x="2928" y="2736"/>
            <a:chExt cx="624" cy="480"/>
          </a:xfrm>
        </p:grpSpPr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2928" y="296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>
                  <a:solidFill>
                    <a:schemeClr val="accent1"/>
                  </a:solidFill>
                  <a:latin typeface="+mn-lt"/>
                </a:rPr>
                <a:t>front</a:t>
              </a:r>
            </a:p>
          </p:txBody>
        </p:sp>
        <p:sp>
          <p:nvSpPr>
            <p:cNvPr id="21" name="Line 22"/>
            <p:cNvSpPr>
              <a:spLocks noChangeShapeType="1"/>
            </p:cNvSpPr>
            <p:nvPr/>
          </p:nvSpPr>
          <p:spPr bwMode="auto">
            <a:xfrm flipV="1">
              <a:off x="3168" y="2736"/>
              <a:ext cx="0" cy="288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23"/>
          <p:cNvGrpSpPr>
            <a:grpSpLocks/>
          </p:cNvGrpSpPr>
          <p:nvPr/>
        </p:nvGrpSpPr>
        <p:grpSpPr bwMode="auto">
          <a:xfrm>
            <a:off x="3505200" y="3898900"/>
            <a:ext cx="990600" cy="869950"/>
            <a:chOff x="2974" y="1776"/>
            <a:chExt cx="624" cy="548"/>
          </a:xfrm>
        </p:grpSpPr>
        <p:sp>
          <p:nvSpPr>
            <p:cNvPr id="23" name="Text Box 24"/>
            <p:cNvSpPr txBox="1">
              <a:spLocks noChangeArrowheads="1"/>
            </p:cNvSpPr>
            <p:nvPr/>
          </p:nvSpPr>
          <p:spPr bwMode="auto">
            <a:xfrm>
              <a:off x="2974" y="177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rear</a:t>
              </a:r>
            </a:p>
          </p:txBody>
        </p:sp>
        <p:sp>
          <p:nvSpPr>
            <p:cNvPr id="24" name="Line 25"/>
            <p:cNvSpPr>
              <a:spLocks noChangeShapeType="1"/>
            </p:cNvSpPr>
            <p:nvPr/>
          </p:nvSpPr>
          <p:spPr bwMode="auto">
            <a:xfrm>
              <a:off x="3194" y="1988"/>
              <a:ext cx="0" cy="336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3641725" y="6213475"/>
            <a:ext cx="1768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b="1" dirty="0" err="1">
                <a:solidFill>
                  <a:schemeClr val="hlink"/>
                </a:solidFill>
                <a:latin typeface="Arial" charset="0"/>
              </a:rPr>
              <a:t>Dequeue</a:t>
            </a:r>
            <a:r>
              <a:rPr lang="en-US" altLang="zh-CN" sz="2000" b="1" dirty="0">
                <a:solidFill>
                  <a:schemeClr val="hlink"/>
                </a:solidFill>
                <a:latin typeface="Arial" charset="0"/>
              </a:rPr>
              <a:t>()</a:t>
            </a:r>
          </a:p>
        </p:txBody>
      </p:sp>
      <p:sp>
        <p:nvSpPr>
          <p:cNvPr id="26" name="Rectangle 29"/>
          <p:cNvSpPr>
            <a:spLocks noChangeArrowheads="1"/>
          </p:cNvSpPr>
          <p:nvPr/>
        </p:nvSpPr>
        <p:spPr bwMode="auto">
          <a:xfrm>
            <a:off x="6400800" y="48006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 dirty="0"/>
          </a:p>
        </p:txBody>
      </p:sp>
      <p:sp>
        <p:nvSpPr>
          <p:cNvPr id="27" name="Rectangle 30"/>
          <p:cNvSpPr>
            <a:spLocks noChangeArrowheads="1"/>
          </p:cNvSpPr>
          <p:nvPr/>
        </p:nvSpPr>
        <p:spPr bwMode="auto">
          <a:xfrm>
            <a:off x="7010400" y="48006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 dirty="0"/>
          </a:p>
        </p:txBody>
      </p:sp>
      <p:sp>
        <p:nvSpPr>
          <p:cNvPr id="28" name="Rectangle 31"/>
          <p:cNvSpPr>
            <a:spLocks noChangeArrowheads="1"/>
          </p:cNvSpPr>
          <p:nvPr/>
        </p:nvSpPr>
        <p:spPr bwMode="auto">
          <a:xfrm>
            <a:off x="7620000" y="48006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29" name="Group 32"/>
          <p:cNvGrpSpPr>
            <a:grpSpLocks/>
          </p:cNvGrpSpPr>
          <p:nvPr/>
        </p:nvGrpSpPr>
        <p:grpSpPr bwMode="auto">
          <a:xfrm>
            <a:off x="6324600" y="5410200"/>
            <a:ext cx="990600" cy="762000"/>
            <a:chOff x="2928" y="2736"/>
            <a:chExt cx="624" cy="480"/>
          </a:xfrm>
        </p:grpSpPr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2928" y="296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>
                  <a:solidFill>
                    <a:schemeClr val="accent1"/>
                  </a:solidFill>
                  <a:latin typeface="+mn-lt"/>
                </a:rPr>
                <a:t>front</a:t>
              </a:r>
            </a:p>
          </p:txBody>
        </p:sp>
        <p:sp>
          <p:nvSpPr>
            <p:cNvPr id="31" name="Line 34"/>
            <p:cNvSpPr>
              <a:spLocks noChangeShapeType="1"/>
            </p:cNvSpPr>
            <p:nvPr/>
          </p:nvSpPr>
          <p:spPr bwMode="auto">
            <a:xfrm flipV="1">
              <a:off x="3168" y="2736"/>
              <a:ext cx="0" cy="288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2" name="Group 35"/>
          <p:cNvGrpSpPr>
            <a:grpSpLocks/>
          </p:cNvGrpSpPr>
          <p:nvPr/>
        </p:nvGrpSpPr>
        <p:grpSpPr bwMode="auto">
          <a:xfrm>
            <a:off x="5639166" y="3886200"/>
            <a:ext cx="1143000" cy="869950"/>
            <a:chOff x="2891" y="1776"/>
            <a:chExt cx="624" cy="548"/>
          </a:xfrm>
        </p:grpSpPr>
        <p:sp>
          <p:nvSpPr>
            <p:cNvPr id="33" name="Text Box 36"/>
            <p:cNvSpPr txBox="1">
              <a:spLocks noChangeArrowheads="1"/>
            </p:cNvSpPr>
            <p:nvPr/>
          </p:nvSpPr>
          <p:spPr bwMode="auto">
            <a:xfrm>
              <a:off x="2891" y="1776"/>
              <a:ext cx="624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rear=-1</a:t>
              </a:r>
            </a:p>
          </p:txBody>
        </p:sp>
        <p:sp>
          <p:nvSpPr>
            <p:cNvPr id="34" name="Line 37"/>
            <p:cNvSpPr>
              <a:spLocks noChangeShapeType="1"/>
            </p:cNvSpPr>
            <p:nvPr/>
          </p:nvSpPr>
          <p:spPr bwMode="auto">
            <a:xfrm>
              <a:off x="3194" y="1988"/>
              <a:ext cx="0" cy="336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6461125" y="6200775"/>
            <a:ext cx="1768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b="1" dirty="0" err="1">
                <a:solidFill>
                  <a:schemeClr val="hlink"/>
                </a:solidFill>
                <a:latin typeface="Arial" charset="0"/>
              </a:rPr>
              <a:t>Dequeue</a:t>
            </a:r>
            <a:r>
              <a:rPr lang="en-US" altLang="zh-CN" sz="2000" b="1" dirty="0">
                <a:solidFill>
                  <a:schemeClr val="hlink"/>
                </a:solidFill>
                <a:latin typeface="Arial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09178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5" grpId="0"/>
      <p:bldP spid="16" grpId="0" animBg="1"/>
      <p:bldP spid="17" grpId="0" animBg="1"/>
      <p:bldP spid="18" grpId="0" animBg="1"/>
      <p:bldP spid="25" grpId="0"/>
      <p:bldP spid="26" grpId="0" animBg="1"/>
      <p:bldP spid="27" grpId="0" animBg="1"/>
      <p:bldP spid="28" grpId="0" animBg="1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762000" y="2644775"/>
            <a:ext cx="7772400" cy="1470025"/>
          </a:xfrm>
        </p:spPr>
        <p:txBody>
          <a:bodyPr/>
          <a:lstStyle/>
          <a:p>
            <a:r>
              <a:rPr lang="en-US" altLang="zh-CN" sz="8000" dirty="0"/>
              <a:t>NO GOOD</a:t>
            </a:r>
            <a:endParaRPr lang="zh-CN" altLang="en-US" sz="8000" dirty="0"/>
          </a:p>
        </p:txBody>
      </p:sp>
    </p:spTree>
    <p:extLst>
      <p:ext uri="{BB962C8B-B14F-4D97-AF65-F5344CB8AC3E}">
        <p14:creationId xmlns:p14="http://schemas.microsoft.com/office/powerpoint/2010/main" val="2553925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A Better Array Implementation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When an item is </a:t>
            </a:r>
            <a:r>
              <a:rPr lang="en-US" altLang="zh-CN" dirty="0" err="1">
                <a:solidFill>
                  <a:schemeClr val="accent1"/>
                </a:solidFill>
                <a:ea typeface="宋体" pitchFamily="2" charset="-122"/>
              </a:rPr>
              <a:t>enqueued</a:t>
            </a:r>
            <a:r>
              <a:rPr lang="en-US" altLang="zh-CN" dirty="0">
                <a:ea typeface="宋体" pitchFamily="2" charset="-122"/>
              </a:rPr>
              <a:t>, the 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ea typeface="宋体" pitchFamily="2" charset="-122"/>
              </a:rPr>
              <a:t>rear index </a:t>
            </a:r>
            <a:r>
              <a:rPr lang="en-US" altLang="zh-CN" dirty="0">
                <a:ea typeface="宋体" pitchFamily="2" charset="-122"/>
              </a:rPr>
              <a:t>moves forward.</a:t>
            </a:r>
          </a:p>
          <a:p>
            <a:r>
              <a:rPr lang="en-US" altLang="zh-CN" dirty="0">
                <a:ea typeface="宋体" pitchFamily="2" charset="-122"/>
              </a:rPr>
              <a:t>When an item is </a:t>
            </a:r>
            <a:r>
              <a:rPr lang="en-US" altLang="zh-CN" dirty="0" err="1">
                <a:solidFill>
                  <a:schemeClr val="accent1"/>
                </a:solidFill>
                <a:ea typeface="宋体" pitchFamily="2" charset="-122"/>
              </a:rPr>
              <a:t>dequeued</a:t>
            </a:r>
            <a:r>
              <a:rPr lang="en-US" altLang="zh-CN" dirty="0">
                <a:ea typeface="宋体" pitchFamily="2" charset="-122"/>
              </a:rPr>
              <a:t>, the 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ea typeface="宋体" pitchFamily="2" charset="-122"/>
              </a:rPr>
              <a:t>front index </a:t>
            </a:r>
            <a:r>
              <a:rPr lang="en-US" altLang="zh-CN" dirty="0">
                <a:ea typeface="宋体" pitchFamily="2" charset="-122"/>
              </a:rPr>
              <a:t>also moves forward by one element </a:t>
            </a:r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200" y="48006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447800" y="48006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057400" y="48006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9</a:t>
            </a:r>
            <a:endParaRPr lang="zh-CN" altLang="en-US" dirty="0"/>
          </a:p>
        </p:txBody>
      </p:sp>
      <p:grpSp>
        <p:nvGrpSpPr>
          <p:cNvPr id="8" name="Group 12"/>
          <p:cNvGrpSpPr>
            <a:grpSpLocks/>
          </p:cNvGrpSpPr>
          <p:nvPr/>
        </p:nvGrpSpPr>
        <p:grpSpPr bwMode="auto">
          <a:xfrm>
            <a:off x="1395535" y="5451475"/>
            <a:ext cx="990600" cy="762000"/>
            <a:chOff x="2928" y="2736"/>
            <a:chExt cx="624" cy="480"/>
          </a:xfrm>
        </p:grpSpPr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2928" y="296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front</a:t>
              </a: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 flipV="1">
              <a:off x="3168" y="2736"/>
              <a:ext cx="0" cy="288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1981200" y="3886200"/>
            <a:ext cx="990600" cy="869950"/>
            <a:chOff x="2974" y="1776"/>
            <a:chExt cx="624" cy="548"/>
          </a:xfrm>
        </p:grpSpPr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2974" y="177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rear</a:t>
              </a: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3194" y="1988"/>
              <a:ext cx="0" cy="336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898525" y="6200775"/>
            <a:ext cx="1768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b="1" dirty="0" err="1">
                <a:solidFill>
                  <a:schemeClr val="hlink"/>
                </a:solidFill>
                <a:latin typeface="Arial" charset="0"/>
              </a:rPr>
              <a:t>Dequeue</a:t>
            </a:r>
            <a:r>
              <a:rPr lang="en-US" altLang="zh-CN" sz="2000" b="1" dirty="0">
                <a:solidFill>
                  <a:schemeClr val="hlink"/>
                </a:solidFill>
                <a:latin typeface="Arial" charset="0"/>
              </a:rPr>
              <a:t>()</a:t>
            </a:r>
          </a:p>
        </p:txBody>
      </p: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3581400" y="48133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 dirty="0"/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4191000" y="48133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7" name="Rectangle 19"/>
          <p:cNvSpPr>
            <a:spLocks noChangeArrowheads="1"/>
          </p:cNvSpPr>
          <p:nvPr/>
        </p:nvSpPr>
        <p:spPr bwMode="auto">
          <a:xfrm>
            <a:off x="4800600" y="48133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9</a:t>
            </a:r>
            <a:endParaRPr lang="zh-CN" altLang="en-US" dirty="0"/>
          </a:p>
        </p:txBody>
      </p:sp>
      <p:grpSp>
        <p:nvGrpSpPr>
          <p:cNvPr id="18" name="Group 20"/>
          <p:cNvGrpSpPr>
            <a:grpSpLocks/>
          </p:cNvGrpSpPr>
          <p:nvPr/>
        </p:nvGrpSpPr>
        <p:grpSpPr bwMode="auto">
          <a:xfrm>
            <a:off x="4724400" y="5463931"/>
            <a:ext cx="990600" cy="762000"/>
            <a:chOff x="2928" y="2736"/>
            <a:chExt cx="624" cy="480"/>
          </a:xfrm>
        </p:grpSpPr>
        <p:sp>
          <p:nvSpPr>
            <p:cNvPr id="19" name="Text Box 21"/>
            <p:cNvSpPr txBox="1">
              <a:spLocks noChangeArrowheads="1"/>
            </p:cNvSpPr>
            <p:nvPr/>
          </p:nvSpPr>
          <p:spPr bwMode="auto">
            <a:xfrm>
              <a:off x="2928" y="296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>
                  <a:solidFill>
                    <a:schemeClr val="accent1"/>
                  </a:solidFill>
                  <a:latin typeface="+mn-lt"/>
                </a:rPr>
                <a:t>front</a:t>
              </a:r>
            </a:p>
          </p:txBody>
        </p:sp>
        <p:sp>
          <p:nvSpPr>
            <p:cNvPr id="20" name="Line 22"/>
            <p:cNvSpPr>
              <a:spLocks noChangeShapeType="1"/>
            </p:cNvSpPr>
            <p:nvPr/>
          </p:nvSpPr>
          <p:spPr bwMode="auto">
            <a:xfrm flipV="1">
              <a:off x="3168" y="2736"/>
              <a:ext cx="0" cy="288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23"/>
          <p:cNvGrpSpPr>
            <a:grpSpLocks/>
          </p:cNvGrpSpPr>
          <p:nvPr/>
        </p:nvGrpSpPr>
        <p:grpSpPr bwMode="auto">
          <a:xfrm>
            <a:off x="4724400" y="3886200"/>
            <a:ext cx="990600" cy="869950"/>
            <a:chOff x="2974" y="1776"/>
            <a:chExt cx="624" cy="548"/>
          </a:xfrm>
        </p:grpSpPr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2974" y="177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rear</a:t>
              </a:r>
            </a:p>
          </p:txBody>
        </p:sp>
        <p:sp>
          <p:nvSpPr>
            <p:cNvPr id="23" name="Line 25"/>
            <p:cNvSpPr>
              <a:spLocks noChangeShapeType="1"/>
            </p:cNvSpPr>
            <p:nvPr/>
          </p:nvSpPr>
          <p:spPr bwMode="auto">
            <a:xfrm>
              <a:off x="3194" y="1988"/>
              <a:ext cx="0" cy="336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" name="Text Box 26"/>
          <p:cNvSpPr txBox="1">
            <a:spLocks noChangeArrowheads="1"/>
          </p:cNvSpPr>
          <p:nvPr/>
        </p:nvSpPr>
        <p:spPr bwMode="auto">
          <a:xfrm>
            <a:off x="3641725" y="6213475"/>
            <a:ext cx="1768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b="1" dirty="0" err="1">
                <a:solidFill>
                  <a:schemeClr val="hlink"/>
                </a:solidFill>
                <a:latin typeface="Arial" charset="0"/>
              </a:rPr>
              <a:t>Dequeue</a:t>
            </a:r>
            <a:r>
              <a:rPr lang="en-US" altLang="zh-CN" sz="2000" b="1" dirty="0">
                <a:solidFill>
                  <a:schemeClr val="hlink"/>
                </a:solidFill>
                <a:latin typeface="Arial" charset="0"/>
              </a:rPr>
              <a:t>()</a:t>
            </a:r>
          </a:p>
        </p:txBody>
      </p:sp>
      <p:sp>
        <p:nvSpPr>
          <p:cNvPr id="25" name="Rectangle 29"/>
          <p:cNvSpPr>
            <a:spLocks noChangeArrowheads="1"/>
          </p:cNvSpPr>
          <p:nvPr/>
        </p:nvSpPr>
        <p:spPr bwMode="auto">
          <a:xfrm>
            <a:off x="6400800" y="48006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 dirty="0"/>
          </a:p>
        </p:txBody>
      </p:sp>
      <p:sp>
        <p:nvSpPr>
          <p:cNvPr id="26" name="Rectangle 30"/>
          <p:cNvSpPr>
            <a:spLocks noChangeArrowheads="1"/>
          </p:cNvSpPr>
          <p:nvPr/>
        </p:nvSpPr>
        <p:spPr bwMode="auto">
          <a:xfrm>
            <a:off x="7010400" y="48006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 dirty="0"/>
          </a:p>
        </p:txBody>
      </p:sp>
      <p:sp>
        <p:nvSpPr>
          <p:cNvPr id="27" name="Rectangle 31"/>
          <p:cNvSpPr>
            <a:spLocks noChangeArrowheads="1"/>
          </p:cNvSpPr>
          <p:nvPr/>
        </p:nvSpPr>
        <p:spPr bwMode="auto">
          <a:xfrm>
            <a:off x="7620000" y="48006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28" name="Group 32"/>
          <p:cNvGrpSpPr>
            <a:grpSpLocks/>
          </p:cNvGrpSpPr>
          <p:nvPr/>
        </p:nvGrpSpPr>
        <p:grpSpPr bwMode="auto">
          <a:xfrm>
            <a:off x="7861177" y="5435600"/>
            <a:ext cx="1740023" cy="1073150"/>
            <a:chOff x="2928" y="2736"/>
            <a:chExt cx="624" cy="676"/>
          </a:xfrm>
        </p:grpSpPr>
        <p:sp>
          <p:nvSpPr>
            <p:cNvPr id="29" name="Text Box 33"/>
            <p:cNvSpPr txBox="1">
              <a:spLocks noChangeArrowheads="1"/>
            </p:cNvSpPr>
            <p:nvPr/>
          </p:nvSpPr>
          <p:spPr bwMode="auto">
            <a:xfrm>
              <a:off x="2928" y="2966"/>
              <a:ext cx="624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front=3</a:t>
              </a:r>
            </a:p>
          </p:txBody>
        </p:sp>
        <p:sp>
          <p:nvSpPr>
            <p:cNvPr id="30" name="Line 34"/>
            <p:cNvSpPr>
              <a:spLocks noChangeShapeType="1"/>
            </p:cNvSpPr>
            <p:nvPr/>
          </p:nvSpPr>
          <p:spPr bwMode="auto">
            <a:xfrm flipV="1">
              <a:off x="3168" y="2736"/>
              <a:ext cx="0" cy="288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" name="Group 35"/>
          <p:cNvGrpSpPr>
            <a:grpSpLocks/>
          </p:cNvGrpSpPr>
          <p:nvPr/>
        </p:nvGrpSpPr>
        <p:grpSpPr bwMode="auto">
          <a:xfrm>
            <a:off x="7546731" y="3886200"/>
            <a:ext cx="1143000" cy="869950"/>
            <a:chOff x="3016" y="1776"/>
            <a:chExt cx="624" cy="548"/>
          </a:xfrm>
        </p:grpSpPr>
        <p:sp>
          <p:nvSpPr>
            <p:cNvPr id="32" name="Text Box 36"/>
            <p:cNvSpPr txBox="1">
              <a:spLocks noChangeArrowheads="1"/>
            </p:cNvSpPr>
            <p:nvPr/>
          </p:nvSpPr>
          <p:spPr bwMode="auto">
            <a:xfrm>
              <a:off x="3016" y="1776"/>
              <a:ext cx="6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rear</a:t>
              </a:r>
            </a:p>
          </p:txBody>
        </p:sp>
        <p:sp>
          <p:nvSpPr>
            <p:cNvPr id="33" name="Line 37"/>
            <p:cNvSpPr>
              <a:spLocks noChangeShapeType="1"/>
            </p:cNvSpPr>
            <p:nvPr/>
          </p:nvSpPr>
          <p:spPr bwMode="auto">
            <a:xfrm>
              <a:off x="3194" y="1988"/>
              <a:ext cx="0" cy="336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" name="Text Box 38"/>
          <p:cNvSpPr txBox="1">
            <a:spLocks noChangeArrowheads="1"/>
          </p:cNvSpPr>
          <p:nvPr/>
        </p:nvSpPr>
        <p:spPr bwMode="auto">
          <a:xfrm>
            <a:off x="6461125" y="6200775"/>
            <a:ext cx="1768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b="1" dirty="0" err="1">
                <a:solidFill>
                  <a:schemeClr val="hlink"/>
                </a:solidFill>
                <a:latin typeface="Arial" charset="0"/>
              </a:rPr>
              <a:t>Dequeue</a:t>
            </a:r>
            <a:r>
              <a:rPr lang="en-US" altLang="zh-CN" sz="2000" b="1" dirty="0">
                <a:solidFill>
                  <a:schemeClr val="hlink"/>
                </a:solidFill>
                <a:latin typeface="Arial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16694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4" grpId="0"/>
      <p:bldP spid="15" grpId="0" animBg="1"/>
      <p:bldP spid="16" grpId="0" animBg="1"/>
      <p:bldP spid="17" grpId="0" animBg="1"/>
      <p:bldP spid="24" grpId="0"/>
      <p:bldP spid="25" grpId="0" animBg="1"/>
      <p:bldP spid="26" grpId="0" animBg="1"/>
      <p:bldP spid="27" grpId="0" animBg="1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762000" y="685801"/>
            <a:ext cx="7772400" cy="5181600"/>
          </a:xfrm>
        </p:spPr>
        <p:txBody>
          <a:bodyPr/>
          <a:lstStyle/>
          <a:p>
            <a:r>
              <a:rPr lang="en-US" altLang="zh-CN" sz="6000" b="0" dirty="0"/>
              <a:t>Efficient…but</a:t>
            </a:r>
            <a:br>
              <a:rPr lang="en-US" altLang="zh-CN" sz="6000" b="0" dirty="0"/>
            </a:br>
            <a:r>
              <a:rPr lang="en-US" altLang="zh-CN" sz="6000" b="0" dirty="0"/>
              <a:t>what is the</a:t>
            </a:r>
            <a:br>
              <a:rPr lang="en-US" altLang="zh-CN" sz="6000" b="0" dirty="0"/>
            </a:br>
            <a:r>
              <a:rPr lang="en-US" altLang="zh-CN" sz="8000" dirty="0"/>
              <a:t> PROBLEM?</a:t>
            </a:r>
            <a:endParaRPr lang="zh-CN" altLang="en-US" sz="8000" dirty="0"/>
          </a:p>
        </p:txBody>
      </p:sp>
    </p:spTree>
    <p:extLst>
      <p:ext uri="{BB962C8B-B14F-4D97-AF65-F5344CB8AC3E}">
        <p14:creationId xmlns:p14="http://schemas.microsoft.com/office/powerpoint/2010/main" val="2965172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Final Solution</a:t>
            </a:r>
            <a:r>
              <a:rPr lang="en-US" altLang="zh-CN" sz="3600" dirty="0">
                <a:ea typeface="宋体" pitchFamily="2" charset="-122"/>
              </a:rPr>
              <a:t>: A Circular Array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2800" dirty="0">
                <a:solidFill>
                  <a:schemeClr val="accent1"/>
                </a:solidFill>
                <a:ea typeface="宋体" pitchFamily="2" charset="-122"/>
              </a:rPr>
              <a:t>Circular array</a:t>
            </a:r>
          </a:p>
          <a:p>
            <a:pPr lvl="1"/>
            <a:r>
              <a:rPr lang="en-US" altLang="zh-CN" sz="2400" dirty="0">
                <a:ea typeface="宋体" pitchFamily="2" charset="-122"/>
              </a:rPr>
              <a:t>When an element moves past the end of a circular array, it wraps around to the beginning</a:t>
            </a:r>
          </a:p>
          <a:p>
            <a:pPr lvl="1"/>
            <a:endParaRPr lang="en-US" altLang="zh-CN" dirty="0">
              <a:ea typeface="宋体" pitchFamily="2" charset="-122"/>
            </a:endParaRPr>
          </a:p>
          <a:p>
            <a:pPr lvl="1"/>
            <a:endParaRPr lang="en-US" altLang="zh-CN" dirty="0">
              <a:ea typeface="宋体" pitchFamily="2" charset="-122"/>
            </a:endParaRPr>
          </a:p>
          <a:p>
            <a:pPr lvl="1"/>
            <a:endParaRPr lang="en-US" altLang="zh-CN" dirty="0">
              <a:ea typeface="宋体" pitchFamily="2" charset="-122"/>
            </a:endParaRPr>
          </a:p>
          <a:p>
            <a:pPr lvl="1"/>
            <a:endParaRPr lang="en-US" altLang="zh-CN" dirty="0">
              <a:ea typeface="宋体" pitchFamily="2" charset="-122"/>
            </a:endParaRPr>
          </a:p>
          <a:p>
            <a:pPr lvl="1"/>
            <a:endParaRPr lang="en-US" altLang="zh-CN" dirty="0">
              <a:ea typeface="宋体" pitchFamily="2" charset="-122"/>
            </a:endParaRPr>
          </a:p>
          <a:p>
            <a:pPr lvl="1"/>
            <a:endParaRPr lang="en-US" altLang="zh-CN" dirty="0">
              <a:ea typeface="宋体" pitchFamily="2" charset="-122"/>
            </a:endParaRPr>
          </a:p>
          <a:p>
            <a:pPr marL="457200" lvl="1" indent="0">
              <a:buNone/>
            </a:pPr>
            <a:r>
              <a:rPr lang="en-US" altLang="zh-CN" sz="2400" dirty="0">
                <a:solidFill>
                  <a:schemeClr val="accent1"/>
                </a:solidFill>
                <a:ea typeface="宋体" pitchFamily="2" charset="-122"/>
              </a:rPr>
              <a:t>Index Growth: 0 </a:t>
            </a:r>
            <a:r>
              <a:rPr lang="zh-CN" altLang="en-US" sz="2400" dirty="0">
                <a:solidFill>
                  <a:schemeClr val="accent1"/>
                </a:solidFill>
                <a:ea typeface="宋体" pitchFamily="2" charset="-122"/>
              </a:rPr>
              <a:t>→ </a:t>
            </a:r>
            <a:r>
              <a:rPr lang="en-US" altLang="zh-CN" sz="2400" dirty="0">
                <a:solidFill>
                  <a:schemeClr val="accent1"/>
                </a:solidFill>
                <a:ea typeface="宋体" pitchFamily="2" charset="-122"/>
              </a:rPr>
              <a:t>1 </a:t>
            </a:r>
            <a:r>
              <a:rPr lang="zh-CN" altLang="en-US" sz="2400" dirty="0">
                <a:solidFill>
                  <a:schemeClr val="accent1"/>
                </a:solidFill>
                <a:ea typeface="宋体" pitchFamily="2" charset="-122"/>
              </a:rPr>
              <a:t>→ </a:t>
            </a:r>
            <a:r>
              <a:rPr lang="en-US" altLang="zh-CN" sz="2400" dirty="0">
                <a:solidFill>
                  <a:schemeClr val="accent1"/>
                </a:solidFill>
                <a:ea typeface="宋体" pitchFamily="2" charset="-122"/>
              </a:rPr>
              <a:t>2 </a:t>
            </a:r>
            <a:r>
              <a:rPr lang="zh-CN" altLang="en-US" sz="2400" dirty="0">
                <a:solidFill>
                  <a:schemeClr val="accent1"/>
                </a:solidFill>
                <a:ea typeface="宋体" pitchFamily="2" charset="-122"/>
              </a:rPr>
              <a:t>→ </a:t>
            </a:r>
            <a:r>
              <a:rPr lang="en-US" altLang="zh-CN" sz="2400" dirty="0">
                <a:solidFill>
                  <a:schemeClr val="accent1"/>
                </a:solidFill>
                <a:ea typeface="宋体" pitchFamily="2" charset="-122"/>
              </a:rPr>
              <a:t>3 </a:t>
            </a:r>
            <a:r>
              <a:rPr lang="zh-CN" altLang="en-US" sz="2400" dirty="0">
                <a:solidFill>
                  <a:schemeClr val="accent1"/>
                </a:solidFill>
                <a:ea typeface="宋体" pitchFamily="2" charset="-122"/>
              </a:rPr>
              <a:t>→ </a:t>
            </a:r>
            <a:r>
              <a:rPr lang="en-US" altLang="zh-CN" sz="2400" dirty="0">
                <a:solidFill>
                  <a:schemeClr val="accent1"/>
                </a:solidFill>
                <a:ea typeface="宋体" pitchFamily="2" charset="-122"/>
              </a:rPr>
              <a:t>4 </a:t>
            </a:r>
            <a:r>
              <a:rPr lang="zh-CN" altLang="en-US" sz="2400" dirty="0">
                <a:solidFill>
                  <a:schemeClr val="accent1"/>
                </a:solidFill>
                <a:ea typeface="宋体" pitchFamily="2" charset="-122"/>
              </a:rPr>
              <a:t>→ </a:t>
            </a:r>
            <a:r>
              <a:rPr lang="en-US" altLang="zh-CN" sz="2400" dirty="0">
                <a:solidFill>
                  <a:schemeClr val="accent1"/>
                </a:solidFill>
                <a:ea typeface="宋体" pitchFamily="2" charset="-122"/>
              </a:rPr>
              <a:t>5 </a:t>
            </a:r>
            <a:r>
              <a:rPr lang="zh-CN" altLang="en-US" sz="2400" dirty="0">
                <a:solidFill>
                  <a:schemeClr val="accent1"/>
                </a:solidFill>
                <a:ea typeface="宋体" pitchFamily="2" charset="-122"/>
              </a:rPr>
              <a:t>→ </a:t>
            </a:r>
            <a:r>
              <a:rPr lang="en-US" altLang="zh-CN" sz="2400" dirty="0">
                <a:solidFill>
                  <a:schemeClr val="accent1"/>
                </a:solidFill>
                <a:ea typeface="宋体" pitchFamily="2" charset="-122"/>
              </a:rPr>
              <a:t>6 </a:t>
            </a:r>
            <a:r>
              <a:rPr lang="zh-CN" altLang="en-US" sz="2400" dirty="0">
                <a:solidFill>
                  <a:schemeClr val="accent1"/>
                </a:solidFill>
                <a:ea typeface="宋体" pitchFamily="2" charset="-122"/>
              </a:rPr>
              <a:t>→ </a:t>
            </a:r>
            <a:r>
              <a:rPr lang="en-US" altLang="zh-CN" sz="2400" dirty="0">
                <a:solidFill>
                  <a:schemeClr val="accent1"/>
                </a:solidFill>
                <a:ea typeface="宋体" pitchFamily="2" charset="-122"/>
              </a:rPr>
              <a:t>0 </a:t>
            </a:r>
            <a:r>
              <a:rPr lang="zh-CN" altLang="en-US" sz="2400" dirty="0">
                <a:solidFill>
                  <a:schemeClr val="accent1"/>
                </a:solidFill>
                <a:ea typeface="宋体" pitchFamily="2" charset="-122"/>
              </a:rPr>
              <a:t>→ </a:t>
            </a:r>
            <a:r>
              <a:rPr lang="en-US" altLang="zh-CN" sz="2400" dirty="0">
                <a:solidFill>
                  <a:schemeClr val="accent1"/>
                </a:solidFill>
                <a:ea typeface="宋体" pitchFamily="2" charset="-122"/>
              </a:rPr>
              <a:t>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Flowchart: Magnetic Disk 5"/>
          <p:cNvSpPr/>
          <p:nvPr/>
        </p:nvSpPr>
        <p:spPr>
          <a:xfrm>
            <a:off x="2209800" y="3292229"/>
            <a:ext cx="3733800" cy="1828800"/>
          </a:xfrm>
          <a:prstGeom prst="flowChartMagneticDisk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3071445" y="3849075"/>
            <a:ext cx="0" cy="12192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114800" y="3901829"/>
            <a:ext cx="0" cy="12192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181600" y="3849075"/>
            <a:ext cx="0" cy="12192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662246" y="3440720"/>
            <a:ext cx="0" cy="32043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4626708" y="3307859"/>
            <a:ext cx="3904" cy="56857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436816" y="3307859"/>
            <a:ext cx="0" cy="58029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2504831" y="3436811"/>
            <a:ext cx="0" cy="32043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467708" y="421829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32" name="Rectangle 31"/>
          <p:cNvSpPr/>
          <p:nvPr/>
        </p:nvSpPr>
        <p:spPr>
          <a:xfrm>
            <a:off x="3380009" y="437069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33" name="Rectangle 32"/>
          <p:cNvSpPr/>
          <p:nvPr/>
        </p:nvSpPr>
        <p:spPr>
          <a:xfrm>
            <a:off x="4458079" y="4370697"/>
            <a:ext cx="31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4" name="Rectangle 33"/>
          <p:cNvSpPr/>
          <p:nvPr/>
        </p:nvSpPr>
        <p:spPr>
          <a:xfrm>
            <a:off x="5372786" y="421829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8" name="Rectangle 37"/>
          <p:cNvSpPr/>
          <p:nvPr/>
        </p:nvSpPr>
        <p:spPr>
          <a:xfrm>
            <a:off x="2448018" y="5029200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0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495800" y="5105400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2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529239" y="496466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3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372837" y="5105400"/>
            <a:ext cx="272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1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918903" y="3044037"/>
            <a:ext cx="31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4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926655" y="295616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5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848708" y="304403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6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353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Dequeue</a:t>
            </a:r>
            <a:r>
              <a:rPr lang="en-US" altLang="zh-CN" dirty="0"/>
              <a:t> in a Circular Array</a:t>
            </a:r>
            <a:endParaRPr lang="zh-CN" alt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30469" y="459105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40069" y="459105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749669" y="459105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9</a:t>
            </a:r>
            <a:endParaRPr lang="zh-CN" altLang="en-US" dirty="0"/>
          </a:p>
        </p:txBody>
      </p:sp>
      <p:grpSp>
        <p:nvGrpSpPr>
          <p:cNvPr id="8" name="Group 12"/>
          <p:cNvGrpSpPr>
            <a:grpSpLocks/>
          </p:cNvGrpSpPr>
          <p:nvPr/>
        </p:nvGrpSpPr>
        <p:grpSpPr bwMode="auto">
          <a:xfrm>
            <a:off x="1087804" y="5241925"/>
            <a:ext cx="990600" cy="762000"/>
            <a:chOff x="2928" y="2736"/>
            <a:chExt cx="624" cy="480"/>
          </a:xfrm>
        </p:grpSpPr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2928" y="296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front</a:t>
              </a: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 flipV="1">
              <a:off x="3168" y="2736"/>
              <a:ext cx="0" cy="288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1673469" y="3676650"/>
            <a:ext cx="990600" cy="869950"/>
            <a:chOff x="2974" y="1776"/>
            <a:chExt cx="624" cy="548"/>
          </a:xfrm>
        </p:grpSpPr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2974" y="177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rear</a:t>
              </a: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3194" y="1988"/>
              <a:ext cx="0" cy="336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590794" y="5991225"/>
            <a:ext cx="1768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b="1" dirty="0" err="1">
                <a:solidFill>
                  <a:schemeClr val="hlink"/>
                </a:solidFill>
                <a:latin typeface="Arial" charset="0"/>
              </a:rPr>
              <a:t>Dequeue</a:t>
            </a:r>
            <a:r>
              <a:rPr lang="en-US" altLang="zh-CN" sz="2000" b="1" dirty="0">
                <a:solidFill>
                  <a:schemeClr val="hlink"/>
                </a:solidFill>
                <a:latin typeface="Arial" charset="0"/>
              </a:rPr>
              <a:t>()</a:t>
            </a:r>
          </a:p>
        </p:txBody>
      </p: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3273669" y="460375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 dirty="0"/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3883269" y="460375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7" name="Rectangle 19"/>
          <p:cNvSpPr>
            <a:spLocks noChangeArrowheads="1"/>
          </p:cNvSpPr>
          <p:nvPr/>
        </p:nvSpPr>
        <p:spPr bwMode="auto">
          <a:xfrm>
            <a:off x="4492869" y="460375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9</a:t>
            </a:r>
            <a:endParaRPr lang="zh-CN" altLang="en-US" dirty="0"/>
          </a:p>
        </p:txBody>
      </p:sp>
      <p:grpSp>
        <p:nvGrpSpPr>
          <p:cNvPr id="18" name="Group 20"/>
          <p:cNvGrpSpPr>
            <a:grpSpLocks/>
          </p:cNvGrpSpPr>
          <p:nvPr/>
        </p:nvGrpSpPr>
        <p:grpSpPr bwMode="auto">
          <a:xfrm>
            <a:off x="4416669" y="5254381"/>
            <a:ext cx="990600" cy="762000"/>
            <a:chOff x="2928" y="2736"/>
            <a:chExt cx="624" cy="480"/>
          </a:xfrm>
        </p:grpSpPr>
        <p:sp>
          <p:nvSpPr>
            <p:cNvPr id="19" name="Text Box 21"/>
            <p:cNvSpPr txBox="1">
              <a:spLocks noChangeArrowheads="1"/>
            </p:cNvSpPr>
            <p:nvPr/>
          </p:nvSpPr>
          <p:spPr bwMode="auto">
            <a:xfrm>
              <a:off x="2928" y="296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>
                  <a:solidFill>
                    <a:schemeClr val="accent1"/>
                  </a:solidFill>
                  <a:latin typeface="+mn-lt"/>
                </a:rPr>
                <a:t>front</a:t>
              </a:r>
            </a:p>
          </p:txBody>
        </p:sp>
        <p:sp>
          <p:nvSpPr>
            <p:cNvPr id="20" name="Line 22"/>
            <p:cNvSpPr>
              <a:spLocks noChangeShapeType="1"/>
            </p:cNvSpPr>
            <p:nvPr/>
          </p:nvSpPr>
          <p:spPr bwMode="auto">
            <a:xfrm flipV="1">
              <a:off x="3168" y="2736"/>
              <a:ext cx="0" cy="288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23"/>
          <p:cNvGrpSpPr>
            <a:grpSpLocks/>
          </p:cNvGrpSpPr>
          <p:nvPr/>
        </p:nvGrpSpPr>
        <p:grpSpPr bwMode="auto">
          <a:xfrm>
            <a:off x="4416669" y="3676650"/>
            <a:ext cx="990600" cy="869950"/>
            <a:chOff x="2974" y="1776"/>
            <a:chExt cx="624" cy="548"/>
          </a:xfrm>
        </p:grpSpPr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2974" y="177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rear</a:t>
              </a:r>
            </a:p>
          </p:txBody>
        </p:sp>
        <p:sp>
          <p:nvSpPr>
            <p:cNvPr id="23" name="Line 25"/>
            <p:cNvSpPr>
              <a:spLocks noChangeShapeType="1"/>
            </p:cNvSpPr>
            <p:nvPr/>
          </p:nvSpPr>
          <p:spPr bwMode="auto">
            <a:xfrm>
              <a:off x="3194" y="1988"/>
              <a:ext cx="0" cy="336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" name="Text Box 26"/>
          <p:cNvSpPr txBox="1">
            <a:spLocks noChangeArrowheads="1"/>
          </p:cNvSpPr>
          <p:nvPr/>
        </p:nvSpPr>
        <p:spPr bwMode="auto">
          <a:xfrm>
            <a:off x="3333994" y="6003925"/>
            <a:ext cx="1768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b="1" dirty="0" err="1">
                <a:solidFill>
                  <a:schemeClr val="hlink"/>
                </a:solidFill>
                <a:latin typeface="Arial" charset="0"/>
              </a:rPr>
              <a:t>Dequeue</a:t>
            </a:r>
            <a:r>
              <a:rPr lang="en-US" altLang="zh-CN" sz="2000" b="1" dirty="0">
                <a:solidFill>
                  <a:schemeClr val="hlink"/>
                </a:solidFill>
                <a:latin typeface="Arial" charset="0"/>
              </a:rPr>
              <a:t>()</a:t>
            </a:r>
          </a:p>
        </p:txBody>
      </p:sp>
      <p:sp>
        <p:nvSpPr>
          <p:cNvPr id="25" name="Rectangle 29"/>
          <p:cNvSpPr>
            <a:spLocks noChangeArrowheads="1"/>
          </p:cNvSpPr>
          <p:nvPr/>
        </p:nvSpPr>
        <p:spPr bwMode="auto">
          <a:xfrm>
            <a:off x="6093069" y="459105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 dirty="0"/>
          </a:p>
        </p:txBody>
      </p:sp>
      <p:sp>
        <p:nvSpPr>
          <p:cNvPr id="26" name="Rectangle 30"/>
          <p:cNvSpPr>
            <a:spLocks noChangeArrowheads="1"/>
          </p:cNvSpPr>
          <p:nvPr/>
        </p:nvSpPr>
        <p:spPr bwMode="auto">
          <a:xfrm>
            <a:off x="6702669" y="459105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 dirty="0"/>
          </a:p>
        </p:txBody>
      </p:sp>
      <p:sp>
        <p:nvSpPr>
          <p:cNvPr id="27" name="Rectangle 31"/>
          <p:cNvSpPr>
            <a:spLocks noChangeArrowheads="1"/>
          </p:cNvSpPr>
          <p:nvPr/>
        </p:nvSpPr>
        <p:spPr bwMode="auto">
          <a:xfrm>
            <a:off x="7312269" y="459105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28" name="Group 32"/>
          <p:cNvGrpSpPr>
            <a:grpSpLocks/>
          </p:cNvGrpSpPr>
          <p:nvPr/>
        </p:nvGrpSpPr>
        <p:grpSpPr bwMode="auto">
          <a:xfrm>
            <a:off x="5750169" y="5259510"/>
            <a:ext cx="1740023" cy="765175"/>
            <a:chOff x="2928" y="2736"/>
            <a:chExt cx="624" cy="482"/>
          </a:xfrm>
        </p:grpSpPr>
        <p:sp>
          <p:nvSpPr>
            <p:cNvPr id="29" name="Text Box 33"/>
            <p:cNvSpPr txBox="1">
              <a:spLocks noChangeArrowheads="1"/>
            </p:cNvSpPr>
            <p:nvPr/>
          </p:nvSpPr>
          <p:spPr bwMode="auto">
            <a:xfrm>
              <a:off x="2928" y="2966"/>
              <a:ext cx="6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front=0</a:t>
              </a:r>
            </a:p>
          </p:txBody>
        </p:sp>
        <p:sp>
          <p:nvSpPr>
            <p:cNvPr id="30" name="Line 34"/>
            <p:cNvSpPr>
              <a:spLocks noChangeShapeType="1"/>
            </p:cNvSpPr>
            <p:nvPr/>
          </p:nvSpPr>
          <p:spPr bwMode="auto">
            <a:xfrm flipV="1">
              <a:off x="3168" y="2736"/>
              <a:ext cx="0" cy="288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" name="Group 35"/>
          <p:cNvGrpSpPr>
            <a:grpSpLocks/>
          </p:cNvGrpSpPr>
          <p:nvPr/>
        </p:nvGrpSpPr>
        <p:grpSpPr bwMode="auto">
          <a:xfrm>
            <a:off x="7239000" y="3676650"/>
            <a:ext cx="1143000" cy="869950"/>
            <a:chOff x="3016" y="1776"/>
            <a:chExt cx="624" cy="548"/>
          </a:xfrm>
        </p:grpSpPr>
        <p:sp>
          <p:nvSpPr>
            <p:cNvPr id="32" name="Text Box 36"/>
            <p:cNvSpPr txBox="1">
              <a:spLocks noChangeArrowheads="1"/>
            </p:cNvSpPr>
            <p:nvPr/>
          </p:nvSpPr>
          <p:spPr bwMode="auto">
            <a:xfrm>
              <a:off x="3016" y="1776"/>
              <a:ext cx="6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rear</a:t>
              </a:r>
            </a:p>
          </p:txBody>
        </p:sp>
        <p:sp>
          <p:nvSpPr>
            <p:cNvPr id="33" name="Line 37"/>
            <p:cNvSpPr>
              <a:spLocks noChangeShapeType="1"/>
            </p:cNvSpPr>
            <p:nvPr/>
          </p:nvSpPr>
          <p:spPr bwMode="auto">
            <a:xfrm>
              <a:off x="3194" y="1988"/>
              <a:ext cx="0" cy="336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" name="Text Box 38"/>
          <p:cNvSpPr txBox="1">
            <a:spLocks noChangeArrowheads="1"/>
          </p:cNvSpPr>
          <p:nvPr/>
        </p:nvSpPr>
        <p:spPr bwMode="auto">
          <a:xfrm>
            <a:off x="6153394" y="5991225"/>
            <a:ext cx="1768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b="1" dirty="0" err="1">
                <a:solidFill>
                  <a:schemeClr val="hlink"/>
                </a:solidFill>
                <a:latin typeface="Arial" charset="0"/>
              </a:rPr>
              <a:t>Dequeue</a:t>
            </a:r>
            <a:r>
              <a:rPr lang="en-US" altLang="zh-CN" sz="2000" b="1" dirty="0">
                <a:solidFill>
                  <a:schemeClr val="hlink"/>
                </a:solidFill>
                <a:latin typeface="Arial" charset="0"/>
              </a:rPr>
              <a:t>()</a:t>
            </a:r>
          </a:p>
        </p:txBody>
      </p:sp>
      <p:sp>
        <p:nvSpPr>
          <p:cNvPr id="35" name="Rectangle 29"/>
          <p:cNvSpPr>
            <a:spLocks noChangeArrowheads="1"/>
          </p:cNvSpPr>
          <p:nvPr/>
        </p:nvSpPr>
        <p:spPr bwMode="auto">
          <a:xfrm>
            <a:off x="3200400" y="22098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6" name="Rectangle 30"/>
          <p:cNvSpPr>
            <a:spLocks noChangeArrowheads="1"/>
          </p:cNvSpPr>
          <p:nvPr/>
        </p:nvSpPr>
        <p:spPr bwMode="auto">
          <a:xfrm>
            <a:off x="3810000" y="22098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37" name="Rectangle 31"/>
          <p:cNvSpPr>
            <a:spLocks noChangeArrowheads="1"/>
          </p:cNvSpPr>
          <p:nvPr/>
        </p:nvSpPr>
        <p:spPr bwMode="auto">
          <a:xfrm>
            <a:off x="4419600" y="22098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8" name="Group 32"/>
          <p:cNvGrpSpPr>
            <a:grpSpLocks/>
          </p:cNvGrpSpPr>
          <p:nvPr/>
        </p:nvGrpSpPr>
        <p:grpSpPr bwMode="auto">
          <a:xfrm>
            <a:off x="3124200" y="2819400"/>
            <a:ext cx="990600" cy="762000"/>
            <a:chOff x="2928" y="2736"/>
            <a:chExt cx="624" cy="480"/>
          </a:xfrm>
        </p:grpSpPr>
        <p:sp>
          <p:nvSpPr>
            <p:cNvPr id="39" name="Text Box 33"/>
            <p:cNvSpPr txBox="1">
              <a:spLocks noChangeArrowheads="1"/>
            </p:cNvSpPr>
            <p:nvPr/>
          </p:nvSpPr>
          <p:spPr bwMode="auto">
            <a:xfrm>
              <a:off x="2928" y="296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front</a:t>
              </a:r>
            </a:p>
          </p:txBody>
        </p:sp>
        <p:sp>
          <p:nvSpPr>
            <p:cNvPr id="40" name="Line 34"/>
            <p:cNvSpPr>
              <a:spLocks noChangeShapeType="1"/>
            </p:cNvSpPr>
            <p:nvPr/>
          </p:nvSpPr>
          <p:spPr bwMode="auto">
            <a:xfrm flipV="1">
              <a:off x="3168" y="2736"/>
              <a:ext cx="0" cy="288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1" name="Group 35"/>
          <p:cNvGrpSpPr>
            <a:grpSpLocks/>
          </p:cNvGrpSpPr>
          <p:nvPr/>
        </p:nvGrpSpPr>
        <p:grpSpPr bwMode="auto">
          <a:xfrm>
            <a:off x="4343400" y="1295400"/>
            <a:ext cx="990600" cy="869950"/>
            <a:chOff x="2974" y="1776"/>
            <a:chExt cx="624" cy="548"/>
          </a:xfrm>
        </p:grpSpPr>
        <p:sp>
          <p:nvSpPr>
            <p:cNvPr id="42" name="Text Box 36"/>
            <p:cNvSpPr txBox="1">
              <a:spLocks noChangeArrowheads="1"/>
            </p:cNvSpPr>
            <p:nvPr/>
          </p:nvSpPr>
          <p:spPr bwMode="auto">
            <a:xfrm>
              <a:off x="2974" y="177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>
                  <a:solidFill>
                    <a:schemeClr val="accent1"/>
                  </a:solidFill>
                  <a:latin typeface="+mn-lt"/>
                </a:rPr>
                <a:t>rear</a:t>
              </a:r>
            </a:p>
          </p:txBody>
        </p:sp>
        <p:sp>
          <p:nvSpPr>
            <p:cNvPr id="43" name="Line 37"/>
            <p:cNvSpPr>
              <a:spLocks noChangeShapeType="1"/>
            </p:cNvSpPr>
            <p:nvPr/>
          </p:nvSpPr>
          <p:spPr bwMode="auto">
            <a:xfrm>
              <a:off x="3194" y="1988"/>
              <a:ext cx="0" cy="336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662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Enqueue</a:t>
            </a:r>
            <a:r>
              <a:rPr lang="en-US" altLang="zh-CN" dirty="0"/>
              <a:t> in a Circular Array</a:t>
            </a:r>
            <a:endParaRPr lang="zh-CN" alt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30469" y="459105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40069" y="459105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749669" y="459105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grpSp>
        <p:nvGrpSpPr>
          <p:cNvPr id="8" name="Group 12"/>
          <p:cNvGrpSpPr>
            <a:grpSpLocks/>
          </p:cNvGrpSpPr>
          <p:nvPr/>
        </p:nvGrpSpPr>
        <p:grpSpPr bwMode="auto">
          <a:xfrm>
            <a:off x="1087804" y="5241925"/>
            <a:ext cx="990600" cy="762000"/>
            <a:chOff x="2928" y="2736"/>
            <a:chExt cx="624" cy="480"/>
          </a:xfrm>
        </p:grpSpPr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2928" y="296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front</a:t>
              </a: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 flipV="1">
              <a:off x="3168" y="2736"/>
              <a:ext cx="0" cy="288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1673469" y="3676650"/>
            <a:ext cx="990600" cy="869950"/>
            <a:chOff x="2974" y="1776"/>
            <a:chExt cx="624" cy="548"/>
          </a:xfrm>
        </p:grpSpPr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2974" y="177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rear</a:t>
              </a: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3194" y="1988"/>
              <a:ext cx="0" cy="336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590794" y="5991225"/>
            <a:ext cx="1768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b="1" dirty="0" err="1">
                <a:solidFill>
                  <a:schemeClr val="hlink"/>
                </a:solidFill>
                <a:latin typeface="Arial" charset="0"/>
              </a:rPr>
              <a:t>Enqueue</a:t>
            </a:r>
            <a:r>
              <a:rPr lang="en-US" altLang="zh-CN" sz="2000" b="1" dirty="0">
                <a:solidFill>
                  <a:schemeClr val="hlink"/>
                </a:solidFill>
                <a:latin typeface="Arial" charset="0"/>
              </a:rPr>
              <a:t>(4)</a:t>
            </a:r>
          </a:p>
        </p:txBody>
      </p: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3273669" y="460375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3883269" y="460375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17" name="Rectangle 19"/>
          <p:cNvSpPr>
            <a:spLocks noChangeArrowheads="1"/>
          </p:cNvSpPr>
          <p:nvPr/>
        </p:nvSpPr>
        <p:spPr bwMode="auto">
          <a:xfrm>
            <a:off x="4492869" y="460375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grpSp>
        <p:nvGrpSpPr>
          <p:cNvPr id="18" name="Group 20"/>
          <p:cNvGrpSpPr>
            <a:grpSpLocks/>
          </p:cNvGrpSpPr>
          <p:nvPr/>
        </p:nvGrpSpPr>
        <p:grpSpPr bwMode="auto">
          <a:xfrm>
            <a:off x="3810000" y="5254381"/>
            <a:ext cx="990600" cy="762000"/>
            <a:chOff x="2928" y="2736"/>
            <a:chExt cx="624" cy="480"/>
          </a:xfrm>
        </p:grpSpPr>
        <p:sp>
          <p:nvSpPr>
            <p:cNvPr id="19" name="Text Box 21"/>
            <p:cNvSpPr txBox="1">
              <a:spLocks noChangeArrowheads="1"/>
            </p:cNvSpPr>
            <p:nvPr/>
          </p:nvSpPr>
          <p:spPr bwMode="auto">
            <a:xfrm>
              <a:off x="2928" y="296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front</a:t>
              </a:r>
            </a:p>
          </p:txBody>
        </p:sp>
        <p:sp>
          <p:nvSpPr>
            <p:cNvPr id="20" name="Line 22"/>
            <p:cNvSpPr>
              <a:spLocks noChangeShapeType="1"/>
            </p:cNvSpPr>
            <p:nvPr/>
          </p:nvSpPr>
          <p:spPr bwMode="auto">
            <a:xfrm flipV="1">
              <a:off x="3168" y="2736"/>
              <a:ext cx="0" cy="288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23"/>
          <p:cNvGrpSpPr>
            <a:grpSpLocks/>
          </p:cNvGrpSpPr>
          <p:nvPr/>
        </p:nvGrpSpPr>
        <p:grpSpPr bwMode="auto">
          <a:xfrm>
            <a:off x="3200400" y="3676650"/>
            <a:ext cx="990600" cy="869950"/>
            <a:chOff x="2974" y="1776"/>
            <a:chExt cx="624" cy="548"/>
          </a:xfrm>
        </p:grpSpPr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2974" y="177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rear</a:t>
              </a:r>
            </a:p>
          </p:txBody>
        </p:sp>
        <p:sp>
          <p:nvSpPr>
            <p:cNvPr id="23" name="Line 25"/>
            <p:cNvSpPr>
              <a:spLocks noChangeShapeType="1"/>
            </p:cNvSpPr>
            <p:nvPr/>
          </p:nvSpPr>
          <p:spPr bwMode="auto">
            <a:xfrm>
              <a:off x="3194" y="1988"/>
              <a:ext cx="0" cy="336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" name="Text Box 26"/>
          <p:cNvSpPr txBox="1">
            <a:spLocks noChangeArrowheads="1"/>
          </p:cNvSpPr>
          <p:nvPr/>
        </p:nvSpPr>
        <p:spPr bwMode="auto">
          <a:xfrm>
            <a:off x="3333994" y="6003925"/>
            <a:ext cx="1768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b="1" dirty="0" err="1">
                <a:solidFill>
                  <a:schemeClr val="hlink"/>
                </a:solidFill>
                <a:latin typeface="Arial" charset="0"/>
              </a:rPr>
              <a:t>Enqueue</a:t>
            </a:r>
            <a:r>
              <a:rPr lang="en-US" altLang="zh-CN" sz="2000" b="1" dirty="0">
                <a:solidFill>
                  <a:schemeClr val="hlink"/>
                </a:solidFill>
                <a:latin typeface="Arial" charset="0"/>
              </a:rPr>
              <a:t>(3)</a:t>
            </a:r>
          </a:p>
        </p:txBody>
      </p:sp>
      <p:sp>
        <p:nvSpPr>
          <p:cNvPr id="25" name="Rectangle 29"/>
          <p:cNvSpPr>
            <a:spLocks noChangeArrowheads="1"/>
          </p:cNvSpPr>
          <p:nvPr/>
        </p:nvSpPr>
        <p:spPr bwMode="auto">
          <a:xfrm>
            <a:off x="6093069" y="459105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6" name="Rectangle 30"/>
          <p:cNvSpPr>
            <a:spLocks noChangeArrowheads="1"/>
          </p:cNvSpPr>
          <p:nvPr/>
        </p:nvSpPr>
        <p:spPr bwMode="auto">
          <a:xfrm>
            <a:off x="6702669" y="459105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7" name="Rectangle 31"/>
          <p:cNvSpPr>
            <a:spLocks noChangeArrowheads="1"/>
          </p:cNvSpPr>
          <p:nvPr/>
        </p:nvSpPr>
        <p:spPr bwMode="auto">
          <a:xfrm>
            <a:off x="7312269" y="459105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Line 34"/>
          <p:cNvSpPr>
            <a:spLocks noChangeShapeType="1"/>
          </p:cNvSpPr>
          <p:nvPr/>
        </p:nvSpPr>
        <p:spPr bwMode="auto">
          <a:xfrm flipV="1">
            <a:off x="-2411386" y="5259510"/>
            <a:ext cx="0" cy="457200"/>
          </a:xfrm>
          <a:prstGeom prst="line">
            <a:avLst/>
          </a:prstGeom>
          <a:noFill/>
          <a:ln w="12700">
            <a:solidFill>
              <a:schemeClr val="accent6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1" name="Group 35"/>
          <p:cNvGrpSpPr>
            <a:grpSpLocks/>
          </p:cNvGrpSpPr>
          <p:nvPr/>
        </p:nvGrpSpPr>
        <p:grpSpPr bwMode="auto">
          <a:xfrm>
            <a:off x="6096000" y="3676650"/>
            <a:ext cx="1143000" cy="869950"/>
            <a:chOff x="3016" y="1776"/>
            <a:chExt cx="624" cy="548"/>
          </a:xfrm>
        </p:grpSpPr>
        <p:sp>
          <p:nvSpPr>
            <p:cNvPr id="32" name="Text Box 36"/>
            <p:cNvSpPr txBox="1">
              <a:spLocks noChangeArrowheads="1"/>
            </p:cNvSpPr>
            <p:nvPr/>
          </p:nvSpPr>
          <p:spPr bwMode="auto">
            <a:xfrm>
              <a:off x="3016" y="1776"/>
              <a:ext cx="6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rear</a:t>
              </a:r>
            </a:p>
          </p:txBody>
        </p:sp>
        <p:sp>
          <p:nvSpPr>
            <p:cNvPr id="33" name="Line 37"/>
            <p:cNvSpPr>
              <a:spLocks noChangeShapeType="1"/>
            </p:cNvSpPr>
            <p:nvPr/>
          </p:nvSpPr>
          <p:spPr bwMode="auto">
            <a:xfrm>
              <a:off x="3194" y="1988"/>
              <a:ext cx="0" cy="336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" name="Text Box 38"/>
          <p:cNvSpPr txBox="1">
            <a:spLocks noChangeArrowheads="1"/>
          </p:cNvSpPr>
          <p:nvPr/>
        </p:nvSpPr>
        <p:spPr bwMode="auto">
          <a:xfrm>
            <a:off x="5867400" y="5991225"/>
            <a:ext cx="2362200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b="1" dirty="0" err="1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Enqueue</a:t>
            </a:r>
            <a:r>
              <a:rPr lang="en-US" altLang="zh-CN" sz="2000" b="1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(1) Fails</a:t>
            </a:r>
          </a:p>
        </p:txBody>
      </p:sp>
      <p:sp>
        <p:nvSpPr>
          <p:cNvPr id="35" name="Rectangle 29"/>
          <p:cNvSpPr>
            <a:spLocks noChangeArrowheads="1"/>
          </p:cNvSpPr>
          <p:nvPr/>
        </p:nvSpPr>
        <p:spPr bwMode="auto">
          <a:xfrm>
            <a:off x="3200400" y="22098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 dirty="0"/>
          </a:p>
        </p:txBody>
      </p:sp>
      <p:sp>
        <p:nvSpPr>
          <p:cNvPr id="36" name="Rectangle 30"/>
          <p:cNvSpPr>
            <a:spLocks noChangeArrowheads="1"/>
          </p:cNvSpPr>
          <p:nvPr/>
        </p:nvSpPr>
        <p:spPr bwMode="auto">
          <a:xfrm>
            <a:off x="3810000" y="22098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37" name="Rectangle 31"/>
          <p:cNvSpPr>
            <a:spLocks noChangeArrowheads="1"/>
          </p:cNvSpPr>
          <p:nvPr/>
        </p:nvSpPr>
        <p:spPr bwMode="auto">
          <a:xfrm>
            <a:off x="4419600" y="22098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38" name="Group 32"/>
          <p:cNvGrpSpPr>
            <a:grpSpLocks/>
          </p:cNvGrpSpPr>
          <p:nvPr/>
        </p:nvGrpSpPr>
        <p:grpSpPr bwMode="auto">
          <a:xfrm>
            <a:off x="3733800" y="2860431"/>
            <a:ext cx="990600" cy="762000"/>
            <a:chOff x="2928" y="2736"/>
            <a:chExt cx="624" cy="480"/>
          </a:xfrm>
        </p:grpSpPr>
        <p:sp>
          <p:nvSpPr>
            <p:cNvPr id="39" name="Text Box 33"/>
            <p:cNvSpPr txBox="1">
              <a:spLocks noChangeArrowheads="1"/>
            </p:cNvSpPr>
            <p:nvPr/>
          </p:nvSpPr>
          <p:spPr bwMode="auto">
            <a:xfrm>
              <a:off x="2928" y="296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front</a:t>
              </a:r>
            </a:p>
          </p:txBody>
        </p:sp>
        <p:sp>
          <p:nvSpPr>
            <p:cNvPr id="40" name="Line 34"/>
            <p:cNvSpPr>
              <a:spLocks noChangeShapeType="1"/>
            </p:cNvSpPr>
            <p:nvPr/>
          </p:nvSpPr>
          <p:spPr bwMode="auto">
            <a:xfrm flipV="1">
              <a:off x="3168" y="2736"/>
              <a:ext cx="0" cy="288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1" name="Group 35"/>
          <p:cNvGrpSpPr>
            <a:grpSpLocks/>
          </p:cNvGrpSpPr>
          <p:nvPr/>
        </p:nvGrpSpPr>
        <p:grpSpPr bwMode="auto">
          <a:xfrm>
            <a:off x="3733800" y="1295400"/>
            <a:ext cx="990600" cy="869950"/>
            <a:chOff x="2974" y="1776"/>
            <a:chExt cx="624" cy="548"/>
          </a:xfrm>
        </p:grpSpPr>
        <p:sp>
          <p:nvSpPr>
            <p:cNvPr id="42" name="Text Box 36"/>
            <p:cNvSpPr txBox="1">
              <a:spLocks noChangeArrowheads="1"/>
            </p:cNvSpPr>
            <p:nvPr/>
          </p:nvSpPr>
          <p:spPr bwMode="auto">
            <a:xfrm>
              <a:off x="2974" y="177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rear</a:t>
              </a:r>
            </a:p>
          </p:txBody>
        </p:sp>
        <p:sp>
          <p:nvSpPr>
            <p:cNvPr id="43" name="Line 37"/>
            <p:cNvSpPr>
              <a:spLocks noChangeShapeType="1"/>
            </p:cNvSpPr>
            <p:nvPr/>
          </p:nvSpPr>
          <p:spPr bwMode="auto">
            <a:xfrm>
              <a:off x="3194" y="1988"/>
              <a:ext cx="0" cy="336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" name="Group 20"/>
          <p:cNvGrpSpPr>
            <a:grpSpLocks/>
          </p:cNvGrpSpPr>
          <p:nvPr/>
        </p:nvGrpSpPr>
        <p:grpSpPr bwMode="auto">
          <a:xfrm>
            <a:off x="6635434" y="5248462"/>
            <a:ext cx="990600" cy="762000"/>
            <a:chOff x="2928" y="2736"/>
            <a:chExt cx="624" cy="480"/>
          </a:xfrm>
        </p:grpSpPr>
        <p:sp>
          <p:nvSpPr>
            <p:cNvPr id="45" name="Text Box 21"/>
            <p:cNvSpPr txBox="1">
              <a:spLocks noChangeArrowheads="1"/>
            </p:cNvSpPr>
            <p:nvPr/>
          </p:nvSpPr>
          <p:spPr bwMode="auto">
            <a:xfrm>
              <a:off x="2928" y="296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front</a:t>
              </a:r>
            </a:p>
          </p:txBody>
        </p:sp>
        <p:sp>
          <p:nvSpPr>
            <p:cNvPr id="46" name="Line 22"/>
            <p:cNvSpPr>
              <a:spLocks noChangeShapeType="1"/>
            </p:cNvSpPr>
            <p:nvPr/>
          </p:nvSpPr>
          <p:spPr bwMode="auto">
            <a:xfrm flipV="1">
              <a:off x="3168" y="2736"/>
              <a:ext cx="0" cy="288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18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 to Ponder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953000" cy="4648199"/>
          </a:xfrm>
        </p:spPr>
        <p:txBody>
          <a:bodyPr>
            <a:normAutofit fontScale="92500"/>
          </a:bodyPr>
          <a:lstStyle/>
          <a:p>
            <a:r>
              <a:rPr lang="en-US" altLang="zh-CN" dirty="0">
                <a:ea typeface="宋体" pitchFamily="2" charset="-122"/>
              </a:rPr>
              <a:t>How to detect an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empty </a:t>
            </a:r>
            <a:r>
              <a:rPr lang="en-US" altLang="zh-CN" dirty="0">
                <a:ea typeface="宋体" pitchFamily="2" charset="-122"/>
              </a:rPr>
              <a:t>or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full </a:t>
            </a:r>
            <a:r>
              <a:rPr lang="en-US" altLang="zh-CN" dirty="0">
                <a:ea typeface="宋体" pitchFamily="2" charset="-122"/>
              </a:rPr>
              <a:t>queue using a circular array? 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Empty</a:t>
            </a:r>
          </a:p>
          <a:p>
            <a:pPr lvl="2"/>
            <a:r>
              <a:rPr lang="en-US" altLang="zh-CN" dirty="0">
                <a:ea typeface="宋体" pitchFamily="2" charset="-122"/>
              </a:rPr>
              <a:t>rear is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one position before </a:t>
            </a:r>
            <a:r>
              <a:rPr lang="en-US" altLang="zh-CN" dirty="0">
                <a:ea typeface="宋体" pitchFamily="2" charset="-122"/>
              </a:rPr>
              <a:t>front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Full</a:t>
            </a:r>
          </a:p>
          <a:p>
            <a:pPr lvl="2"/>
            <a:r>
              <a:rPr lang="en-US" altLang="zh-CN" dirty="0">
                <a:ea typeface="宋体" pitchFamily="2" charset="-122"/>
              </a:rPr>
              <a:t>rear is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one position before </a:t>
            </a:r>
            <a:r>
              <a:rPr lang="en-US" altLang="zh-CN" dirty="0">
                <a:ea typeface="宋体" pitchFamily="2" charset="-122"/>
              </a:rPr>
              <a:t>front</a:t>
            </a:r>
          </a:p>
          <a:p>
            <a:pPr lvl="1"/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ea typeface="宋体" pitchFamily="2" charset="-122"/>
              </a:rPr>
              <a:t>Is this queue empty or full?</a:t>
            </a:r>
          </a:p>
          <a:p>
            <a:pPr lvl="1"/>
            <a:endParaRPr lang="en-US" altLang="zh-CN" dirty="0">
              <a:ea typeface="宋体" pitchFamily="2" charset="-122"/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3" name="Rectangle 29"/>
          <p:cNvSpPr>
            <a:spLocks noChangeArrowheads="1"/>
          </p:cNvSpPr>
          <p:nvPr/>
        </p:nvSpPr>
        <p:spPr bwMode="auto">
          <a:xfrm>
            <a:off x="6248400" y="3571875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4" name="Rectangle 30"/>
          <p:cNvSpPr>
            <a:spLocks noChangeArrowheads="1"/>
          </p:cNvSpPr>
          <p:nvPr/>
        </p:nvSpPr>
        <p:spPr bwMode="auto">
          <a:xfrm>
            <a:off x="6858000" y="3571875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15" name="Rectangle 31"/>
          <p:cNvSpPr>
            <a:spLocks noChangeArrowheads="1"/>
          </p:cNvSpPr>
          <p:nvPr/>
        </p:nvSpPr>
        <p:spPr bwMode="auto">
          <a:xfrm>
            <a:off x="7467600" y="3571875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35"/>
          <p:cNvGrpSpPr>
            <a:grpSpLocks/>
          </p:cNvGrpSpPr>
          <p:nvPr/>
        </p:nvGrpSpPr>
        <p:grpSpPr bwMode="auto">
          <a:xfrm>
            <a:off x="6251331" y="2657475"/>
            <a:ext cx="1143000" cy="869950"/>
            <a:chOff x="3016" y="1776"/>
            <a:chExt cx="624" cy="548"/>
          </a:xfrm>
        </p:grpSpPr>
        <p:sp>
          <p:nvSpPr>
            <p:cNvPr id="17" name="Text Box 36"/>
            <p:cNvSpPr txBox="1">
              <a:spLocks noChangeArrowheads="1"/>
            </p:cNvSpPr>
            <p:nvPr/>
          </p:nvSpPr>
          <p:spPr bwMode="auto">
            <a:xfrm>
              <a:off x="3016" y="1776"/>
              <a:ext cx="6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rear</a:t>
              </a:r>
            </a:p>
          </p:txBody>
        </p:sp>
        <p:sp>
          <p:nvSpPr>
            <p:cNvPr id="18" name="Line 37"/>
            <p:cNvSpPr>
              <a:spLocks noChangeShapeType="1"/>
            </p:cNvSpPr>
            <p:nvPr/>
          </p:nvSpPr>
          <p:spPr bwMode="auto">
            <a:xfrm>
              <a:off x="3194" y="1988"/>
              <a:ext cx="0" cy="336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20"/>
          <p:cNvGrpSpPr>
            <a:grpSpLocks/>
          </p:cNvGrpSpPr>
          <p:nvPr/>
        </p:nvGrpSpPr>
        <p:grpSpPr bwMode="auto">
          <a:xfrm>
            <a:off x="6790765" y="4229287"/>
            <a:ext cx="990600" cy="762000"/>
            <a:chOff x="2928" y="2736"/>
            <a:chExt cx="624" cy="480"/>
          </a:xfrm>
        </p:grpSpPr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2928" y="296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 dirty="0">
                  <a:solidFill>
                    <a:schemeClr val="accent1"/>
                  </a:solidFill>
                  <a:latin typeface="+mn-lt"/>
                </a:rPr>
                <a:t>front</a:t>
              </a:r>
            </a:p>
          </p:txBody>
        </p:sp>
        <p:sp>
          <p:nvSpPr>
            <p:cNvPr id="21" name="Line 22"/>
            <p:cNvSpPr>
              <a:spLocks noChangeShapeType="1"/>
            </p:cNvSpPr>
            <p:nvPr/>
          </p:nvSpPr>
          <p:spPr bwMode="auto">
            <a:xfrm flipV="1">
              <a:off x="3168" y="2736"/>
              <a:ext cx="0" cy="288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15382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 to Ponder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76400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How to detect an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empty </a:t>
            </a:r>
            <a:r>
              <a:rPr lang="en-US" altLang="zh-CN" dirty="0">
                <a:ea typeface="宋体" pitchFamily="2" charset="-122"/>
              </a:rPr>
              <a:t>or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full </a:t>
            </a:r>
            <a:r>
              <a:rPr lang="en-US" altLang="zh-CN" dirty="0">
                <a:ea typeface="宋体" pitchFamily="2" charset="-122"/>
              </a:rPr>
              <a:t>queue, using a circular array algorithm? 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矩形 4"/>
          <p:cNvSpPr/>
          <p:nvPr/>
        </p:nvSpPr>
        <p:spPr>
          <a:xfrm>
            <a:off x="1600200" y="3105835"/>
            <a:ext cx="5943600" cy="221599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ea typeface="宋体" pitchFamily="2" charset="-122"/>
              </a:rPr>
              <a:t>Use a </a:t>
            </a:r>
            <a:r>
              <a:rPr lang="en-US" altLang="zh-CN" sz="6600" dirty="0">
                <a:solidFill>
                  <a:schemeClr val="accent1"/>
                </a:solidFill>
                <a:ea typeface="宋体" pitchFamily="2" charset="-122"/>
              </a:rPr>
              <a:t>counter</a:t>
            </a:r>
            <a:r>
              <a:rPr lang="en-US" altLang="zh-CN" sz="3600" dirty="0">
                <a:solidFill>
                  <a:schemeClr val="accent1"/>
                </a:solidFill>
                <a:ea typeface="宋体" pitchFamily="2" charset="-122"/>
              </a:rPr>
              <a:t> </a:t>
            </a:r>
            <a:r>
              <a:rPr lang="en-US" altLang="zh-CN" sz="3600" dirty="0">
                <a:ea typeface="宋体" pitchFamily="2" charset="-122"/>
              </a:rPr>
              <a:t>which records </a:t>
            </a:r>
            <a:r>
              <a:rPr lang="en-US" altLang="zh-CN" sz="3600" dirty="0">
                <a:solidFill>
                  <a:schemeClr val="accent1"/>
                </a:solidFill>
                <a:ea typeface="宋体" pitchFamily="2" charset="-122"/>
              </a:rPr>
              <a:t>number of elements </a:t>
            </a:r>
            <a:r>
              <a:rPr lang="en-US" altLang="zh-CN" sz="3600" dirty="0">
                <a:ea typeface="宋体" pitchFamily="2" charset="-122"/>
              </a:rPr>
              <a:t>in the queue.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255927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E5438-65B1-4F15-BA25-31A136C2A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4000" dirty="0"/>
              <a:t>Queue Implementation</a:t>
            </a:r>
            <a:endParaRPr lang="zh-CN" alt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922DD-4F79-471B-A9DF-05BB1F163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Data are stored in an array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chemeClr val="accent1"/>
                </a:solidFill>
              </a:rPr>
              <a:t>values</a:t>
            </a:r>
            <a:r>
              <a:rPr lang="en-US" altLang="zh-CN" dirty="0"/>
              <a:t>: the array of data items. The data can be of any type but we use </a:t>
            </a:r>
            <a:r>
              <a:rPr lang="en-US" altLang="zh-CN" dirty="0">
                <a:solidFill>
                  <a:schemeClr val="accent1"/>
                </a:solidFill>
              </a:rPr>
              <a:t>Double</a:t>
            </a:r>
            <a:r>
              <a:rPr lang="en-US" altLang="zh-CN" dirty="0"/>
              <a:t> for demonstration</a:t>
            </a:r>
            <a:endParaRPr lang="zh-CN" altLang="en-US" dirty="0"/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front</a:t>
            </a:r>
            <a:r>
              <a:rPr lang="en-US" altLang="zh-CN" dirty="0">
                <a:ea typeface="宋体" pitchFamily="2" charset="-122"/>
              </a:rPr>
              <a:t>: index of the front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rear</a:t>
            </a:r>
            <a:r>
              <a:rPr lang="en-US" altLang="zh-CN" dirty="0">
                <a:ea typeface="宋体" pitchFamily="2" charset="-122"/>
              </a:rPr>
              <a:t>: index of the rear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counter</a:t>
            </a:r>
            <a:r>
              <a:rPr lang="en-US" altLang="zh-CN" dirty="0">
                <a:ea typeface="宋体" pitchFamily="2" charset="-122"/>
              </a:rPr>
              <a:t>: number of elements in the queue</a:t>
            </a:r>
            <a:endParaRPr lang="en-US" altLang="zh-C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2B43D-FDAC-44D3-B0B2-3A7726C33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78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7A1E709-FB56-4CDD-88C8-7205285F4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87711"/>
              </p:ext>
            </p:extLst>
          </p:nvPr>
        </p:nvGraphicFramePr>
        <p:xfrm>
          <a:off x="1981200" y="1626194"/>
          <a:ext cx="5029200" cy="488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1563731259"/>
                    </a:ext>
                  </a:extLst>
                </a:gridCol>
              </a:tblGrid>
              <a:tr h="5835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Queue</a:t>
                      </a:r>
                      <a:endParaRPr lang="zh-CN" altLang="en-US" sz="2400" dirty="0"/>
                    </a:p>
                  </a:txBody>
                  <a:tcPr marL="144000" marR="144000" marT="144000" marB="144000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6855616"/>
                  </a:ext>
                </a:extLst>
              </a:tr>
              <a:tr h="909987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zh-CN" sz="2400" dirty="0"/>
                        <a:t>values: Double[]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zh-CN" sz="2400" dirty="0"/>
                        <a:t>front: </a:t>
                      </a:r>
                      <a:r>
                        <a:rPr lang="en-US" altLang="zh-CN" sz="2400" dirty="0" err="1"/>
                        <a:t>int</a:t>
                      </a:r>
                      <a:endParaRPr lang="en-US" altLang="zh-CN" sz="24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zh-CN" sz="2400" dirty="0"/>
                        <a:t>rear: </a:t>
                      </a:r>
                      <a:r>
                        <a:rPr lang="en-US" altLang="zh-CN" sz="2400" dirty="0" err="1"/>
                        <a:t>int</a:t>
                      </a:r>
                      <a:endParaRPr lang="en-US" altLang="zh-CN" sz="24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zh-CN" sz="2400" dirty="0"/>
                        <a:t>counter: </a:t>
                      </a:r>
                      <a:r>
                        <a:rPr lang="en-US" altLang="zh-CN" sz="2400" dirty="0" err="1"/>
                        <a:t>int</a:t>
                      </a:r>
                      <a:endParaRPr lang="en-US" altLang="zh-CN" sz="2400" dirty="0"/>
                    </a:p>
                  </a:txBody>
                  <a:tcPr marL="144000" marR="144000" marT="144000" marB="144000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3944658"/>
                  </a:ext>
                </a:extLst>
              </a:tr>
              <a:tr h="792488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+ Queue(</a:t>
                      </a:r>
                      <a:r>
                        <a:rPr lang="en-US" altLang="zh-CN" sz="2400" dirty="0" err="1"/>
                        <a:t>int</a:t>
                      </a:r>
                      <a:r>
                        <a:rPr lang="en-US" altLang="zh-CN" sz="2400" dirty="0"/>
                        <a:t> size)</a:t>
                      </a:r>
                    </a:p>
                    <a:p>
                      <a:r>
                        <a:rPr lang="en-US" altLang="zh-CN" sz="2400" dirty="0"/>
                        <a:t>+ </a:t>
                      </a:r>
                      <a:r>
                        <a:rPr lang="en-US" altLang="zh-CN" sz="2400" dirty="0" err="1"/>
                        <a:t>isEmpty</a:t>
                      </a:r>
                      <a:r>
                        <a:rPr lang="en-US" altLang="zh-CN" sz="2400" dirty="0"/>
                        <a:t>(): </a:t>
                      </a:r>
                      <a:r>
                        <a:rPr lang="en-US" altLang="zh-CN" sz="2400" dirty="0" err="1"/>
                        <a:t>boolean</a:t>
                      </a:r>
                      <a:endParaRPr lang="en-US" altLang="zh-CN" sz="2400" dirty="0"/>
                    </a:p>
                    <a:p>
                      <a:r>
                        <a:rPr lang="en-US" altLang="zh-CN" sz="2400" dirty="0"/>
                        <a:t>+ </a:t>
                      </a:r>
                      <a:r>
                        <a:rPr lang="en-US" altLang="zh-CN" sz="2400" dirty="0" err="1"/>
                        <a:t>isFull</a:t>
                      </a:r>
                      <a:r>
                        <a:rPr lang="en-US" altLang="zh-CN" sz="2400" dirty="0"/>
                        <a:t>(): </a:t>
                      </a:r>
                      <a:r>
                        <a:rPr lang="en-US" altLang="zh-CN" sz="2400" dirty="0" err="1"/>
                        <a:t>boolean</a:t>
                      </a:r>
                      <a:endParaRPr lang="en-US" altLang="zh-CN" sz="2400" dirty="0"/>
                    </a:p>
                    <a:p>
                      <a:r>
                        <a:rPr lang="en-US" altLang="zh-CN" sz="2400" dirty="0"/>
                        <a:t>+ enqueue(double x): Double</a:t>
                      </a:r>
                    </a:p>
                    <a:p>
                      <a:r>
                        <a:rPr lang="en-US" altLang="zh-CN" sz="2400" dirty="0"/>
                        <a:t>+ dequeue(): Double</a:t>
                      </a:r>
                    </a:p>
                    <a:p>
                      <a:r>
                        <a:rPr lang="en-US" altLang="zh-CN" sz="2400" dirty="0"/>
                        <a:t>+ </a:t>
                      </a:r>
                      <a:r>
                        <a:rPr lang="en-US" altLang="zh-CN" sz="2400" dirty="0" err="1"/>
                        <a:t>displayQueue</a:t>
                      </a:r>
                      <a:r>
                        <a:rPr lang="en-US" altLang="zh-CN" sz="2400" dirty="0"/>
                        <a:t>():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void</a:t>
                      </a:r>
                      <a:endParaRPr lang="zh-CN" altLang="en-US" sz="2400" dirty="0"/>
                    </a:p>
                  </a:txBody>
                  <a:tcPr marL="144000" marR="144000" marT="144000" marB="144000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8835069"/>
                  </a:ext>
                </a:extLst>
              </a:tr>
            </a:tbl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C9BAED93-8595-4D33-ACFC-3F676E6EC2D7}"/>
              </a:ext>
            </a:extLst>
          </p:cNvPr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sz="4000"/>
              <a:t>Queue Implementation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226819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sz="3100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public Queue(</a:t>
            </a:r>
            <a:r>
              <a:rPr lang="en-US" altLang="zh-CN" sz="3100" dirty="0" err="1">
                <a:solidFill>
                  <a:schemeClr val="accent1"/>
                </a:solidFill>
                <a:latin typeface="+mn-lt"/>
                <a:cs typeface="Courier New" pitchFamily="49" charset="0"/>
              </a:rPr>
              <a:t>int</a:t>
            </a:r>
            <a:r>
              <a:rPr lang="en-US" altLang="zh-CN" sz="3100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 size)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dirty="0">
                <a:latin typeface="+mn-lt"/>
                <a:cs typeface="Courier New" pitchFamily="49" charset="0"/>
              </a:rPr>
              <a:t>Creates an empty queue whose capacity is </a:t>
            </a:r>
            <a:r>
              <a:rPr lang="en-US" altLang="zh-CN" i="1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size</a:t>
            </a:r>
            <a:endParaRPr lang="en-US" altLang="zh-CN" dirty="0">
              <a:latin typeface="+mn-lt"/>
              <a:cs typeface="Courier New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public </a:t>
            </a:r>
            <a:r>
              <a:rPr lang="en-US" altLang="zh-CN" dirty="0" err="1">
                <a:solidFill>
                  <a:schemeClr val="accent1"/>
                </a:solidFill>
                <a:latin typeface="+mn-lt"/>
                <a:cs typeface="Courier New" pitchFamily="49" charset="0"/>
              </a:rPr>
              <a:t>boolean</a:t>
            </a:r>
            <a:r>
              <a:rPr lang="en-US" altLang="zh-CN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 </a:t>
            </a:r>
            <a:r>
              <a:rPr lang="en-US" altLang="zh-CN" dirty="0" err="1">
                <a:solidFill>
                  <a:schemeClr val="accent1"/>
                </a:solidFill>
                <a:latin typeface="+mn-lt"/>
                <a:cs typeface="Courier New" pitchFamily="49" charset="0"/>
              </a:rPr>
              <a:t>isEmpty</a:t>
            </a:r>
            <a:r>
              <a:rPr lang="en-US" altLang="zh-CN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()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dirty="0">
                <a:latin typeface="+mn-lt"/>
                <a:cs typeface="Courier New" pitchFamily="49" charset="0"/>
              </a:rPr>
              <a:t>Returns true if the queue is empty and false otherwise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public </a:t>
            </a:r>
            <a:r>
              <a:rPr lang="en-US" altLang="zh-CN" dirty="0" err="1">
                <a:solidFill>
                  <a:schemeClr val="accent1"/>
                </a:solidFill>
                <a:latin typeface="+mn-lt"/>
                <a:cs typeface="Courier New" pitchFamily="49" charset="0"/>
              </a:rPr>
              <a:t>boolean</a:t>
            </a:r>
            <a:r>
              <a:rPr lang="en-US" altLang="zh-CN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 </a:t>
            </a:r>
            <a:r>
              <a:rPr lang="en-US" altLang="zh-CN" dirty="0" err="1">
                <a:solidFill>
                  <a:schemeClr val="accent1"/>
                </a:solidFill>
                <a:latin typeface="+mn-lt"/>
                <a:cs typeface="Courier New" pitchFamily="49" charset="0"/>
              </a:rPr>
              <a:t>isFull</a:t>
            </a:r>
            <a:r>
              <a:rPr lang="en-US" altLang="zh-CN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()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dirty="0">
                <a:cs typeface="Courier New" pitchFamily="49" charset="0"/>
              </a:rPr>
              <a:t>Returns true if the queue is full and false otherwise</a:t>
            </a:r>
            <a:endParaRPr lang="en-US" altLang="zh-CN" dirty="0">
              <a:solidFill>
                <a:schemeClr val="accent1"/>
              </a:solidFill>
              <a:latin typeface="+mn-lt"/>
              <a:cs typeface="Courier New" pitchFamily="49" charset="0"/>
            </a:endParaRPr>
          </a:p>
          <a:p>
            <a:pPr>
              <a:lnSpc>
                <a:spcPct val="150000"/>
              </a:lnSpc>
              <a:defRPr/>
            </a:pPr>
            <a:endParaRPr lang="en-US" altLang="zh-CN" i="1" dirty="0">
              <a:cs typeface="Courier New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577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37338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public Double enqueue(double x)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2000" dirty="0">
                <a:cs typeface="Courier New" pitchFamily="49" charset="0"/>
              </a:rPr>
              <a:t>Adds a new element with value </a:t>
            </a:r>
            <a:r>
              <a:rPr lang="en-US" altLang="zh-CN" sz="2000" i="1" dirty="0">
                <a:solidFill>
                  <a:schemeClr val="accent1"/>
                </a:solidFill>
                <a:cs typeface="Courier New" pitchFamily="49" charset="0"/>
              </a:rPr>
              <a:t>x</a:t>
            </a:r>
            <a:r>
              <a:rPr lang="en-US" altLang="zh-CN" sz="2000" dirty="0">
                <a:cs typeface="Courier New" pitchFamily="49" charset="0"/>
              </a:rPr>
              <a:t> after the rear of the queue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2000" dirty="0">
                <a:cs typeface="Courier New" pitchFamily="49" charset="0"/>
              </a:rPr>
              <a:t>Returns the new element if the operation is successful and null otherwise</a:t>
            </a:r>
            <a:endParaRPr lang="en-US" altLang="zh-CN" sz="2000" dirty="0">
              <a:solidFill>
                <a:schemeClr val="accent1"/>
              </a:solidFill>
              <a:latin typeface="+mn-lt"/>
              <a:cs typeface="Courier New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public Double dequeue()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2000" dirty="0">
                <a:cs typeface="Courier New" pitchFamily="49" charset="0"/>
              </a:rPr>
              <a:t>Removes and returns the (old) front element of the queue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2000" dirty="0">
                <a:cs typeface="Courier New" pitchFamily="49" charset="0"/>
              </a:rPr>
              <a:t>Returns null if the operation fails</a:t>
            </a:r>
            <a:endParaRPr lang="en-US" altLang="zh-CN" sz="2000" dirty="0">
              <a:solidFill>
                <a:schemeClr val="accent1"/>
              </a:solidFill>
              <a:latin typeface="+mn-lt"/>
              <a:cs typeface="Courier New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public void </a:t>
            </a:r>
            <a:r>
              <a:rPr lang="en-US" altLang="zh-CN" sz="2400" dirty="0" err="1">
                <a:solidFill>
                  <a:schemeClr val="accent1"/>
                </a:solidFill>
                <a:latin typeface="+mn-lt"/>
                <a:cs typeface="Courier New" pitchFamily="49" charset="0"/>
              </a:rPr>
              <a:t>displayQueue</a:t>
            </a:r>
            <a:r>
              <a:rPr lang="en-US" altLang="zh-CN" sz="2400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()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08DE77-75EC-4CA9-90AA-F8C176EB4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5162550"/>
            <a:ext cx="4870939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233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1447800"/>
            <a:ext cx="9144000" cy="5410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85800" y="2362200"/>
            <a:ext cx="6019800" cy="930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1378089"/>
            <a:ext cx="9296400" cy="2823850"/>
          </a:xfrm>
          <a:prstGeom prst="rect">
            <a:avLst/>
          </a:prstGeom>
          <a:noFill/>
          <a:ln>
            <a:noFill/>
          </a:ln>
        </p:spPr>
        <p:txBody>
          <a:bodyPr wrap="square" lIns="252000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public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Queue(</a:t>
            </a:r>
            <a:r>
              <a:rPr lang="en-US" altLang="zh-CN" sz="2000" b="1" dirty="0" err="1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int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size) {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values = </a:t>
            </a:r>
            <a:r>
              <a:rPr lang="en-US" altLang="zh-CN" sz="2000" b="1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new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Double[size];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front = 0;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rear = -1;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counter = 0;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27038"/>
            <a:ext cx="8229600" cy="792162"/>
          </a:xfrm>
        </p:spPr>
        <p:txBody>
          <a:bodyPr/>
          <a:lstStyle/>
          <a:p>
            <a:r>
              <a:rPr lang="en-US" altLang="zh-CN" dirty="0"/>
              <a:t>The Constructor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5715000" y="2362200"/>
            <a:ext cx="2590800" cy="9305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anchor="ctr">
            <a:no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charset="0"/>
                <a:ea typeface="宋体" pitchFamily="2" charset="-122"/>
              </a:rPr>
              <a:t>Why?</a:t>
            </a:r>
          </a:p>
          <a:p>
            <a:r>
              <a:rPr lang="en-US" altLang="zh-CN" b="1" dirty="0">
                <a:solidFill>
                  <a:schemeClr val="bg1"/>
                </a:solidFill>
                <a:latin typeface="Arial" charset="0"/>
                <a:ea typeface="宋体" pitchFamily="2" charset="-122"/>
              </a:rPr>
              <a:t>Any other valid initialization values?</a:t>
            </a:r>
          </a:p>
        </p:txBody>
      </p:sp>
    </p:spTree>
    <p:extLst>
      <p:ext uri="{BB962C8B-B14F-4D97-AF65-F5344CB8AC3E}">
        <p14:creationId xmlns:p14="http://schemas.microsoft.com/office/powerpoint/2010/main" val="3006747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76200" y="1828800"/>
            <a:ext cx="9220200" cy="502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09600" y="3348604"/>
            <a:ext cx="8458200" cy="549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1981200"/>
            <a:ext cx="9296400" cy="3747180"/>
          </a:xfrm>
          <a:prstGeom prst="rect">
            <a:avLst/>
          </a:prstGeom>
          <a:noFill/>
          <a:ln>
            <a:noFill/>
          </a:ln>
        </p:spPr>
        <p:txBody>
          <a:bodyPr wrap="square" lIns="252000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public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Double enqueue(</a:t>
            </a:r>
            <a:r>
              <a:rPr lang="en-US" altLang="zh-CN" sz="2000" b="1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double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x) {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2000" b="1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if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zh-CN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isFull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())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2000" b="1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return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b="1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null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rear = (rear + 1) % </a:t>
            </a:r>
            <a:r>
              <a:rPr lang="en-US" altLang="zh-CN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values.length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values[rear] = </a:t>
            </a:r>
            <a:r>
              <a:rPr lang="en-US" altLang="zh-CN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Double.valueOf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(x);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counter ++;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2000" b="1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return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values[rear];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Enqueue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7924800" y="3348604"/>
            <a:ext cx="1219200" cy="11268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anchor="ctr">
            <a:no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charset="0"/>
                <a:ea typeface="宋体" pitchFamily="2" charset="-122"/>
              </a:rPr>
              <a:t>Circular index increase</a:t>
            </a:r>
          </a:p>
        </p:txBody>
      </p:sp>
      <p:sp>
        <p:nvSpPr>
          <p:cNvPr id="3" name="Right Triangle 2"/>
          <p:cNvSpPr/>
          <p:nvPr/>
        </p:nvSpPr>
        <p:spPr>
          <a:xfrm flipH="1" flipV="1">
            <a:off x="7924800" y="4475484"/>
            <a:ext cx="1219200" cy="854320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anchor="ctr">
            <a:noAutofit/>
          </a:bodyPr>
          <a:lstStyle/>
          <a:p>
            <a:endParaRPr lang="en-US" b="1">
              <a:solidFill>
                <a:schemeClr val="bg1"/>
              </a:solidFill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1457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 orient="vert"/>
          </p:nvPr>
        </p:nvSpPr>
        <p:spPr>
          <a:xfrm>
            <a:off x="381000" y="274639"/>
            <a:ext cx="8763000" cy="595312"/>
          </a:xfrm>
        </p:spPr>
        <p:txBody>
          <a:bodyPr vert="horz">
            <a:normAutofit fontScale="90000"/>
          </a:bodyPr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Using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Queue</a:t>
            </a:r>
          </a:p>
        </p:txBody>
      </p:sp>
      <p:sp>
        <p:nvSpPr>
          <p:cNvPr id="16388" name="Rectangle 5"/>
          <p:cNvSpPr>
            <a:spLocks noChangeArrowheads="1"/>
          </p:cNvSpPr>
          <p:nvPr/>
        </p:nvSpPr>
        <p:spPr bwMode="auto">
          <a:xfrm>
            <a:off x="0" y="1006474"/>
            <a:ext cx="9144000" cy="58515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>
            <a:noAutofit/>
          </a:bodyPr>
          <a:lstStyle/>
          <a:p>
            <a:pPr lvl="1"/>
            <a:r>
              <a:rPr lang="en-US" altLang="zh-CN" sz="16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16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16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Queue 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zh-CN" sz="16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Queue(4);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myQueue.isEmpty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myQueue.enqueue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(-2);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myQueue.enqueue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(3);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myQueue.enqueue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(1);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("The queue has 3 items: -2, 3, 1");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myQueue.displayQueue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myQueue.enqueue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(8);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myQueue.enqueue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(6);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("The queue has 4 items: -2, 3, 1, 8");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myQueue.isFull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myQueue.displayQueue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();		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myQueue.dequeue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myQueue.dequeue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("The queue has 2 items: 1, 8");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myQueue.displayQueue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myQueue.dequeue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myQueue.dequeue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myQueue.dequeue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("The queue is empty:");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myQueue.displayQueue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altLang="zh-CN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7955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 orient="vert"/>
          </p:nvPr>
        </p:nvSpPr>
        <p:spPr>
          <a:xfrm>
            <a:off x="381000" y="274639"/>
            <a:ext cx="8763000" cy="595312"/>
          </a:xfrm>
        </p:spPr>
        <p:txBody>
          <a:bodyPr vert="horz">
            <a:normAutofit fontScale="90000"/>
          </a:bodyPr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Using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Queue</a:t>
            </a:r>
          </a:p>
        </p:txBody>
      </p:sp>
      <p:sp>
        <p:nvSpPr>
          <p:cNvPr id="16388" name="Rectangle 5"/>
          <p:cNvSpPr>
            <a:spLocks noChangeArrowheads="1"/>
          </p:cNvSpPr>
          <p:nvPr/>
        </p:nvSpPr>
        <p:spPr bwMode="auto">
          <a:xfrm>
            <a:off x="-16778" y="1006475"/>
            <a:ext cx="9144000" cy="585152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 wrap="square" lIns="0">
            <a:noAutofit/>
          </a:bodyPr>
          <a:lstStyle/>
          <a:p>
            <a:pPr lvl="1"/>
            <a:r>
              <a:rPr lang="en-US" altLang="zh-CN" sz="16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16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16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Queue 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zh-CN" sz="16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Queue(4);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myQueue.isEmpty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myQueue.enqueue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(-2);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myQueue.enqueue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(3);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myQueue.enqueue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(1);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("The queue has 3 items: -2, 3, 1");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myQueue.displayQueue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myQueue.enqueue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(8);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myQueue.enqueue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(6);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("The queue has 4 items: -2, 3, 1, 8");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myQueue.isFull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myQueue.displayQueue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();		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myQueue.dequeue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myQueue.dequeue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("The queue has 2 items: 1, 8");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myQueue.displayQueue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myQueue.dequeue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myQueue.dequeue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myQueue.dequeue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("The queue is empty:");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myQueue.displayQueue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altLang="zh-CN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1AAF6B-62EF-4E52-BB29-858E2E779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752600"/>
            <a:ext cx="4162425" cy="3150636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2862018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5184D00-9260-4690-84CA-60293B1C7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Note</a:t>
            </a:r>
            <a:endParaRPr lang="zh-CN" alt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74CD94-25DE-4B0F-B12E-859028C06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main function on page 26-27 is for demonstration.</a:t>
            </a:r>
          </a:p>
          <a:p>
            <a:r>
              <a:rPr lang="en-US" altLang="zh-CN" dirty="0"/>
              <a:t>When you write your own main function, you should </a:t>
            </a:r>
            <a:r>
              <a:rPr lang="en-US" altLang="zh-CN" dirty="0">
                <a:solidFill>
                  <a:schemeClr val="accent2"/>
                </a:solidFill>
              </a:rPr>
              <a:t>design testing </a:t>
            </a:r>
            <a:r>
              <a:rPr lang="en-US" altLang="zh-CN">
                <a:solidFill>
                  <a:schemeClr val="accent2"/>
                </a:solidFill>
              </a:rPr>
              <a:t>cases </a:t>
            </a:r>
            <a:r>
              <a:rPr lang="en-US" altLang="zh-CN" dirty="0"/>
              <a:t>like the ones you’ve learnt in the OOP course.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E539D-36D6-4166-A033-20CE6A370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87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Complete </a:t>
            </a:r>
            <a:r>
              <a:rPr lang="en-US" altLang="zh-CN" i="1" dirty="0">
                <a:solidFill>
                  <a:schemeClr val="accent1"/>
                </a:solidFill>
              </a:rPr>
              <a:t>Queue.java </a:t>
            </a:r>
            <a:r>
              <a:rPr lang="en-US" altLang="zh-CN" dirty="0"/>
              <a:t>which implements the queue class</a:t>
            </a:r>
          </a:p>
          <a:p>
            <a:pPr lvl="1"/>
            <a:r>
              <a:rPr lang="en-US" altLang="zh-CN" dirty="0"/>
              <a:t>The class is defined on slide 21.</a:t>
            </a:r>
          </a:p>
          <a:p>
            <a:pPr lvl="1"/>
            <a:r>
              <a:rPr lang="en-US" altLang="zh-CN" dirty="0"/>
              <a:t>A </a:t>
            </a:r>
            <a:r>
              <a:rPr lang="en-US" altLang="zh-CN" i="1" dirty="0"/>
              <a:t>main</a:t>
            </a:r>
            <a:r>
              <a:rPr lang="en-US" altLang="zh-CN" dirty="0"/>
              <a:t> function has been given for the class which tests 5 functions: enqueue, dequeue, </a:t>
            </a:r>
            <a:r>
              <a:rPr lang="en-US" altLang="zh-CN" dirty="0" err="1"/>
              <a:t>isEmpty</a:t>
            </a:r>
            <a:r>
              <a:rPr lang="en-US" altLang="zh-CN" dirty="0"/>
              <a:t>, </a:t>
            </a:r>
            <a:r>
              <a:rPr lang="en-US" altLang="zh-CN" dirty="0" err="1"/>
              <a:t>isFull</a:t>
            </a:r>
            <a:r>
              <a:rPr lang="en-US" altLang="zh-CN" dirty="0"/>
              <a:t>, </a:t>
            </a:r>
            <a:r>
              <a:rPr lang="en-US" altLang="zh-CN" dirty="0" err="1"/>
              <a:t>displayQueue</a:t>
            </a:r>
            <a:endParaRPr lang="en-US" altLang="zh-CN" dirty="0"/>
          </a:p>
          <a:p>
            <a:r>
              <a:rPr lang="en-US" altLang="zh-CN" dirty="0"/>
              <a:t>Submit </a:t>
            </a:r>
            <a:r>
              <a:rPr lang="en-US" altLang="zh-CN" i="1" dirty="0">
                <a:solidFill>
                  <a:schemeClr val="accent1"/>
                </a:solidFill>
              </a:rPr>
              <a:t>Queue.java </a:t>
            </a:r>
            <a:r>
              <a:rPr lang="en-US" altLang="zh-CN" dirty="0"/>
              <a:t>to iSpace.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94613"/>
      </p:ext>
    </p:extLst>
  </p:cSld>
  <p:clrMapOvr>
    <a:masterClrMapping/>
  </p:clrMapOvr>
</p:sld>
</file>

<file path=ppt/theme/theme1.xml><?xml version="1.0" encoding="utf-8"?>
<a:theme xmlns:a="http://schemas.openxmlformats.org/drawingml/2006/main" name="知识图谱及其应用">
  <a:themeElements>
    <a:clrScheme name="自定义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548DD4"/>
      </a:accent6>
      <a:hlink>
        <a:srgbClr val="C2BB93"/>
      </a:hlink>
      <a:folHlink>
        <a:srgbClr val="C2BB93"/>
      </a:folHlink>
    </a:clrScheme>
    <a:fontScheme name="Custom 1">
      <a:majorFont>
        <a:latin typeface="Verdana"/>
        <a:ea typeface=""/>
        <a:cs typeface=""/>
      </a:majorFont>
      <a:minorFont>
        <a:latin typeface="微软雅黑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Lec0 - Introduction</Template>
  <TotalTime>1354</TotalTime>
  <Words>1379</Words>
  <Application>Microsoft Office PowerPoint</Application>
  <PresentationFormat>On-screen Show (4:3)</PresentationFormat>
  <Paragraphs>338</Paragraphs>
  <Slides>29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Monotype Sorts</vt:lpstr>
      <vt:lpstr>PMingLiU</vt:lpstr>
      <vt:lpstr>宋体</vt:lpstr>
      <vt:lpstr>微软雅黑</vt:lpstr>
      <vt:lpstr>微软雅黑 Light</vt:lpstr>
      <vt:lpstr>Arial</vt:lpstr>
      <vt:lpstr>Calibri</vt:lpstr>
      <vt:lpstr>Courier New</vt:lpstr>
      <vt:lpstr>Verdana</vt:lpstr>
      <vt:lpstr>知识图谱及其应用</vt:lpstr>
      <vt:lpstr>Data Structures and Algorithms  Lecture 4: Queues</vt:lpstr>
      <vt:lpstr>Outline</vt:lpstr>
      <vt:lpstr>Queue ADT</vt:lpstr>
      <vt:lpstr>Queue Animation </vt:lpstr>
      <vt:lpstr>Enqueue and Dequeue</vt:lpstr>
      <vt:lpstr>Enqueue and Dequeue</vt:lpstr>
      <vt:lpstr>Queue Applications</vt:lpstr>
      <vt:lpstr>Implementation of Queue</vt:lpstr>
      <vt:lpstr>Queue Implementation Using Array</vt:lpstr>
      <vt:lpstr>PowerPoint Presentation</vt:lpstr>
      <vt:lpstr>Queue Implementation Using Array</vt:lpstr>
      <vt:lpstr>NO GOOD</vt:lpstr>
      <vt:lpstr>A Better Array Implementation</vt:lpstr>
      <vt:lpstr>Efficient…but what is the  PROBLEM?</vt:lpstr>
      <vt:lpstr>Final Solution: A Circular Array</vt:lpstr>
      <vt:lpstr>Dequeue in a Circular Array</vt:lpstr>
      <vt:lpstr>Enqueue in a Circular Array</vt:lpstr>
      <vt:lpstr>Question to Ponder</vt:lpstr>
      <vt:lpstr>Question to Ponder</vt:lpstr>
      <vt:lpstr>Queue Implementation</vt:lpstr>
      <vt:lpstr>PowerPoint Presentation</vt:lpstr>
      <vt:lpstr>Methods</vt:lpstr>
      <vt:lpstr>Methods</vt:lpstr>
      <vt:lpstr>The Constructor</vt:lpstr>
      <vt:lpstr>Enqueue</vt:lpstr>
      <vt:lpstr>Using Queue</vt:lpstr>
      <vt:lpstr>Using Queue</vt:lpstr>
      <vt:lpstr>Note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  Lecture 4: Queues</dc:title>
  <cp:lastModifiedBy>UIC</cp:lastModifiedBy>
  <cp:revision>148</cp:revision>
  <dcterms:created xsi:type="dcterms:W3CDTF">2006-08-16T00:00:00Z</dcterms:created>
  <dcterms:modified xsi:type="dcterms:W3CDTF">2023-10-09T02:02:52Z</dcterms:modified>
</cp:coreProperties>
</file>